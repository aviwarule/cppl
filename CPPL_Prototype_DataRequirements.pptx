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731520" cy="6858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CPPL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0CFFF"/>
                </a:solidFill>
              </a:rPr>
              <a:t>Inbound Process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B8FF"/>
                </a:solidFill>
              </a:rPr>
              <a:t>Prototype Planning — Data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3657600" cy="457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8E0"/>
                </a:solidFill>
              </a:rPr>
              <a:t>Webteam Private Limited  ×  TransExcel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98CC"/>
                </a:solidFill>
              </a:rPr>
              <a:t>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Modules 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48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M01 — Unique Item Code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M02 — Material Inward &amp; GRN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03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</a:rPr>
              <a:t>Tally Prime  →  Our System  →  Tally Prime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88BB"/>
                </a:solidFill>
              </a:rPr>
              <a:t>Confidential — Pre-Sales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FFF"/>
                </a:solidFill>
              </a:rPr>
              <a:t>What we will cover in this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123444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94360" cy="12344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91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What We Are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1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Overview of 2 modules and their 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123444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94360" cy="12344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916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How Tally Prime Connects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1031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Data flow between Tally and our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5486400" cy="123444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94360" cy="12344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375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546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Data Needed — Item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66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What we need from CPPL for Module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5486400" cy="123444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017520"/>
            <a:ext cx="594360" cy="12344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3375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1546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Data Needed — GRN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566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What we need from CPPL for Module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5486400" cy="123444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594360" cy="12344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006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617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Minimum to Start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029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5 things to kick off immediately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480560"/>
            <a:ext cx="5486400" cy="123444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480560"/>
            <a:ext cx="594360" cy="12344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8006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617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029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Actions, owners,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Are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FFF"/>
                </a:solidFill>
              </a:rPr>
              <a:t>Phase I — 2 modules for client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94960" cy="5029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M01   Unique Item Code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Hierarchical classification: Type → Category → Class → Characteristics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597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Distinguishes Service vs Goods; RM vs SFG vs FG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70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Alphanumeric code — fixed length, intelligently structured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81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Deduplication algorithm — prevents duplicate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92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Description field separate from code (human-readable)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Syncs new items back to Tally as Stock Items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89320"/>
            <a:ext cx="3593591" cy="274320"/>
          </a:xfrm>
          <a:prstGeom prst="rect">
            <a:avLst/>
          </a:prstGeom>
          <a:solidFill>
            <a:srgbClr val="00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Tally → Pull Stock Items &amp;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27648"/>
            <a:ext cx="3090672" cy="274320"/>
          </a:xfrm>
          <a:prstGeom prst="rect">
            <a:avLst/>
          </a:prstGeom>
          <a:solidFill>
            <a:srgbClr val="E6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Push new items back to Tally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949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394960" cy="5029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M02   Material Inward &amp; GRN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48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Receive material against open Purchase Orders from Tally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4597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Auto-fill GRN lines from PO (item, qty, rate, UOM)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770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QC / Inspection checklist — pass or fail per line 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81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Split Accepted qty vs Rejected qty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92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Partial delivery tracking — pending qty remains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Attach documents — Challan, Invoice, E-way Bill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0142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After approval → push Receipt Note back to Tally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5989320"/>
            <a:ext cx="3895344" cy="274320"/>
          </a:xfrm>
          <a:prstGeom prst="rect">
            <a:avLst/>
          </a:prstGeom>
          <a:solidFill>
            <a:srgbClr val="00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Tally → Pull POs, Suppliers, Godowns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6327648"/>
            <a:ext cx="3392424" cy="274320"/>
          </a:xfrm>
          <a:prstGeom prst="rect">
            <a:avLst/>
          </a:prstGeom>
          <a:solidFill>
            <a:srgbClr val="E6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Push Receipt Note back to Tally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463040"/>
            <a:ext cx="45720" cy="484632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Tally Prime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FFF"/>
                </a:solidFill>
              </a:rPr>
              <a:t>Data flow between Tally Prime and our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3474720"/>
            <a:ext cx="365760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3671" y="3364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6EC7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3474720"/>
            <a:ext cx="365760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1" y="3364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6EC7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PULL from Tally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3657600" cy="457200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5740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Supplier Ledgers
(Sundry Creditors)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70048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15768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Open Purchase Orders
&amp; PO line items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28416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74136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Stock Items
&amp; Stock Groups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86784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32504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Godowns (Warehouses)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45152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90872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Units of Measure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Batches / Lots
(if enabled)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1417320"/>
            <a:ext cx="3657600" cy="4572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4630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OUR SYSTEM ADDS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1874519"/>
            <a:ext cx="3657600" cy="457200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201168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205740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Approval workflow
(Draft → QC → Submit)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2670048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715768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QC inspection checklist
per line item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328416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374136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Accepted vs Rejected
qty split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3986784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032504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Document attachments
(Challan, Invoice, E-way)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4645152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4690872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GRN reference number
(our own series)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530352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534924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Real-time dashboard
&amp; pending PO tracker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1417320"/>
            <a:ext cx="3657600" cy="4572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14630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PUSH back to Tally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1874519"/>
            <a:ext cx="3657600" cy="457200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201168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205740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Receipt Note voucher
(inventory updated in Tally)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2670048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2715768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Stock Item creation
(from M01 item codes)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3328416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3374136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Batch / Lot entries
(if applicable)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986784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4032504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Narration &amp; reference
numbers carried over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4645152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4690872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Triggered only after
GRN approval — not on save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Required — Item Code Module (M01)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FFF"/>
                </a:solidFill>
              </a:rPr>
              <a:t>What we need from CPPL to build and demo this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365760"/>
          </a:xfrm>
          <a:prstGeom prst="rect">
            <a:avLst/>
          </a:prstGeom>
          <a:solidFill>
            <a:srgbClr val="00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Tally Prime  —  Export as Excel /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2194560"/>
          </a:xfrm>
          <a:prstGeom prst="rect">
            <a:avLst/>
          </a:prstGeom>
          <a:solidFill>
            <a:srgbClr val="E8F4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01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Stock Items list  (all existing materials)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854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Stock Groups / Categories hierarchy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68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Units of Measure (UOM)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523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Any existing item codes or numbering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996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CPPL Team  —  Discussion / Manual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394960" cy="2194560"/>
          </a:xfrm>
          <a:prstGeom prst="rect">
            <a:avLst/>
          </a:prstGeom>
          <a:solidFill>
            <a:srgbClr val="E8F4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How do you currently classify materials?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854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Do you distinguish RM / SFG / FG today?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5–10 sample items used daily (real names)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523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Do you track Batch / Heat numbers?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11475720" cy="41148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885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3657600" cy="173736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754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</a:rPr>
              <a:t>Prevents 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1206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The algorithm checks against existing Tally items — we need the full list.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4663440"/>
            <a:ext cx="3657600" cy="173736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4754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</a:rPr>
              <a:t>Realistic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1206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Real material names from CPPL make the prototype credible to management.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4663440"/>
            <a:ext cx="3657600" cy="1737360"/>
          </a:xfrm>
          <a:prstGeom prst="rect">
            <a:avLst/>
          </a:prstGeom>
          <a:solidFill>
            <a:srgbClr val="E8F4FF"/>
          </a:solidFill>
          <a:ln w="12700">
            <a:solidFill>
              <a:srgbClr val="BB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4754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</a:rPr>
              <a:t>Hierarchy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51206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 build the code structure around how CPPL actually classifies materials.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Required — GRN Module (M02)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FFF"/>
                </a:solidFill>
              </a:rPr>
              <a:t>What we need from CPPL to build and demo this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365760"/>
          </a:xfrm>
          <a:prstGeom prst="rect">
            <a:avLst/>
          </a:prstGeom>
          <a:solidFill>
            <a:srgbClr val="00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Tally Prime  —  Export as Excel /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394960" cy="2560320"/>
          </a:xfrm>
          <a:prstGeom prst="rect">
            <a:avLst/>
          </a:prstGeom>
          <a:solidFill>
            <a:srgbClr val="E8F4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01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Supplier Ledgers  (Sundry Creditors group)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854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2–3 open Purchase Orders with line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68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Godowns list  (warehouse / store locations)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523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Units of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358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Batch / Lot names  (if batch tracking is 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9961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CPPL Team  —  Discussion / Manual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394960" cy="2560320"/>
          </a:xfrm>
          <a:prstGeom prst="rect">
            <a:avLst/>
          </a:prstGeom>
          <a:solidFill>
            <a:srgbClr val="E8F4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01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Who approves a GRN?  (role / person name)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854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What QC checks are done on inbound material?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Rejection handling — return to vendor or hold in store?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523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Sample challan or delivery document  (any format)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358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•  Do partial deliveries happen frequently?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17720"/>
            <a:ext cx="11475720" cy="38404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5429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Proposed GRN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12080"/>
            <a:ext cx="1691640" cy="1280160"/>
          </a:xfrm>
          <a:prstGeom prst="rect">
            <a:avLst/>
          </a:prstGeom>
          <a:solidFill>
            <a:srgbClr val="E8F4FF"/>
          </a:solidFill>
          <a:ln w="19050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5349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6EC7"/>
                </a:solidFill>
              </a:rPr>
              <a:t>Create GRN
(Draft)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5577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212080"/>
            <a:ext cx="1691640" cy="1280160"/>
          </a:xfrm>
          <a:prstGeom prst="rect">
            <a:avLst/>
          </a:prstGeom>
          <a:solidFill>
            <a:srgbClr val="E8F4FF"/>
          </a:solidFill>
          <a:ln w="19050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9152" y="5349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6EC7"/>
                </a:solidFill>
              </a:rPr>
              <a:t>Attach
Documents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5577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5212080"/>
            <a:ext cx="1691640" cy="1280160"/>
          </a:xfrm>
          <a:prstGeom prst="rect">
            <a:avLst/>
          </a:prstGeom>
          <a:solidFill>
            <a:srgbClr val="E8F4FF"/>
          </a:solidFill>
          <a:ln w="19050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5349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6EC7"/>
                </a:solidFill>
              </a:rPr>
              <a:t>QC
Inspection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5577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212080"/>
            <a:ext cx="1691640" cy="1280160"/>
          </a:xfrm>
          <a:prstGeom prst="rect">
            <a:avLst/>
          </a:prstGeom>
          <a:solidFill>
            <a:srgbClr val="E8F4FF"/>
          </a:solidFill>
          <a:ln w="19050">
            <a:solidFill>
              <a:srgbClr val="00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5349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6EC7"/>
                </a:solidFill>
              </a:rPr>
              <a:t>Submit
for 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5577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5212080"/>
            <a:ext cx="1691640" cy="1280160"/>
          </a:xfrm>
          <a:prstGeom prst="rect">
            <a:avLst/>
          </a:prstGeom>
          <a:solidFill>
            <a:srgbClr val="D4EDDA"/>
          </a:solidFill>
          <a:ln w="19050">
            <a:solidFill>
              <a:srgbClr val="00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2" y="5349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4B"/>
                </a:solidFill>
              </a:rPr>
              <a:t>Approved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5577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5212080"/>
            <a:ext cx="1691640" cy="1280160"/>
          </a:xfrm>
          <a:prstGeom prst="rect">
            <a:avLst/>
          </a:prstGeom>
          <a:solidFill>
            <a:srgbClr val="FFE8CC"/>
          </a:solidFill>
          <a:ln w="19050">
            <a:solidFill>
              <a:srgbClr val="E6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534924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6B00"/>
                </a:solidFill>
              </a:rPr>
              <a:t>Push Receipt
Note to Tally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Minimum to Start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FFF"/>
                </a:solidFill>
              </a:rPr>
              <a:t>These 5 inputs are enough for us to begin building immediately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0" cy="84124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09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0020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Stock Items + Stock Groups export from Tally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Excel / CSV  •  Needed for Item Code module seed data and deduplication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640080" cy="84124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70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603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Supplier Ledgers export from Tally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260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Excel / CSV  •  Sundry Creditors group only  •  Needed for GRN supplier dropdown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640080" cy="84124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30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2044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2–3 sample Purchase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862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Even dummy POs in CPPL format  •  To demo the GRN 'receive against PO'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640080" cy="841248"/>
          </a:xfrm>
          <a:prstGeom prst="rect">
            <a:avLst/>
          </a:prstGeom>
          <a:solidFill>
            <a:srgbClr val="00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902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8056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5–10 real material names CPPL uses 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46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Verbal or written  •  Makes the prototype demo credible to CPPL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49240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49240"/>
            <a:ext cx="640080" cy="841248"/>
          </a:xfrm>
          <a:prstGeom prst="rect">
            <a:avLst/>
          </a:prstGeom>
          <a:solidFill>
            <a:srgbClr val="E6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5504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4068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</a:rPr>
              <a:t>Name of person / role who approves GRN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8064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One name is enough  •  We wire the approval workflow around this role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00800"/>
            <a:ext cx="11475720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FFF"/>
                </a:solidFill>
              </a:rPr>
              <a:t>Actions and owners after this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" cy="347472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636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08760"/>
            <a:ext cx="5029200" cy="347472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636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08760"/>
            <a:ext cx="2926080" cy="347472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5636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508760"/>
            <a:ext cx="2971800" cy="347472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156362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By When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56232"/>
            <a:ext cx="5486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9110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856232"/>
            <a:ext cx="50292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19110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Export Stock Items + Stock Groups from Tally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56232"/>
            <a:ext cx="292608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19110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CPPL — Accounts / 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856232"/>
            <a:ext cx="29718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191109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Before next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03704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258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20370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2258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Export Supplier Ledgers (Sundry Creditors) from Tally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20370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2258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CPPL — Accounts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203704"/>
            <a:ext cx="2971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2832" y="22585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Before next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551176"/>
            <a:ext cx="5486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2551176"/>
            <a:ext cx="50292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Share 2–3 sample POs (or dummy in same format)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551176"/>
            <a:ext cx="292608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2606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CPPL — Purchase Team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2551176"/>
            <a:ext cx="29718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2832" y="26060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Before next call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898648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29535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2898648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" y="29535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Confirm GRN approver role / name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289864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29535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CPPL — Management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2898648"/>
            <a:ext cx="2971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2832" y="295351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On this call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246120"/>
            <a:ext cx="5486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33009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3246120"/>
            <a:ext cx="50292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33009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Share 5–10 daily-use material names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3246120"/>
            <a:ext cx="292608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16752" y="33009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CPPL — Store Team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3246120"/>
            <a:ext cx="29718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2832" y="330098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On this call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593592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36484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359359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" y="36484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Confirm Batch / Lot tracking status in Tally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59359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16752" y="36484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CPPL — Accounts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3593592"/>
            <a:ext cx="2971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2832" y="364845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On this call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941064"/>
            <a:ext cx="5486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399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" y="3941064"/>
            <a:ext cx="50292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" y="39959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Set up Tally Prime API access / port for Webteam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0" y="3941064"/>
            <a:ext cx="292608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16752" y="39959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CPPL IT + Webteam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69680" y="3941064"/>
            <a:ext cx="29718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2832" y="39959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After data received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288536"/>
            <a:ext cx="548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4343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" y="4288536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7552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Webteam: scaffold project + integrate Tally sync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0" y="428853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16752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Webteam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69680" y="4288536"/>
            <a:ext cx="2971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2832" y="43434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Within 1 week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636008"/>
            <a:ext cx="54864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8912" y="46908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636008"/>
            <a:ext cx="50292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7552" y="4690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Webteam: prototype demo — both modules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43600" y="4636008"/>
            <a:ext cx="292608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16752" y="4690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Webteam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69680" y="4636008"/>
            <a:ext cx="2971800" cy="347472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2832" y="469087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Within 3 weeks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989320"/>
            <a:ext cx="11475720" cy="59436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 are ready to start the moment the data arrives.  The prototype will be a fully working demo — not a mockup.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22860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</a:rPr>
              <a:t>We look forward to building
this with CPPL.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Webteam Private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88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FFF"/>
                </a:solidFill>
              </a:rPr>
              <a:t>TransExcel Consulting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337560"/>
            <a:ext cx="5943600" cy="36576"/>
          </a:xfrm>
          <a:prstGeom prst="rect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A8D8"/>
                </a:solidFill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20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arvind.warule@webteam.in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0233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A8D8"/>
                </a:solidFill>
              </a:rPr>
              <a:t>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0233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CPPL Inbound Process Automation — Phase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5262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A8D8"/>
                </a:solidFill>
              </a:rPr>
              <a:t>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5262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github.com/AviWarule/CPPL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309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80AA"/>
                </a:solidFill>
              </a:rPr>
              <a:t>Confidential — Pre-Sales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