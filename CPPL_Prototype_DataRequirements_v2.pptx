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A0080"/>
                </a:solidFill>
              </a:rPr>
              <a:t>CPPL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651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2E"/>
                </a:solidFill>
              </a:rPr>
              <a:t>Inbound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200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66"/>
                </a:solidFill>
              </a:rPr>
              <a:t>Prototype Planning  —  Data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5029200" cy="36576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9136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66"/>
                </a:solidFill>
              </a:rPr>
              <a:t>Webteam Private Limited  ×  TransExcel Consulting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2519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280160"/>
            <a:ext cx="3017520" cy="365760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5087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080"/>
                </a:solidFill>
              </a:rPr>
              <a:t>Modules in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874519"/>
            <a:ext cx="2286000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01168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M01  Unique Item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5915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 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70662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0540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M02  Material Inward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40156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  &amp; GRN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52044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080"/>
                </a:solidFill>
              </a:rPr>
              <a:t>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849624"/>
            <a:ext cx="2286000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97763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Tally Prime  ⇄  Our System</a:t>
            </a:r>
          </a:p>
        </p:txBody>
      </p:sp>
      <p:pic>
        <p:nvPicPr>
          <p:cNvPr id="21" name="Picture 20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394960"/>
            <a:ext cx="1280160" cy="5303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4ED"/>
                </a:solidFill>
              </a:rPr>
              <a:t>Confidential  •  Pre-Sales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What we will cover in this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15087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640080" cy="1371600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842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0136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What We Are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585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Overview of M01 and M02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3368" y="15087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3368" y="1508760"/>
            <a:ext cx="640080" cy="13716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842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180136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How Tally Prime Connects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2585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Data flow — pull, enrich, 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089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08960"/>
            <a:ext cx="640080" cy="1371600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84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0156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 Needed  —  Item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8587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What we need for Module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3368" y="31089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73368" y="3108960"/>
            <a:ext cx="640080" cy="13716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3584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0156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 Needed  —  GRN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8587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What we need for Module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091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709160"/>
            <a:ext cx="640080" cy="1371600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846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00176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Minimum to Start 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4589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5 inputs to kick off immediately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3368" y="47091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73368" y="4709160"/>
            <a:ext cx="640080" cy="13716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51846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500176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54589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Actions, owners, timeline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What We Are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Phase I prototype — 2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463040"/>
            <a:ext cx="5687568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687568" cy="438912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1790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M01   Unique Item Code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01168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Hierarchical: Type  →  Category  →  Class  → 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31343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Distinguishes Service vs Goods; RM vs SFG vs FG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615184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Alphanumeric code, fixed length, intelligently structured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916936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Deduplication — no duplicate items regardless of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218688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Separate description field (human-readable)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52044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New items synced back to Tally as Stock 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989320"/>
            <a:ext cx="3534156" cy="256032"/>
          </a:xfrm>
          <a:prstGeom prst="rect">
            <a:avLst/>
          </a:prstGeom>
          <a:solidFill>
            <a:srgbClr val="0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Pull: Stock Items &amp; Groups from Tally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6300216"/>
            <a:ext cx="2839212" cy="256032"/>
          </a:xfrm>
          <a:prstGeom prst="rect">
            <a:avLst/>
          </a:prstGeom>
          <a:solidFill>
            <a:srgbClr val="D4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Push: New items back to Tally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1463040"/>
            <a:ext cx="5687568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7648" y="1463040"/>
            <a:ext cx="5687568" cy="43891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517904"/>
            <a:ext cx="5458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M02   Material Inward &amp; GRN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1168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Receive material against open Purchase Orders from Tally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1343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Auto-fill lines from PO  (item, qty, rate, UOM)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15184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QC / Inspection checklist  —  pass or fail per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16936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Split Accepted qty vs Rejected qty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18688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Partial delivery tracking  —  pending qty stays 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Attach Challan, Invoice, E-way Bill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22192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On approval  →  push Receipt Note back to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989320"/>
            <a:ext cx="3794759" cy="256032"/>
          </a:xfrm>
          <a:prstGeom prst="rect">
            <a:avLst/>
          </a:prstGeom>
          <a:solidFill>
            <a:srgbClr val="0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Pull: POs, Suppliers, Godowns from Tally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6300216"/>
            <a:ext cx="3099816" cy="256032"/>
          </a:xfrm>
          <a:prstGeom prst="rect">
            <a:avLst/>
          </a:prstGeom>
          <a:solidFill>
            <a:srgbClr val="D45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Push: Receipt Note back to Tally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How Tally Prime 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Data flow between Tally Prime and our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508760"/>
            <a:ext cx="3657600" cy="512064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3657600" cy="384048"/>
          </a:xfrm>
          <a:prstGeom prst="rect">
            <a:avLst/>
          </a:prstGeom>
          <a:solidFill>
            <a:srgbClr val="0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PULL from Tally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9476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Supplier Ledgers
(Sundry Creditors)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Open Purchase Orders
&amp; line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514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Stock Items &amp;
Stock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7980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Godowns (Warehouses)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0815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Units of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3649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Batches / Lots
(if enabled at CPPL)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3931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4E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508760"/>
            <a:ext cx="3657600" cy="512064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1508760"/>
            <a:ext cx="365760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OUR SYSTEM ADDS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19476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Approval workflow
Draft → QC → Submit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22311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QC inspection checklist
per line 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514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Accepted vs Rejected
qty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27980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Document attachments
Challan / Invoice / E-way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30815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GRN reference series
(our own numbering)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3649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Real-time dashboard
&amp; pending PO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9319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E4ED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6" y="1508760"/>
            <a:ext cx="3657600" cy="512064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6" y="1508760"/>
            <a:ext cx="3657600" cy="384048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PUSH back to Tally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19476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Receipt Note voucher
(inventory auto-updated)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22311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New Stock Items
(from M01 item codes)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2514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Batch / Lot entries
(if applicable)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27980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Narration &amp; references
carried through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30815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Triggered only after
GRN approval — not on save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Data Required  —  Item Code Module (M01)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What we need from CPPL to build and demo this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463040"/>
            <a:ext cx="5440680" cy="242316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440680" cy="384048"/>
          </a:xfrm>
          <a:prstGeom prst="rect">
            <a:avLst/>
          </a:prstGeom>
          <a:solidFill>
            <a:srgbClr val="0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270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Tally Prime  —  Export as Excel /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9019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Stock Items list (all existing materials)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1854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Stock Groups / Categories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68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Units of Measure (UOM)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752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Any existing numbering pattern used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1463040"/>
            <a:ext cx="5440680" cy="242316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1463040"/>
            <a:ext cx="544068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5270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CPPL Team  —  Discussion / Verbal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019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How do you currently classify materials?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854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Do you distinguish RM / SFG / FG today?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5–10 sample items used daily (real names)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52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Do you track Batch / Heat numbers?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11475720" cy="36576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245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080"/>
                </a:solidFill>
              </a:rPr>
              <a:t>Why this data matters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3749039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663440"/>
            <a:ext cx="45720" cy="192024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736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Prevents duplicates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102352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Algorithm checks against existing Tally items — needs the full list.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663440"/>
            <a:ext cx="3749039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663440"/>
            <a:ext cx="45720" cy="192024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4736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Realistic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5102352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Real CPPL material names make the prototype credible to management.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663440"/>
            <a:ext cx="3749039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4663440"/>
            <a:ext cx="45720" cy="192024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4736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Correct hierarchy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5102352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Code structure is built around how CPPL actually classifies materials.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Data Required  —  GRN Module (M02)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What we need from CPPL to build and demo this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463040"/>
            <a:ext cx="5440680" cy="274320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5440680" cy="384048"/>
          </a:xfrm>
          <a:prstGeom prst="rect">
            <a:avLst/>
          </a:prstGeom>
          <a:solidFill>
            <a:srgbClr val="0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5270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Tally Prime  —  Export as Excel /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9019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Supplier Ledgers (Sundry Creditors group)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1854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2–3 open Purchase Orders with line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68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Godowns list (warehouse / store locations)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752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Units of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0358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Batch / Lot names (if batch tracking is 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1463040"/>
            <a:ext cx="5440680" cy="274320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2512" y="1463040"/>
            <a:ext cx="544068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15270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From CPPL Team  —  Discussion / Verbal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01952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Who approves a GRN? (role or person name)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8541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What QC checks are done on inbound material?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Rejections — return to vendor or hold in store?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5234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Sample challan or delivery document (any format)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3580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•   Do partial deliveries happen frequently?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70832"/>
            <a:ext cx="11475720" cy="36576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48056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080"/>
                </a:solidFill>
              </a:rPr>
              <a:t>Proposed GRN Workflow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92040"/>
            <a:ext cx="1737360" cy="1600200"/>
          </a:xfrm>
          <a:prstGeom prst="rect">
            <a:avLst/>
          </a:prstGeom>
          <a:solidFill>
            <a:srgbClr val="F5F6FA"/>
          </a:solidFill>
          <a:ln w="190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852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0080"/>
                </a:solidFill>
              </a:rPr>
              <a:t>Create GRN
(Draft)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7984" y="5577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04288" y="4892040"/>
            <a:ext cx="1737360" cy="1600200"/>
          </a:xfrm>
          <a:prstGeom prst="rect">
            <a:avLst/>
          </a:prstGeom>
          <a:solidFill>
            <a:srgbClr val="F5F6FA"/>
          </a:solidFill>
          <a:ln w="190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95728" y="52852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0080"/>
                </a:solidFill>
              </a:rPr>
              <a:t>Attach
Documents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5577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4892040"/>
            <a:ext cx="1737360" cy="1600200"/>
          </a:xfrm>
          <a:prstGeom prst="rect">
            <a:avLst/>
          </a:prstGeom>
          <a:solidFill>
            <a:srgbClr val="F5F6FA"/>
          </a:solidFill>
          <a:ln w="190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52852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0080"/>
                </a:solidFill>
              </a:rPr>
              <a:t>QC
Inspection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577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4892040"/>
            <a:ext cx="1737360" cy="1600200"/>
          </a:xfrm>
          <a:prstGeom prst="rect">
            <a:avLst/>
          </a:prstGeom>
          <a:solidFill>
            <a:srgbClr val="F5F6FA"/>
          </a:solidFill>
          <a:ln w="190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52852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0080"/>
                </a:solidFill>
              </a:rPr>
              <a:t>Submit for
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5577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9872" y="4892040"/>
            <a:ext cx="1737360" cy="1600200"/>
          </a:xfrm>
          <a:prstGeom prst="rect">
            <a:avLst/>
          </a:prstGeom>
          <a:solidFill>
            <a:srgbClr val="0A7A4B"/>
          </a:solidFill>
          <a:ln w="19050">
            <a:solidFill>
              <a:srgbClr val="0A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11312" y="52852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12096" y="5577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66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4892040"/>
            <a:ext cx="1737360" cy="1600200"/>
          </a:xfrm>
          <a:prstGeom prst="rect">
            <a:avLst/>
          </a:prstGeom>
          <a:solidFill>
            <a:srgbClr val="E8000D"/>
          </a:solidFill>
          <a:ln w="19050">
            <a:solidFill>
              <a:srgbClr val="E800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528523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Push to
Tally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Minimum to Start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These 5 inputs are enough to begin building immediately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508760"/>
            <a:ext cx="11475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594360" cy="841248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2821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002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Stock Items + Stock Groups export from Tally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84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Excel / CSV  •  Seed data for Item Code module and deduplication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68880"/>
            <a:ext cx="11475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468880"/>
            <a:ext cx="594360" cy="841248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8833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5603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Supplier Ledgers export from Tally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443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Sundry Creditors group only  •  Needed for GRN supplier dropdown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11475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594360" cy="8412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4845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20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2–3 sample Purchase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0448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Even dummy POs in CPPL's format  •  To demo the receive-against-PO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11475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594360" cy="8412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0857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80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5–10 real material names used daily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6460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Verbal is fine  •  Makes the prototype credible to CPPL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11475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594360" cy="841248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56869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40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Name of person / role who approves GRN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2472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66"/>
                </a:solidFill>
              </a:rPr>
              <a:t>One name is enough  •  We wire the approval workflow around this role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0080"/>
                </a:solidFill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Actions and owners after this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183112" cy="22860"/>
          </a:xfrm>
          <a:prstGeom prst="rect">
            <a:avLst/>
          </a:prstGeom>
          <a:solidFill>
            <a:srgbClr val="E2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0" y="91440"/>
            <a:ext cx="1280160" cy="58521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64592"/>
            <a:ext cx="109728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572768"/>
            <a:ext cx="50292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572768"/>
            <a:ext cx="530352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64592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572768"/>
            <a:ext cx="310896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572768"/>
            <a:ext cx="2560320" cy="384048"/>
          </a:xfrm>
          <a:prstGeom prst="rect">
            <a:avLst/>
          </a:prstGeom>
          <a:solidFill>
            <a:srgbClr val="1A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645920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By When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56816"/>
            <a:ext cx="5029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29968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1956816"/>
            <a:ext cx="53035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02996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Export Stock Items + Stock Groups from Tally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956816"/>
            <a:ext cx="310896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029968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 Accounts / 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956816"/>
            <a:ext cx="25603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029968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Before next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340864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414016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340864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241401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Export Supplier Ledgers (Sundry Creditors) from Tally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34086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414016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 Accounts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2340864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2414016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Before next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724912"/>
            <a:ext cx="5029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798064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2724912"/>
            <a:ext cx="53035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279806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Share 2–3 sample POs (or dummy in same format)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724912"/>
            <a:ext cx="310896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798064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 Purchase Team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2724912"/>
            <a:ext cx="25603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2798064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Before next call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108960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182112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3108960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318211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Confirm GRN approver role /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310896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182112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 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108960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3182112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On this call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493008"/>
            <a:ext cx="5029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566160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" y="3493008"/>
            <a:ext cx="53035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3566160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Share 5–10 daily-use material names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3493008"/>
            <a:ext cx="310896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3566160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 Store Team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3493008"/>
            <a:ext cx="25603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3566160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On this call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77056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950208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" y="3877056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" y="395020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Confirm Batch / Lot tracking status in Tally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3877056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3950208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 Accounts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3877056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72600" y="3950208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On this call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261104"/>
            <a:ext cx="5029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334256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" y="4261104"/>
            <a:ext cx="53035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" y="433425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Set up Tally Prime API access for Webteam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72200" y="4261104"/>
            <a:ext cx="310896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4334256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CPPL IT + Webteam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81160" y="4261104"/>
            <a:ext cx="2560320" cy="384048"/>
          </a:xfrm>
          <a:prstGeom prst="rect">
            <a:avLst/>
          </a:prstGeom>
          <a:solidFill>
            <a:srgbClr val="F5F6FA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72600" y="4334256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After data received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645152"/>
            <a:ext cx="50292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4718304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68680" y="4645152"/>
            <a:ext cx="530352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0120" y="471830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000D"/>
                </a:solidFill>
              </a:rPr>
              <a:t>Scaffold project + Tally sync integration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4645152"/>
            <a:ext cx="310896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3640" y="4718304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000D"/>
                </a:solidFill>
              </a:rPr>
              <a:t>Webteam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281160" y="4645152"/>
            <a:ext cx="256032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72600" y="4718304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000D"/>
                </a:solidFill>
              </a:rPr>
              <a:t>Within 1 week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102352"/>
            <a:ext cx="3931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8680" y="5029200"/>
            <a:ext cx="530352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0120" y="510235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000D"/>
                </a:solidFill>
              </a:rPr>
              <a:t>Prototype demo  —  both modules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72200" y="5029200"/>
            <a:ext cx="310896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63640" y="5102352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000D"/>
                </a:solidFill>
              </a:rPr>
              <a:t>Webteam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81160" y="5029200"/>
            <a:ext cx="2560320" cy="384048"/>
          </a:xfrm>
          <a:prstGeom prst="rect">
            <a:avLst/>
          </a:prstGeom>
          <a:solidFill>
            <a:srgbClr val="FFF0F1"/>
          </a:solidFill>
          <a:ln w="635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72600" y="5102352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000D"/>
                </a:solidFill>
              </a:rPr>
              <a:t>Within 3 weeks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A0080"/>
                </a:solidFill>
              </a:rPr>
              <a:t>Thank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4114800" cy="41148"/>
          </a:xfrm>
          <a:prstGeom prst="rect">
            <a:avLst/>
          </a:prstGeom>
          <a:solidFill>
            <a:srgbClr val="E8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We look forward to building this with CPPL.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6"/>
                </a:solidFill>
              </a:rPr>
              <a:t>Questions, clarifications, or additional context
from your side is very welcome on this 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6858000" cy="1645920"/>
          </a:xfrm>
          <a:prstGeom prst="rect">
            <a:avLst/>
          </a:prstGeom>
          <a:solidFill>
            <a:srgbClr val="F5F6FA"/>
          </a:solidFill>
          <a:ln w="9525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622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080"/>
                </a:solidFill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462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arvind.warule@webteam.in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0118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080"/>
                </a:solidFill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9011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CPPL Inbound Process Automation  —  Phase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00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0080"/>
                </a:solidFill>
              </a:rPr>
              <a:t>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3400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github.com/AviWarule/CPPL</a:t>
            </a:r>
          </a:p>
        </p:txBody>
      </p:sp>
      <p:pic>
        <p:nvPicPr>
          <p:cNvPr id="16" name="Picture 15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286000"/>
            <a:ext cx="2560320" cy="107899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595360" y="2212848"/>
            <a:ext cx="2743200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ebteam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286000"/>
            <a:ext cx="2560320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4ED"/>
                </a:solidFill>
              </a:rPr>
              <a:t>Confidential  •  Pre-Sales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2E4ED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