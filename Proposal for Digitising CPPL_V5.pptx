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82" r:id="rId7"/>
    <p:sldId id="262" r:id="rId8"/>
    <p:sldId id="263" r:id="rId9"/>
    <p:sldId id="284" r:id="rId10"/>
    <p:sldId id="285" r:id="rId11"/>
    <p:sldId id="264" r:id="rId12"/>
    <p:sldId id="265" r:id="rId13"/>
    <p:sldId id="298" r:id="rId14"/>
    <p:sldId id="266" r:id="rId15"/>
    <p:sldId id="283" r:id="rId16"/>
    <p:sldId id="267" r:id="rId17"/>
    <p:sldId id="268" r:id="rId18"/>
    <p:sldId id="269" r:id="rId19"/>
    <p:sldId id="271" r:id="rId20"/>
    <p:sldId id="272" r:id="rId21"/>
    <p:sldId id="286" r:id="rId22"/>
    <p:sldId id="270" r:id="rId23"/>
    <p:sldId id="273" r:id="rId24"/>
    <p:sldId id="274" r:id="rId25"/>
    <p:sldId id="275" r:id="rId26"/>
    <p:sldId id="287" r:id="rId27"/>
    <p:sldId id="288" r:id="rId28"/>
    <p:sldId id="276" r:id="rId29"/>
    <p:sldId id="277" r:id="rId30"/>
    <p:sldId id="278" r:id="rId31"/>
    <p:sldId id="279" r:id="rId32"/>
    <p:sldId id="297" r:id="rId33"/>
    <p:sldId id="289" r:id="rId34"/>
    <p:sldId id="290" r:id="rId35"/>
    <p:sldId id="294" r:id="rId36"/>
    <p:sldId id="291" r:id="rId37"/>
    <p:sldId id="292" r:id="rId38"/>
    <p:sldId id="293" r:id="rId39"/>
    <p:sldId id="295" r:id="rId40"/>
    <p:sldId id="296" r:id="rId41"/>
    <p:sldId id="299" r:id="rId42"/>
    <p:sldId id="280" r:id="rId43"/>
    <p:sldId id="281"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99"/>
    <p:restoredTop sz="94610"/>
  </p:normalViewPr>
  <p:slideViewPr>
    <p:cSldViewPr snapToGrid="0" snapToObjects="1">
      <p:cViewPr varScale="1">
        <p:scale>
          <a:sx n="165" d="100"/>
          <a:sy n="165" d="100"/>
        </p:scale>
        <p:origin x="1152"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ADDFA-8170-6F45-ABDB-73C439D38549}"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GB"/>
        </a:p>
      </dgm:t>
    </dgm:pt>
    <dgm:pt modelId="{D6DFA7CF-4D7D-6044-81B0-75939DAD4567}">
      <dgm:prSet phldrT="[Text]" custT="1"/>
      <dgm:spPr/>
      <dgm:t>
        <a:bodyPr/>
        <a:lstStyle/>
        <a:p>
          <a:r>
            <a:rPr lang="en-GB" sz="900" dirty="0"/>
            <a:t>Material Master in the system</a:t>
          </a:r>
        </a:p>
      </dgm:t>
    </dgm:pt>
    <dgm:pt modelId="{82E2653D-395A-A34E-8D3D-F0C0F844F6E4}" type="parTrans" cxnId="{2B54108F-406F-6141-B883-F138D6C427AD}">
      <dgm:prSet/>
      <dgm:spPr/>
      <dgm:t>
        <a:bodyPr/>
        <a:lstStyle/>
        <a:p>
          <a:endParaRPr lang="en-GB" sz="900"/>
        </a:p>
      </dgm:t>
    </dgm:pt>
    <dgm:pt modelId="{C19BE8F9-B159-3742-91B8-70481A277143}" type="sibTrans" cxnId="{2B54108F-406F-6141-B883-F138D6C427AD}">
      <dgm:prSet custT="1"/>
      <dgm:spPr/>
      <dgm:t>
        <a:bodyPr/>
        <a:lstStyle/>
        <a:p>
          <a:endParaRPr lang="en-GB" sz="900"/>
        </a:p>
      </dgm:t>
    </dgm:pt>
    <dgm:pt modelId="{62A4DDA8-F1BC-334A-A477-959B01FBE2AF}">
      <dgm:prSet phldrT="[Text]" custT="1"/>
      <dgm:spPr/>
      <dgm:t>
        <a:bodyPr/>
        <a:lstStyle/>
        <a:p>
          <a:r>
            <a:rPr lang="en-GB" sz="900" dirty="0"/>
            <a:t>PO Creation</a:t>
          </a:r>
        </a:p>
      </dgm:t>
    </dgm:pt>
    <dgm:pt modelId="{8F20697E-A144-3E4C-BF41-64D726A17CBA}" type="parTrans" cxnId="{C2537D37-DE65-824D-9AAE-DDA1373629D1}">
      <dgm:prSet/>
      <dgm:spPr/>
      <dgm:t>
        <a:bodyPr/>
        <a:lstStyle/>
        <a:p>
          <a:endParaRPr lang="en-GB" sz="900"/>
        </a:p>
      </dgm:t>
    </dgm:pt>
    <dgm:pt modelId="{F1775492-C32D-8A48-996C-2F982F22C24A}" type="sibTrans" cxnId="{C2537D37-DE65-824D-9AAE-DDA1373629D1}">
      <dgm:prSet custT="1"/>
      <dgm:spPr/>
      <dgm:t>
        <a:bodyPr/>
        <a:lstStyle/>
        <a:p>
          <a:endParaRPr lang="en-GB" sz="900"/>
        </a:p>
      </dgm:t>
    </dgm:pt>
    <dgm:pt modelId="{B189FC5C-B4BB-E943-9EB0-FEB67C24A0CB}">
      <dgm:prSet phldrT="[Text]" custT="1"/>
      <dgm:spPr/>
      <dgm:t>
        <a:bodyPr/>
        <a:lstStyle/>
        <a:p>
          <a:r>
            <a:rPr lang="en-GB" sz="900" dirty="0"/>
            <a:t>GRN</a:t>
          </a:r>
        </a:p>
      </dgm:t>
    </dgm:pt>
    <dgm:pt modelId="{49536B5B-7510-3F47-8680-D72B9EC9818D}" type="parTrans" cxnId="{A39C4DB4-472B-8146-8C08-2881357A7FB8}">
      <dgm:prSet/>
      <dgm:spPr/>
      <dgm:t>
        <a:bodyPr/>
        <a:lstStyle/>
        <a:p>
          <a:endParaRPr lang="en-GB" sz="900"/>
        </a:p>
      </dgm:t>
    </dgm:pt>
    <dgm:pt modelId="{706E040F-1136-014E-BEAB-D38269404C59}" type="sibTrans" cxnId="{A39C4DB4-472B-8146-8C08-2881357A7FB8}">
      <dgm:prSet custT="1"/>
      <dgm:spPr/>
      <dgm:t>
        <a:bodyPr/>
        <a:lstStyle/>
        <a:p>
          <a:endParaRPr lang="en-GB" sz="900"/>
        </a:p>
      </dgm:t>
    </dgm:pt>
    <dgm:pt modelId="{99D6D24C-267F-484D-A051-6CABCFDAA6BD}">
      <dgm:prSet phldrT="[Text]" custT="1"/>
      <dgm:spPr/>
      <dgm:t>
        <a:bodyPr/>
        <a:lstStyle/>
        <a:p>
          <a:r>
            <a:rPr lang="en-GB" sz="900" dirty="0"/>
            <a:t>Export “PO &amp; GRN data” to Tally (Download from system &amp; upload to Tally daily )</a:t>
          </a:r>
        </a:p>
      </dgm:t>
    </dgm:pt>
    <dgm:pt modelId="{11BEA955-26C9-F14C-8F12-3B84435B534A}" type="parTrans" cxnId="{CC2D53FB-CCDD-E644-A3CF-E5C8F3D670AC}">
      <dgm:prSet/>
      <dgm:spPr/>
      <dgm:t>
        <a:bodyPr/>
        <a:lstStyle/>
        <a:p>
          <a:endParaRPr lang="en-GB" sz="900"/>
        </a:p>
      </dgm:t>
    </dgm:pt>
    <dgm:pt modelId="{03437A29-5840-854D-82F5-F83B6391C451}" type="sibTrans" cxnId="{CC2D53FB-CCDD-E644-A3CF-E5C8F3D670AC}">
      <dgm:prSet custT="1"/>
      <dgm:spPr/>
      <dgm:t>
        <a:bodyPr/>
        <a:lstStyle/>
        <a:p>
          <a:endParaRPr lang="en-GB" sz="900"/>
        </a:p>
      </dgm:t>
    </dgm:pt>
    <dgm:pt modelId="{CA1AAFA8-86D4-1D43-BB18-9D0D98CFB961}">
      <dgm:prSet phldrT="[Text]" custT="1"/>
      <dgm:spPr/>
      <dgm:t>
        <a:bodyPr/>
        <a:lstStyle/>
        <a:p>
          <a:r>
            <a:rPr lang="en-GB" sz="900" dirty="0"/>
            <a:t>Issue to Project</a:t>
          </a:r>
        </a:p>
      </dgm:t>
    </dgm:pt>
    <dgm:pt modelId="{C201398A-2280-B941-9365-FD41375416CD}" type="parTrans" cxnId="{BB32E3FB-E735-2A4F-ABCC-C5D6A8C99BE4}">
      <dgm:prSet/>
      <dgm:spPr/>
      <dgm:t>
        <a:bodyPr/>
        <a:lstStyle/>
        <a:p>
          <a:endParaRPr lang="en-GB" sz="900"/>
        </a:p>
      </dgm:t>
    </dgm:pt>
    <dgm:pt modelId="{F45751DA-61C1-7C4E-A656-84007BFA4101}" type="sibTrans" cxnId="{BB32E3FB-E735-2A4F-ABCC-C5D6A8C99BE4}">
      <dgm:prSet custT="1"/>
      <dgm:spPr/>
      <dgm:t>
        <a:bodyPr/>
        <a:lstStyle/>
        <a:p>
          <a:endParaRPr lang="en-GB" sz="900"/>
        </a:p>
      </dgm:t>
    </dgm:pt>
    <dgm:pt modelId="{1745228E-4D4A-E340-ACA5-7E81F04DB4A0}">
      <dgm:prSet custT="1"/>
      <dgm:spPr/>
      <dgm:t>
        <a:bodyPr/>
        <a:lstStyle/>
        <a:p>
          <a:r>
            <a:rPr lang="en-GB" sz="900" dirty="0"/>
            <a:t>Cut items , Scrap &amp; off-cut design data from External system to tally via download &amp; upload</a:t>
          </a:r>
        </a:p>
      </dgm:t>
    </dgm:pt>
    <dgm:pt modelId="{0B80566D-A544-6B44-954D-5867DA0B25DA}" type="parTrans" cxnId="{18CAC975-06A7-6E44-A59C-D6D38B4F331C}">
      <dgm:prSet/>
      <dgm:spPr/>
      <dgm:t>
        <a:bodyPr/>
        <a:lstStyle/>
        <a:p>
          <a:endParaRPr lang="en-GB" sz="900"/>
        </a:p>
      </dgm:t>
    </dgm:pt>
    <dgm:pt modelId="{F7EBBCB4-05D0-3146-9F21-29392CBCA97C}" type="sibTrans" cxnId="{18CAC975-06A7-6E44-A59C-D6D38B4F331C}">
      <dgm:prSet custT="1"/>
      <dgm:spPr/>
      <dgm:t>
        <a:bodyPr/>
        <a:lstStyle/>
        <a:p>
          <a:endParaRPr lang="en-GB" sz="900"/>
        </a:p>
      </dgm:t>
    </dgm:pt>
    <dgm:pt modelId="{8AE39D21-4085-7248-AAED-2CBBCA0D391B}">
      <dgm:prSet custT="1"/>
      <dgm:spPr/>
      <dgm:t>
        <a:bodyPr/>
        <a:lstStyle/>
        <a:p>
          <a:r>
            <a:rPr lang="en-GB" sz="900" dirty="0"/>
            <a:t>BoM , Cost Centre, Work Centre, Equipment, Functional Location , Routing in system</a:t>
          </a:r>
        </a:p>
      </dgm:t>
    </dgm:pt>
    <dgm:pt modelId="{8969AB93-BF8F-0844-81DE-EB8FEC190DDC}" type="parTrans" cxnId="{80696DEB-3286-CE40-81D9-A7489729EBCA}">
      <dgm:prSet/>
      <dgm:spPr/>
      <dgm:t>
        <a:bodyPr/>
        <a:lstStyle/>
        <a:p>
          <a:endParaRPr lang="en-GB" sz="900"/>
        </a:p>
      </dgm:t>
    </dgm:pt>
    <dgm:pt modelId="{3F3B4385-4EA7-D04C-83F8-AB40B8445073}" type="sibTrans" cxnId="{80696DEB-3286-CE40-81D9-A7489729EBCA}">
      <dgm:prSet custT="1"/>
      <dgm:spPr/>
      <dgm:t>
        <a:bodyPr/>
        <a:lstStyle/>
        <a:p>
          <a:endParaRPr lang="en-GB" sz="900"/>
        </a:p>
      </dgm:t>
    </dgm:pt>
    <dgm:pt modelId="{4D3AF88E-5273-8246-8014-C395855B0607}">
      <dgm:prSet custT="1"/>
      <dgm:spPr/>
      <dgm:t>
        <a:bodyPr/>
        <a:lstStyle/>
        <a:p>
          <a:r>
            <a:rPr lang="en-GB" sz="900" dirty="0"/>
            <a:t>Stage wise production, WIP, Rejection accounting , QA process in system</a:t>
          </a:r>
        </a:p>
      </dgm:t>
    </dgm:pt>
    <dgm:pt modelId="{162D53EA-F9A1-DC4A-BCC5-D54B20603093}" type="parTrans" cxnId="{D21A220A-BA55-604D-8FA1-E13F56B6F77B}">
      <dgm:prSet/>
      <dgm:spPr/>
      <dgm:t>
        <a:bodyPr/>
        <a:lstStyle/>
        <a:p>
          <a:endParaRPr lang="en-GB" sz="900"/>
        </a:p>
      </dgm:t>
    </dgm:pt>
    <dgm:pt modelId="{88109254-4855-3348-AE66-B2B7A3C66D2B}" type="sibTrans" cxnId="{D21A220A-BA55-604D-8FA1-E13F56B6F77B}">
      <dgm:prSet custT="1"/>
      <dgm:spPr/>
      <dgm:t>
        <a:bodyPr/>
        <a:lstStyle/>
        <a:p>
          <a:endParaRPr lang="en-GB" sz="900"/>
        </a:p>
      </dgm:t>
    </dgm:pt>
    <dgm:pt modelId="{5F51EFB5-B2BD-5F4C-AB78-EBDF91A48A0D}">
      <dgm:prSet custT="1"/>
      <dgm:spPr/>
      <dgm:t>
        <a:bodyPr/>
        <a:lstStyle/>
        <a:p>
          <a:r>
            <a:rPr lang="en-GB" sz="900" dirty="0"/>
            <a:t>Finished Good accounting in system</a:t>
          </a:r>
        </a:p>
      </dgm:t>
    </dgm:pt>
    <dgm:pt modelId="{F805F339-D137-1B4B-AC78-47F1928AF3A3}" type="parTrans" cxnId="{FD88B5F9-8529-4944-AB20-523B23CED3E9}">
      <dgm:prSet/>
      <dgm:spPr/>
      <dgm:t>
        <a:bodyPr/>
        <a:lstStyle/>
        <a:p>
          <a:endParaRPr lang="en-GB" sz="900"/>
        </a:p>
      </dgm:t>
    </dgm:pt>
    <dgm:pt modelId="{FD664E33-40BC-6440-A49F-F13A8FC268C4}" type="sibTrans" cxnId="{FD88B5F9-8529-4944-AB20-523B23CED3E9}">
      <dgm:prSet custT="1"/>
      <dgm:spPr/>
      <dgm:t>
        <a:bodyPr/>
        <a:lstStyle/>
        <a:p>
          <a:endParaRPr lang="en-GB" sz="900"/>
        </a:p>
      </dgm:t>
    </dgm:pt>
    <dgm:pt modelId="{9679762E-EDE2-C149-B511-55D073815BBD}">
      <dgm:prSet custT="1"/>
      <dgm:spPr/>
      <dgm:t>
        <a:bodyPr/>
        <a:lstStyle/>
        <a:p>
          <a:r>
            <a:rPr lang="en-GB" sz="900" dirty="0"/>
            <a:t>Finished Good Sale in the system for inventory accounting</a:t>
          </a:r>
        </a:p>
      </dgm:t>
    </dgm:pt>
    <dgm:pt modelId="{687758F7-CA0D-EB44-BBF3-490175C96149}" type="parTrans" cxnId="{F6448483-FA4E-9647-89EA-AE43A578CBD1}">
      <dgm:prSet/>
      <dgm:spPr/>
      <dgm:t>
        <a:bodyPr/>
        <a:lstStyle/>
        <a:p>
          <a:endParaRPr lang="en-GB" sz="900"/>
        </a:p>
      </dgm:t>
    </dgm:pt>
    <dgm:pt modelId="{0C56DBE9-6990-2549-A6AF-0F97943D6C4C}" type="sibTrans" cxnId="{F6448483-FA4E-9647-89EA-AE43A578CBD1}">
      <dgm:prSet custT="1"/>
      <dgm:spPr/>
      <dgm:t>
        <a:bodyPr/>
        <a:lstStyle/>
        <a:p>
          <a:endParaRPr lang="en-GB" sz="900"/>
        </a:p>
      </dgm:t>
    </dgm:pt>
    <dgm:pt modelId="{D65F9801-DA13-B940-99F9-6DDBBB8F0E50}">
      <dgm:prSet custT="1"/>
      <dgm:spPr/>
      <dgm:t>
        <a:bodyPr/>
        <a:lstStyle/>
        <a:p>
          <a:r>
            <a:rPr lang="en-GB" sz="900" dirty="0"/>
            <a:t>Export to Tally for invoicing in Tally (Download from system &amp; upload to Tally daily )</a:t>
          </a:r>
        </a:p>
      </dgm:t>
    </dgm:pt>
    <dgm:pt modelId="{2BB342E7-5BDC-1F4A-9DFF-EBF81820E91D}" type="parTrans" cxnId="{AC3D8E16-AE7E-9345-A4B7-61055FDAAC8E}">
      <dgm:prSet/>
      <dgm:spPr/>
      <dgm:t>
        <a:bodyPr/>
        <a:lstStyle/>
        <a:p>
          <a:endParaRPr lang="en-GB" sz="900"/>
        </a:p>
      </dgm:t>
    </dgm:pt>
    <dgm:pt modelId="{67855EF3-36E8-CF44-814A-C46A4222AA42}" type="sibTrans" cxnId="{AC3D8E16-AE7E-9345-A4B7-61055FDAAC8E}">
      <dgm:prSet/>
      <dgm:spPr/>
      <dgm:t>
        <a:bodyPr/>
        <a:lstStyle/>
        <a:p>
          <a:endParaRPr lang="en-GB" sz="900"/>
        </a:p>
      </dgm:t>
    </dgm:pt>
    <dgm:pt modelId="{8EC89E08-4F0D-E546-B805-AED20DB0F8F4}">
      <dgm:prSet custT="1"/>
      <dgm:spPr/>
      <dgm:t>
        <a:bodyPr/>
        <a:lstStyle/>
        <a:p>
          <a:r>
            <a:rPr lang="en-GB" sz="900" dirty="0"/>
            <a:t>Vendor Master, Tax master and other master data in the system</a:t>
          </a:r>
        </a:p>
      </dgm:t>
    </dgm:pt>
    <dgm:pt modelId="{E2869EC4-5F51-BE4A-8127-0EF9833941AB}" type="parTrans" cxnId="{23364F8A-03C3-CF47-9630-F1A2AADE07AF}">
      <dgm:prSet/>
      <dgm:spPr/>
      <dgm:t>
        <a:bodyPr/>
        <a:lstStyle/>
        <a:p>
          <a:endParaRPr lang="en-GB" sz="900"/>
        </a:p>
      </dgm:t>
    </dgm:pt>
    <dgm:pt modelId="{1DE66DCA-C3E0-EB48-AA03-72CF0C4A495F}" type="sibTrans" cxnId="{23364F8A-03C3-CF47-9630-F1A2AADE07AF}">
      <dgm:prSet custT="1"/>
      <dgm:spPr/>
      <dgm:t>
        <a:bodyPr/>
        <a:lstStyle/>
        <a:p>
          <a:endParaRPr lang="en-GB" sz="900"/>
        </a:p>
      </dgm:t>
    </dgm:pt>
    <dgm:pt modelId="{152DFD49-44D1-C044-B23F-44A793EEECE1}">
      <dgm:prSet custT="1"/>
      <dgm:spPr/>
      <dgm:t>
        <a:bodyPr/>
        <a:lstStyle/>
        <a:p>
          <a:r>
            <a:rPr lang="en-GB" sz="900"/>
            <a:t>PR Creation &amp; approval</a:t>
          </a:r>
          <a:endParaRPr lang="en-GB" sz="900" dirty="0"/>
        </a:p>
      </dgm:t>
    </dgm:pt>
    <dgm:pt modelId="{CA6F798B-DDD5-BC43-A510-AED66B8089AD}" type="parTrans" cxnId="{DF9D53B7-9F15-6848-9AC1-F1117235F88F}">
      <dgm:prSet/>
      <dgm:spPr/>
      <dgm:t>
        <a:bodyPr/>
        <a:lstStyle/>
        <a:p>
          <a:endParaRPr lang="en-GB" sz="900"/>
        </a:p>
      </dgm:t>
    </dgm:pt>
    <dgm:pt modelId="{13C4D0AF-91D9-5A4D-B2F9-7F5C55A777DD}" type="sibTrans" cxnId="{DF9D53B7-9F15-6848-9AC1-F1117235F88F}">
      <dgm:prSet custT="1"/>
      <dgm:spPr/>
      <dgm:t>
        <a:bodyPr/>
        <a:lstStyle/>
        <a:p>
          <a:endParaRPr lang="en-GB" sz="900"/>
        </a:p>
      </dgm:t>
    </dgm:pt>
    <dgm:pt modelId="{BE8D115D-BCF0-594F-BA14-D8C3D6CFA74F}">
      <dgm:prSet/>
      <dgm:spPr/>
      <dgm:t>
        <a:bodyPr/>
        <a:lstStyle/>
        <a:p>
          <a:r>
            <a:rPr lang="en-GB" dirty="0"/>
            <a:t>Production of cut items, scrap and off cut data in the system as inventory</a:t>
          </a:r>
        </a:p>
      </dgm:t>
    </dgm:pt>
    <dgm:pt modelId="{D0D0C8A3-E28F-BA49-87F9-CC66E0010478}" type="parTrans" cxnId="{999582AA-619F-9C41-9193-3859138A3D8C}">
      <dgm:prSet/>
      <dgm:spPr/>
      <dgm:t>
        <a:bodyPr/>
        <a:lstStyle/>
        <a:p>
          <a:endParaRPr lang="en-GB"/>
        </a:p>
      </dgm:t>
    </dgm:pt>
    <dgm:pt modelId="{4D13387A-9D2A-FF40-93B9-B9BC6DE48E6A}" type="sibTrans" cxnId="{999582AA-619F-9C41-9193-3859138A3D8C}">
      <dgm:prSet/>
      <dgm:spPr/>
      <dgm:t>
        <a:bodyPr/>
        <a:lstStyle/>
        <a:p>
          <a:endParaRPr lang="en-GB"/>
        </a:p>
      </dgm:t>
    </dgm:pt>
    <dgm:pt modelId="{A34783D4-D45A-1043-9D83-4F74CBA1307F}" type="pres">
      <dgm:prSet presAssocID="{300ADDFA-8170-6F45-ABDB-73C439D38549}" presName="diagram" presStyleCnt="0">
        <dgm:presLayoutVars>
          <dgm:dir/>
          <dgm:resizeHandles val="exact"/>
        </dgm:presLayoutVars>
      </dgm:prSet>
      <dgm:spPr/>
    </dgm:pt>
    <dgm:pt modelId="{BB3E921D-8824-B846-9640-DFD019CDB2A2}" type="pres">
      <dgm:prSet presAssocID="{D6DFA7CF-4D7D-6044-81B0-75939DAD4567}" presName="node" presStyleLbl="node1" presStyleIdx="0" presStyleCnt="14">
        <dgm:presLayoutVars>
          <dgm:bulletEnabled val="1"/>
        </dgm:presLayoutVars>
      </dgm:prSet>
      <dgm:spPr/>
    </dgm:pt>
    <dgm:pt modelId="{7CB3DDE3-6E20-E846-A3A5-AC325DC98A60}" type="pres">
      <dgm:prSet presAssocID="{C19BE8F9-B159-3742-91B8-70481A277143}" presName="sibTrans" presStyleLbl="sibTrans2D1" presStyleIdx="0" presStyleCnt="13"/>
      <dgm:spPr/>
    </dgm:pt>
    <dgm:pt modelId="{76565D80-C179-9346-B2E8-0EA0D9300631}" type="pres">
      <dgm:prSet presAssocID="{C19BE8F9-B159-3742-91B8-70481A277143}" presName="connectorText" presStyleLbl="sibTrans2D1" presStyleIdx="0" presStyleCnt="13"/>
      <dgm:spPr/>
    </dgm:pt>
    <dgm:pt modelId="{1C14EE90-0B6C-854A-B5ED-5DD5CB347E54}" type="pres">
      <dgm:prSet presAssocID="{8EC89E08-4F0D-E546-B805-AED20DB0F8F4}" presName="node" presStyleLbl="node1" presStyleIdx="1" presStyleCnt="14">
        <dgm:presLayoutVars>
          <dgm:bulletEnabled val="1"/>
        </dgm:presLayoutVars>
      </dgm:prSet>
      <dgm:spPr/>
    </dgm:pt>
    <dgm:pt modelId="{B95BD754-6F8A-9F4F-9B68-5AC35DFCDC05}" type="pres">
      <dgm:prSet presAssocID="{1DE66DCA-C3E0-EB48-AA03-72CF0C4A495F}" presName="sibTrans" presStyleLbl="sibTrans2D1" presStyleIdx="1" presStyleCnt="13"/>
      <dgm:spPr/>
    </dgm:pt>
    <dgm:pt modelId="{DC80B84E-6B2B-6C4E-9F90-4DE341113287}" type="pres">
      <dgm:prSet presAssocID="{1DE66DCA-C3E0-EB48-AA03-72CF0C4A495F}" presName="connectorText" presStyleLbl="sibTrans2D1" presStyleIdx="1" presStyleCnt="13"/>
      <dgm:spPr/>
    </dgm:pt>
    <dgm:pt modelId="{0085B336-7916-B14F-AE4F-BE7CDA88C95E}" type="pres">
      <dgm:prSet presAssocID="{152DFD49-44D1-C044-B23F-44A793EEECE1}" presName="node" presStyleLbl="node1" presStyleIdx="2" presStyleCnt="14">
        <dgm:presLayoutVars>
          <dgm:bulletEnabled val="1"/>
        </dgm:presLayoutVars>
      </dgm:prSet>
      <dgm:spPr/>
    </dgm:pt>
    <dgm:pt modelId="{17178F50-AD60-4643-A260-083A9EFD723B}" type="pres">
      <dgm:prSet presAssocID="{13C4D0AF-91D9-5A4D-B2F9-7F5C55A777DD}" presName="sibTrans" presStyleLbl="sibTrans2D1" presStyleIdx="2" presStyleCnt="13"/>
      <dgm:spPr/>
    </dgm:pt>
    <dgm:pt modelId="{28577ACB-190A-4C4D-96C3-E1C0F60CDE4E}" type="pres">
      <dgm:prSet presAssocID="{13C4D0AF-91D9-5A4D-B2F9-7F5C55A777DD}" presName="connectorText" presStyleLbl="sibTrans2D1" presStyleIdx="2" presStyleCnt="13"/>
      <dgm:spPr/>
    </dgm:pt>
    <dgm:pt modelId="{07044B6C-31FF-ED4C-940F-F883993ED357}" type="pres">
      <dgm:prSet presAssocID="{62A4DDA8-F1BC-334A-A477-959B01FBE2AF}" presName="node" presStyleLbl="node1" presStyleIdx="3" presStyleCnt="14">
        <dgm:presLayoutVars>
          <dgm:bulletEnabled val="1"/>
        </dgm:presLayoutVars>
      </dgm:prSet>
      <dgm:spPr/>
    </dgm:pt>
    <dgm:pt modelId="{0E525D3D-B155-C34D-8882-6D145AC2D5D5}" type="pres">
      <dgm:prSet presAssocID="{F1775492-C32D-8A48-996C-2F982F22C24A}" presName="sibTrans" presStyleLbl="sibTrans2D1" presStyleIdx="3" presStyleCnt="13"/>
      <dgm:spPr/>
    </dgm:pt>
    <dgm:pt modelId="{2439BEF8-E9B4-B545-8E84-D228D88EA4D9}" type="pres">
      <dgm:prSet presAssocID="{F1775492-C32D-8A48-996C-2F982F22C24A}" presName="connectorText" presStyleLbl="sibTrans2D1" presStyleIdx="3" presStyleCnt="13"/>
      <dgm:spPr/>
    </dgm:pt>
    <dgm:pt modelId="{1B2D0210-819D-9749-9DF0-97E41D2878D1}" type="pres">
      <dgm:prSet presAssocID="{B189FC5C-B4BB-E943-9EB0-FEB67C24A0CB}" presName="node" presStyleLbl="node1" presStyleIdx="4" presStyleCnt="14">
        <dgm:presLayoutVars>
          <dgm:bulletEnabled val="1"/>
        </dgm:presLayoutVars>
      </dgm:prSet>
      <dgm:spPr/>
    </dgm:pt>
    <dgm:pt modelId="{96224BA6-0E33-EF43-85D1-6F6725C80CA8}" type="pres">
      <dgm:prSet presAssocID="{706E040F-1136-014E-BEAB-D38269404C59}" presName="sibTrans" presStyleLbl="sibTrans2D1" presStyleIdx="4" presStyleCnt="13"/>
      <dgm:spPr/>
    </dgm:pt>
    <dgm:pt modelId="{AE312F44-D30D-1D4E-9A72-3D0E015FA7BB}" type="pres">
      <dgm:prSet presAssocID="{706E040F-1136-014E-BEAB-D38269404C59}" presName="connectorText" presStyleLbl="sibTrans2D1" presStyleIdx="4" presStyleCnt="13"/>
      <dgm:spPr/>
    </dgm:pt>
    <dgm:pt modelId="{CC722804-FB14-5241-BDFF-5363AC45F513}" type="pres">
      <dgm:prSet presAssocID="{99D6D24C-267F-484D-A051-6CABCFDAA6BD}" presName="node" presStyleLbl="node1" presStyleIdx="5" presStyleCnt="14">
        <dgm:presLayoutVars>
          <dgm:bulletEnabled val="1"/>
        </dgm:presLayoutVars>
      </dgm:prSet>
      <dgm:spPr/>
    </dgm:pt>
    <dgm:pt modelId="{57FB473B-FF37-BE4F-B8E8-76D93E1DDD8C}" type="pres">
      <dgm:prSet presAssocID="{03437A29-5840-854D-82F5-F83B6391C451}" presName="sibTrans" presStyleLbl="sibTrans2D1" presStyleIdx="5" presStyleCnt="13"/>
      <dgm:spPr/>
    </dgm:pt>
    <dgm:pt modelId="{D0B90AB2-1337-C248-AF71-0A4CD0AE7FD2}" type="pres">
      <dgm:prSet presAssocID="{03437A29-5840-854D-82F5-F83B6391C451}" presName="connectorText" presStyleLbl="sibTrans2D1" presStyleIdx="5" presStyleCnt="13"/>
      <dgm:spPr/>
    </dgm:pt>
    <dgm:pt modelId="{62979A1B-6289-A14C-A4A3-DFB0F84C620A}" type="pres">
      <dgm:prSet presAssocID="{CA1AAFA8-86D4-1D43-BB18-9D0D98CFB961}" presName="node" presStyleLbl="node1" presStyleIdx="6" presStyleCnt="14">
        <dgm:presLayoutVars>
          <dgm:bulletEnabled val="1"/>
        </dgm:presLayoutVars>
      </dgm:prSet>
      <dgm:spPr/>
    </dgm:pt>
    <dgm:pt modelId="{52F01F04-21CB-FB4D-96F5-DEA1190CB298}" type="pres">
      <dgm:prSet presAssocID="{F45751DA-61C1-7C4E-A656-84007BFA4101}" presName="sibTrans" presStyleLbl="sibTrans2D1" presStyleIdx="6" presStyleCnt="13"/>
      <dgm:spPr/>
    </dgm:pt>
    <dgm:pt modelId="{95710F6D-0196-2F4F-A4E7-DBC4B3D13BA4}" type="pres">
      <dgm:prSet presAssocID="{F45751DA-61C1-7C4E-A656-84007BFA4101}" presName="connectorText" presStyleLbl="sibTrans2D1" presStyleIdx="6" presStyleCnt="13"/>
      <dgm:spPr/>
    </dgm:pt>
    <dgm:pt modelId="{AEB99475-5D93-5C46-A4EA-F630AC7B8F7B}" type="pres">
      <dgm:prSet presAssocID="{1745228E-4D4A-E340-ACA5-7E81F04DB4A0}" presName="node" presStyleLbl="node1" presStyleIdx="7" presStyleCnt="14">
        <dgm:presLayoutVars>
          <dgm:bulletEnabled val="1"/>
        </dgm:presLayoutVars>
      </dgm:prSet>
      <dgm:spPr/>
    </dgm:pt>
    <dgm:pt modelId="{65CF9B51-5BD0-F545-AACC-86015F18E01C}" type="pres">
      <dgm:prSet presAssocID="{F7EBBCB4-05D0-3146-9F21-29392CBCA97C}" presName="sibTrans" presStyleLbl="sibTrans2D1" presStyleIdx="7" presStyleCnt="13"/>
      <dgm:spPr/>
    </dgm:pt>
    <dgm:pt modelId="{A6AB16BD-F0A9-0C40-A111-E6246A89CF27}" type="pres">
      <dgm:prSet presAssocID="{F7EBBCB4-05D0-3146-9F21-29392CBCA97C}" presName="connectorText" presStyleLbl="sibTrans2D1" presStyleIdx="7" presStyleCnt="13"/>
      <dgm:spPr/>
    </dgm:pt>
    <dgm:pt modelId="{EBC48BDD-52DA-E24E-B074-6935FE491539}" type="pres">
      <dgm:prSet presAssocID="{BE8D115D-BCF0-594F-BA14-D8C3D6CFA74F}" presName="node" presStyleLbl="node1" presStyleIdx="8" presStyleCnt="14">
        <dgm:presLayoutVars>
          <dgm:bulletEnabled val="1"/>
        </dgm:presLayoutVars>
      </dgm:prSet>
      <dgm:spPr/>
    </dgm:pt>
    <dgm:pt modelId="{9D85BD68-6C22-B54B-A179-95AC9FE1A0B4}" type="pres">
      <dgm:prSet presAssocID="{4D13387A-9D2A-FF40-93B9-B9BC6DE48E6A}" presName="sibTrans" presStyleLbl="sibTrans2D1" presStyleIdx="8" presStyleCnt="13"/>
      <dgm:spPr/>
    </dgm:pt>
    <dgm:pt modelId="{3198B061-5644-5E42-90E9-676D1BDCF038}" type="pres">
      <dgm:prSet presAssocID="{4D13387A-9D2A-FF40-93B9-B9BC6DE48E6A}" presName="connectorText" presStyleLbl="sibTrans2D1" presStyleIdx="8" presStyleCnt="13"/>
      <dgm:spPr/>
    </dgm:pt>
    <dgm:pt modelId="{CDC987AC-32D5-CD44-AAD0-6454D79D1784}" type="pres">
      <dgm:prSet presAssocID="{8AE39D21-4085-7248-AAED-2CBBCA0D391B}" presName="node" presStyleLbl="node1" presStyleIdx="9" presStyleCnt="14">
        <dgm:presLayoutVars>
          <dgm:bulletEnabled val="1"/>
        </dgm:presLayoutVars>
      </dgm:prSet>
      <dgm:spPr/>
    </dgm:pt>
    <dgm:pt modelId="{DB758816-831D-5E47-B8F0-4AECFF0FCEDD}" type="pres">
      <dgm:prSet presAssocID="{3F3B4385-4EA7-D04C-83F8-AB40B8445073}" presName="sibTrans" presStyleLbl="sibTrans2D1" presStyleIdx="9" presStyleCnt="13"/>
      <dgm:spPr/>
    </dgm:pt>
    <dgm:pt modelId="{B974B93C-A56D-DA4A-90D6-5FEF691C93F9}" type="pres">
      <dgm:prSet presAssocID="{3F3B4385-4EA7-D04C-83F8-AB40B8445073}" presName="connectorText" presStyleLbl="sibTrans2D1" presStyleIdx="9" presStyleCnt="13"/>
      <dgm:spPr/>
    </dgm:pt>
    <dgm:pt modelId="{10AE29FC-2C05-5744-8DEE-14D26F5EA1E4}" type="pres">
      <dgm:prSet presAssocID="{4D3AF88E-5273-8246-8014-C395855B0607}" presName="node" presStyleLbl="node1" presStyleIdx="10" presStyleCnt="14">
        <dgm:presLayoutVars>
          <dgm:bulletEnabled val="1"/>
        </dgm:presLayoutVars>
      </dgm:prSet>
      <dgm:spPr/>
    </dgm:pt>
    <dgm:pt modelId="{8F23860A-9035-424C-B2E1-F8A6A1003468}" type="pres">
      <dgm:prSet presAssocID="{88109254-4855-3348-AE66-B2B7A3C66D2B}" presName="sibTrans" presStyleLbl="sibTrans2D1" presStyleIdx="10" presStyleCnt="13"/>
      <dgm:spPr/>
    </dgm:pt>
    <dgm:pt modelId="{5BAB1B3E-E4B1-C540-8A2E-92DFBA11FF7E}" type="pres">
      <dgm:prSet presAssocID="{88109254-4855-3348-AE66-B2B7A3C66D2B}" presName="connectorText" presStyleLbl="sibTrans2D1" presStyleIdx="10" presStyleCnt="13"/>
      <dgm:spPr/>
    </dgm:pt>
    <dgm:pt modelId="{B349B732-DE57-294B-B0A2-5BB2E6014707}" type="pres">
      <dgm:prSet presAssocID="{5F51EFB5-B2BD-5F4C-AB78-EBDF91A48A0D}" presName="node" presStyleLbl="node1" presStyleIdx="11" presStyleCnt="14">
        <dgm:presLayoutVars>
          <dgm:bulletEnabled val="1"/>
        </dgm:presLayoutVars>
      </dgm:prSet>
      <dgm:spPr/>
    </dgm:pt>
    <dgm:pt modelId="{4B69DA95-E497-974D-A3B7-D7BC8AB87D79}" type="pres">
      <dgm:prSet presAssocID="{FD664E33-40BC-6440-A49F-F13A8FC268C4}" presName="sibTrans" presStyleLbl="sibTrans2D1" presStyleIdx="11" presStyleCnt="13"/>
      <dgm:spPr/>
    </dgm:pt>
    <dgm:pt modelId="{B0823E07-5AD6-CF49-B1A0-B12EB6521FBF}" type="pres">
      <dgm:prSet presAssocID="{FD664E33-40BC-6440-A49F-F13A8FC268C4}" presName="connectorText" presStyleLbl="sibTrans2D1" presStyleIdx="11" presStyleCnt="13"/>
      <dgm:spPr/>
    </dgm:pt>
    <dgm:pt modelId="{DF539412-DD49-0143-8712-453CFDAD8C2C}" type="pres">
      <dgm:prSet presAssocID="{9679762E-EDE2-C149-B511-55D073815BBD}" presName="node" presStyleLbl="node1" presStyleIdx="12" presStyleCnt="14">
        <dgm:presLayoutVars>
          <dgm:bulletEnabled val="1"/>
        </dgm:presLayoutVars>
      </dgm:prSet>
      <dgm:spPr/>
    </dgm:pt>
    <dgm:pt modelId="{48571FE9-A7C6-EA4E-9833-8265ABFB301F}" type="pres">
      <dgm:prSet presAssocID="{0C56DBE9-6990-2549-A6AF-0F97943D6C4C}" presName="sibTrans" presStyleLbl="sibTrans2D1" presStyleIdx="12" presStyleCnt="13"/>
      <dgm:spPr/>
    </dgm:pt>
    <dgm:pt modelId="{3617F950-4D52-7F41-B09C-343A411D5A38}" type="pres">
      <dgm:prSet presAssocID="{0C56DBE9-6990-2549-A6AF-0F97943D6C4C}" presName="connectorText" presStyleLbl="sibTrans2D1" presStyleIdx="12" presStyleCnt="13"/>
      <dgm:spPr/>
    </dgm:pt>
    <dgm:pt modelId="{E86B766B-1018-E740-871E-3B36EA0CF9F9}" type="pres">
      <dgm:prSet presAssocID="{D65F9801-DA13-B940-99F9-6DDBBB8F0E50}" presName="node" presStyleLbl="node1" presStyleIdx="13" presStyleCnt="14">
        <dgm:presLayoutVars>
          <dgm:bulletEnabled val="1"/>
        </dgm:presLayoutVars>
      </dgm:prSet>
      <dgm:spPr/>
    </dgm:pt>
  </dgm:ptLst>
  <dgm:cxnLst>
    <dgm:cxn modelId="{C2CC7700-9200-3048-BBDC-F7BBC7CC3839}" type="presOf" srcId="{03437A29-5840-854D-82F5-F83B6391C451}" destId="{57FB473B-FF37-BE4F-B8E8-76D93E1DDD8C}" srcOrd="0" destOrd="0" presId="urn:microsoft.com/office/officeart/2005/8/layout/process5"/>
    <dgm:cxn modelId="{7A445403-3558-4F4A-8C96-BDEDB9672694}" type="presOf" srcId="{62A4DDA8-F1BC-334A-A477-959B01FBE2AF}" destId="{07044B6C-31FF-ED4C-940F-F883993ED357}" srcOrd="0" destOrd="0" presId="urn:microsoft.com/office/officeart/2005/8/layout/process5"/>
    <dgm:cxn modelId="{D21A220A-BA55-604D-8FA1-E13F56B6F77B}" srcId="{300ADDFA-8170-6F45-ABDB-73C439D38549}" destId="{4D3AF88E-5273-8246-8014-C395855B0607}" srcOrd="10" destOrd="0" parTransId="{162D53EA-F9A1-DC4A-BCC5-D54B20603093}" sibTransId="{88109254-4855-3348-AE66-B2B7A3C66D2B}"/>
    <dgm:cxn modelId="{6A225A0F-B414-5A4C-B1EF-64E8478AB060}" type="presOf" srcId="{3F3B4385-4EA7-D04C-83F8-AB40B8445073}" destId="{DB758816-831D-5E47-B8F0-4AECFF0FCEDD}" srcOrd="0" destOrd="0" presId="urn:microsoft.com/office/officeart/2005/8/layout/process5"/>
    <dgm:cxn modelId="{0BD2610F-F1E2-B643-8E40-657418CD3A9D}" type="presOf" srcId="{4D3AF88E-5273-8246-8014-C395855B0607}" destId="{10AE29FC-2C05-5744-8DEE-14D26F5EA1E4}" srcOrd="0" destOrd="0" presId="urn:microsoft.com/office/officeart/2005/8/layout/process5"/>
    <dgm:cxn modelId="{6EFDC610-820E-1245-89AC-741786EE8659}" type="presOf" srcId="{1745228E-4D4A-E340-ACA5-7E81F04DB4A0}" destId="{AEB99475-5D93-5C46-A4EA-F630AC7B8F7B}" srcOrd="0" destOrd="0" presId="urn:microsoft.com/office/officeart/2005/8/layout/process5"/>
    <dgm:cxn modelId="{275E6416-E150-FC47-94D4-102A5310D8A5}" type="presOf" srcId="{4D13387A-9D2A-FF40-93B9-B9BC6DE48E6A}" destId="{3198B061-5644-5E42-90E9-676D1BDCF038}" srcOrd="1" destOrd="0" presId="urn:microsoft.com/office/officeart/2005/8/layout/process5"/>
    <dgm:cxn modelId="{AC3D8E16-AE7E-9345-A4B7-61055FDAAC8E}" srcId="{300ADDFA-8170-6F45-ABDB-73C439D38549}" destId="{D65F9801-DA13-B940-99F9-6DDBBB8F0E50}" srcOrd="13" destOrd="0" parTransId="{2BB342E7-5BDC-1F4A-9DFF-EBF81820E91D}" sibTransId="{67855EF3-36E8-CF44-814A-C46A4222AA42}"/>
    <dgm:cxn modelId="{833DC416-861C-C840-86A0-527F75ABE275}" type="presOf" srcId="{CA1AAFA8-86D4-1D43-BB18-9D0D98CFB961}" destId="{62979A1B-6289-A14C-A4A3-DFB0F84C620A}" srcOrd="0" destOrd="0" presId="urn:microsoft.com/office/officeart/2005/8/layout/process5"/>
    <dgm:cxn modelId="{5E5AA829-F265-DE46-A9F0-B710828DD1F1}" type="presOf" srcId="{F7EBBCB4-05D0-3146-9F21-29392CBCA97C}" destId="{65CF9B51-5BD0-F545-AACC-86015F18E01C}" srcOrd="0" destOrd="0" presId="urn:microsoft.com/office/officeart/2005/8/layout/process5"/>
    <dgm:cxn modelId="{5A62FE29-F5E3-3347-8273-9C080C330116}" type="presOf" srcId="{300ADDFA-8170-6F45-ABDB-73C439D38549}" destId="{A34783D4-D45A-1043-9D83-4F74CBA1307F}" srcOrd="0" destOrd="0" presId="urn:microsoft.com/office/officeart/2005/8/layout/process5"/>
    <dgm:cxn modelId="{C566CD2D-54BA-2748-8932-80016D2D9FFA}" type="presOf" srcId="{FD664E33-40BC-6440-A49F-F13A8FC268C4}" destId="{B0823E07-5AD6-CF49-B1A0-B12EB6521FBF}" srcOrd="1" destOrd="0" presId="urn:microsoft.com/office/officeart/2005/8/layout/process5"/>
    <dgm:cxn modelId="{8717482E-DF6C-9D49-A83B-391CF3AB5DE4}" type="presOf" srcId="{13C4D0AF-91D9-5A4D-B2F9-7F5C55A777DD}" destId="{17178F50-AD60-4643-A260-083A9EFD723B}" srcOrd="0" destOrd="0" presId="urn:microsoft.com/office/officeart/2005/8/layout/process5"/>
    <dgm:cxn modelId="{51CA3636-0F36-0046-819D-D6AA5E1A09F5}" type="presOf" srcId="{C19BE8F9-B159-3742-91B8-70481A277143}" destId="{76565D80-C179-9346-B2E8-0EA0D9300631}" srcOrd="1" destOrd="0" presId="urn:microsoft.com/office/officeart/2005/8/layout/process5"/>
    <dgm:cxn modelId="{C2537D37-DE65-824D-9AAE-DDA1373629D1}" srcId="{300ADDFA-8170-6F45-ABDB-73C439D38549}" destId="{62A4DDA8-F1BC-334A-A477-959B01FBE2AF}" srcOrd="3" destOrd="0" parTransId="{8F20697E-A144-3E4C-BF41-64D726A17CBA}" sibTransId="{F1775492-C32D-8A48-996C-2F982F22C24A}"/>
    <dgm:cxn modelId="{BCC02538-D285-7848-9B7F-52210A895DB9}" type="presOf" srcId="{88109254-4855-3348-AE66-B2B7A3C66D2B}" destId="{8F23860A-9035-424C-B2E1-F8A6A1003468}" srcOrd="0" destOrd="0" presId="urn:microsoft.com/office/officeart/2005/8/layout/process5"/>
    <dgm:cxn modelId="{EBED623E-DE6F-AB42-9ECC-64FC8BCE52F2}" type="presOf" srcId="{8EC89E08-4F0D-E546-B805-AED20DB0F8F4}" destId="{1C14EE90-0B6C-854A-B5ED-5DD5CB347E54}" srcOrd="0" destOrd="0" presId="urn:microsoft.com/office/officeart/2005/8/layout/process5"/>
    <dgm:cxn modelId="{2EC3863E-3D28-8140-BB80-8B4B42C25631}" type="presOf" srcId="{F7EBBCB4-05D0-3146-9F21-29392CBCA97C}" destId="{A6AB16BD-F0A9-0C40-A111-E6246A89CF27}" srcOrd="1" destOrd="0" presId="urn:microsoft.com/office/officeart/2005/8/layout/process5"/>
    <dgm:cxn modelId="{67DAF43F-330C-4548-88FF-075D6A5D96E7}" type="presOf" srcId="{88109254-4855-3348-AE66-B2B7A3C66D2B}" destId="{5BAB1B3E-E4B1-C540-8A2E-92DFBA11FF7E}" srcOrd="1" destOrd="0" presId="urn:microsoft.com/office/officeart/2005/8/layout/process5"/>
    <dgm:cxn modelId="{06815041-007E-7045-B1C2-8A9A0F465A08}" type="presOf" srcId="{B189FC5C-B4BB-E943-9EB0-FEB67C24A0CB}" destId="{1B2D0210-819D-9749-9DF0-97E41D2878D1}" srcOrd="0" destOrd="0" presId="urn:microsoft.com/office/officeart/2005/8/layout/process5"/>
    <dgm:cxn modelId="{E1D29249-369A-0748-B90E-2FAAB77B0095}" type="presOf" srcId="{4D13387A-9D2A-FF40-93B9-B9BC6DE48E6A}" destId="{9D85BD68-6C22-B54B-A179-95AC9FE1A0B4}" srcOrd="0" destOrd="0" presId="urn:microsoft.com/office/officeart/2005/8/layout/process5"/>
    <dgm:cxn modelId="{89AC3A4B-DF25-3449-8EA2-51A0D9CB8D62}" type="presOf" srcId="{F45751DA-61C1-7C4E-A656-84007BFA4101}" destId="{52F01F04-21CB-FB4D-96F5-DEA1190CB298}" srcOrd="0" destOrd="0" presId="urn:microsoft.com/office/officeart/2005/8/layout/process5"/>
    <dgm:cxn modelId="{36686C68-26D6-DE42-8BFE-89853B3790F1}" type="presOf" srcId="{706E040F-1136-014E-BEAB-D38269404C59}" destId="{96224BA6-0E33-EF43-85D1-6F6725C80CA8}" srcOrd="0" destOrd="0" presId="urn:microsoft.com/office/officeart/2005/8/layout/process5"/>
    <dgm:cxn modelId="{F8A0D66F-9DCA-2B40-9DC7-93DB306545A8}" type="presOf" srcId="{8AE39D21-4085-7248-AAED-2CBBCA0D391B}" destId="{CDC987AC-32D5-CD44-AAD0-6454D79D1784}" srcOrd="0" destOrd="0" presId="urn:microsoft.com/office/officeart/2005/8/layout/process5"/>
    <dgm:cxn modelId="{18CAC975-06A7-6E44-A59C-D6D38B4F331C}" srcId="{300ADDFA-8170-6F45-ABDB-73C439D38549}" destId="{1745228E-4D4A-E340-ACA5-7E81F04DB4A0}" srcOrd="7" destOrd="0" parTransId="{0B80566D-A544-6B44-954D-5867DA0B25DA}" sibTransId="{F7EBBCB4-05D0-3146-9F21-29392CBCA97C}"/>
    <dgm:cxn modelId="{EA8A8176-CC55-5044-8BCC-2C9DD59B59C2}" type="presOf" srcId="{706E040F-1136-014E-BEAB-D38269404C59}" destId="{AE312F44-D30D-1D4E-9A72-3D0E015FA7BB}" srcOrd="1" destOrd="0" presId="urn:microsoft.com/office/officeart/2005/8/layout/process5"/>
    <dgm:cxn modelId="{3A39FA7D-FD0F-D549-8A44-CFF87E388D70}" type="presOf" srcId="{9679762E-EDE2-C149-B511-55D073815BBD}" destId="{DF539412-DD49-0143-8712-453CFDAD8C2C}" srcOrd="0" destOrd="0" presId="urn:microsoft.com/office/officeart/2005/8/layout/process5"/>
    <dgm:cxn modelId="{F6448483-FA4E-9647-89EA-AE43A578CBD1}" srcId="{300ADDFA-8170-6F45-ABDB-73C439D38549}" destId="{9679762E-EDE2-C149-B511-55D073815BBD}" srcOrd="12" destOrd="0" parTransId="{687758F7-CA0D-EB44-BBF3-490175C96149}" sibTransId="{0C56DBE9-6990-2549-A6AF-0F97943D6C4C}"/>
    <dgm:cxn modelId="{23364F8A-03C3-CF47-9630-F1A2AADE07AF}" srcId="{300ADDFA-8170-6F45-ABDB-73C439D38549}" destId="{8EC89E08-4F0D-E546-B805-AED20DB0F8F4}" srcOrd="1" destOrd="0" parTransId="{E2869EC4-5F51-BE4A-8127-0EF9833941AB}" sibTransId="{1DE66DCA-C3E0-EB48-AA03-72CF0C4A495F}"/>
    <dgm:cxn modelId="{2B3D5E8A-3B92-4A4E-9DD2-C2465150AFD9}" type="presOf" srcId="{152DFD49-44D1-C044-B23F-44A793EEECE1}" destId="{0085B336-7916-B14F-AE4F-BE7CDA88C95E}" srcOrd="0" destOrd="0" presId="urn:microsoft.com/office/officeart/2005/8/layout/process5"/>
    <dgm:cxn modelId="{0A72078D-DDB9-154C-B1DB-B29F0239E63E}" type="presOf" srcId="{F45751DA-61C1-7C4E-A656-84007BFA4101}" destId="{95710F6D-0196-2F4F-A4E7-DBC4B3D13BA4}" srcOrd="1" destOrd="0" presId="urn:microsoft.com/office/officeart/2005/8/layout/process5"/>
    <dgm:cxn modelId="{2B54108F-406F-6141-B883-F138D6C427AD}" srcId="{300ADDFA-8170-6F45-ABDB-73C439D38549}" destId="{D6DFA7CF-4D7D-6044-81B0-75939DAD4567}" srcOrd="0" destOrd="0" parTransId="{82E2653D-395A-A34E-8D3D-F0C0F844F6E4}" sibTransId="{C19BE8F9-B159-3742-91B8-70481A277143}"/>
    <dgm:cxn modelId="{FD158E95-7360-9E44-B09B-9BB38B928954}" type="presOf" srcId="{1DE66DCA-C3E0-EB48-AA03-72CF0C4A495F}" destId="{B95BD754-6F8A-9F4F-9B68-5AC35DFCDC05}" srcOrd="0" destOrd="0" presId="urn:microsoft.com/office/officeart/2005/8/layout/process5"/>
    <dgm:cxn modelId="{7889F495-99F0-2741-AA7A-81D9512CF162}" type="presOf" srcId="{C19BE8F9-B159-3742-91B8-70481A277143}" destId="{7CB3DDE3-6E20-E846-A3A5-AC325DC98A60}" srcOrd="0" destOrd="0" presId="urn:microsoft.com/office/officeart/2005/8/layout/process5"/>
    <dgm:cxn modelId="{B3334799-E743-6E49-A960-35461602962F}" type="presOf" srcId="{F1775492-C32D-8A48-996C-2F982F22C24A}" destId="{2439BEF8-E9B4-B545-8E84-D228D88EA4D9}" srcOrd="1" destOrd="0" presId="urn:microsoft.com/office/officeart/2005/8/layout/process5"/>
    <dgm:cxn modelId="{A22BC1A4-E6D0-624E-8CD8-EDADC64D1EF7}" type="presOf" srcId="{D6DFA7CF-4D7D-6044-81B0-75939DAD4567}" destId="{BB3E921D-8824-B846-9640-DFD019CDB2A2}" srcOrd="0" destOrd="0" presId="urn:microsoft.com/office/officeart/2005/8/layout/process5"/>
    <dgm:cxn modelId="{ADB9EFA7-94EB-794B-9B0E-666A2F604667}" type="presOf" srcId="{03437A29-5840-854D-82F5-F83B6391C451}" destId="{D0B90AB2-1337-C248-AF71-0A4CD0AE7FD2}" srcOrd="1" destOrd="0" presId="urn:microsoft.com/office/officeart/2005/8/layout/process5"/>
    <dgm:cxn modelId="{4AEDCAA8-C2F9-6344-8BDF-48687DC3115A}" type="presOf" srcId="{3F3B4385-4EA7-D04C-83F8-AB40B8445073}" destId="{B974B93C-A56D-DA4A-90D6-5FEF691C93F9}" srcOrd="1" destOrd="0" presId="urn:microsoft.com/office/officeart/2005/8/layout/process5"/>
    <dgm:cxn modelId="{999582AA-619F-9C41-9193-3859138A3D8C}" srcId="{300ADDFA-8170-6F45-ABDB-73C439D38549}" destId="{BE8D115D-BCF0-594F-BA14-D8C3D6CFA74F}" srcOrd="8" destOrd="0" parTransId="{D0D0C8A3-E28F-BA49-87F9-CC66E0010478}" sibTransId="{4D13387A-9D2A-FF40-93B9-B9BC6DE48E6A}"/>
    <dgm:cxn modelId="{3DFE14AB-573C-7A4D-AD4D-9731DD2F8F85}" type="presOf" srcId="{FD664E33-40BC-6440-A49F-F13A8FC268C4}" destId="{4B69DA95-E497-974D-A3B7-D7BC8AB87D79}" srcOrd="0" destOrd="0" presId="urn:microsoft.com/office/officeart/2005/8/layout/process5"/>
    <dgm:cxn modelId="{42083FAE-68C7-1141-93AE-5395786763BD}" type="presOf" srcId="{5F51EFB5-B2BD-5F4C-AB78-EBDF91A48A0D}" destId="{B349B732-DE57-294B-B0A2-5BB2E6014707}" srcOrd="0" destOrd="0" presId="urn:microsoft.com/office/officeart/2005/8/layout/process5"/>
    <dgm:cxn modelId="{A39C4DB4-472B-8146-8C08-2881357A7FB8}" srcId="{300ADDFA-8170-6F45-ABDB-73C439D38549}" destId="{B189FC5C-B4BB-E943-9EB0-FEB67C24A0CB}" srcOrd="4" destOrd="0" parTransId="{49536B5B-7510-3F47-8680-D72B9EC9818D}" sibTransId="{706E040F-1136-014E-BEAB-D38269404C59}"/>
    <dgm:cxn modelId="{DF9D53B7-9F15-6848-9AC1-F1117235F88F}" srcId="{300ADDFA-8170-6F45-ABDB-73C439D38549}" destId="{152DFD49-44D1-C044-B23F-44A793EEECE1}" srcOrd="2" destOrd="0" parTransId="{CA6F798B-DDD5-BC43-A510-AED66B8089AD}" sibTransId="{13C4D0AF-91D9-5A4D-B2F9-7F5C55A777DD}"/>
    <dgm:cxn modelId="{31466FB9-0519-964E-80F1-C12E1C40EFE8}" type="presOf" srcId="{BE8D115D-BCF0-594F-BA14-D8C3D6CFA74F}" destId="{EBC48BDD-52DA-E24E-B074-6935FE491539}" srcOrd="0" destOrd="0" presId="urn:microsoft.com/office/officeart/2005/8/layout/process5"/>
    <dgm:cxn modelId="{C178E6C2-D51C-A347-BD60-5C51910DD408}" type="presOf" srcId="{D65F9801-DA13-B940-99F9-6DDBBB8F0E50}" destId="{E86B766B-1018-E740-871E-3B36EA0CF9F9}" srcOrd="0" destOrd="0" presId="urn:microsoft.com/office/officeart/2005/8/layout/process5"/>
    <dgm:cxn modelId="{28FC3ED0-799E-794F-8CA3-B32DF4486F56}" type="presOf" srcId="{0C56DBE9-6990-2549-A6AF-0F97943D6C4C}" destId="{48571FE9-A7C6-EA4E-9833-8265ABFB301F}" srcOrd="0" destOrd="0" presId="urn:microsoft.com/office/officeart/2005/8/layout/process5"/>
    <dgm:cxn modelId="{2B603BE5-0C25-D54C-B1FC-073824AD4579}" type="presOf" srcId="{F1775492-C32D-8A48-996C-2F982F22C24A}" destId="{0E525D3D-B155-C34D-8882-6D145AC2D5D5}" srcOrd="0" destOrd="0" presId="urn:microsoft.com/office/officeart/2005/8/layout/process5"/>
    <dgm:cxn modelId="{68EAC6E5-F871-A148-85BB-70EAEDD2312E}" type="presOf" srcId="{99D6D24C-267F-484D-A051-6CABCFDAA6BD}" destId="{CC722804-FB14-5241-BDFF-5363AC45F513}" srcOrd="0" destOrd="0" presId="urn:microsoft.com/office/officeart/2005/8/layout/process5"/>
    <dgm:cxn modelId="{80696DEB-3286-CE40-81D9-A7489729EBCA}" srcId="{300ADDFA-8170-6F45-ABDB-73C439D38549}" destId="{8AE39D21-4085-7248-AAED-2CBBCA0D391B}" srcOrd="9" destOrd="0" parTransId="{8969AB93-BF8F-0844-81DE-EB8FEC190DDC}" sibTransId="{3F3B4385-4EA7-D04C-83F8-AB40B8445073}"/>
    <dgm:cxn modelId="{4008C8F0-F8F7-5B47-B309-AA54E60618DD}" type="presOf" srcId="{0C56DBE9-6990-2549-A6AF-0F97943D6C4C}" destId="{3617F950-4D52-7F41-B09C-343A411D5A38}" srcOrd="1" destOrd="0" presId="urn:microsoft.com/office/officeart/2005/8/layout/process5"/>
    <dgm:cxn modelId="{596C18F2-E8DD-CE4F-80D5-1C7BB7503390}" type="presOf" srcId="{1DE66DCA-C3E0-EB48-AA03-72CF0C4A495F}" destId="{DC80B84E-6B2B-6C4E-9F90-4DE341113287}" srcOrd="1" destOrd="0" presId="urn:microsoft.com/office/officeart/2005/8/layout/process5"/>
    <dgm:cxn modelId="{A3AB87F4-A94E-2246-9D0A-3E8F4CF65D5F}" type="presOf" srcId="{13C4D0AF-91D9-5A4D-B2F9-7F5C55A777DD}" destId="{28577ACB-190A-4C4D-96C3-E1C0F60CDE4E}" srcOrd="1" destOrd="0" presId="urn:microsoft.com/office/officeart/2005/8/layout/process5"/>
    <dgm:cxn modelId="{FD88B5F9-8529-4944-AB20-523B23CED3E9}" srcId="{300ADDFA-8170-6F45-ABDB-73C439D38549}" destId="{5F51EFB5-B2BD-5F4C-AB78-EBDF91A48A0D}" srcOrd="11" destOrd="0" parTransId="{F805F339-D137-1B4B-AC78-47F1928AF3A3}" sibTransId="{FD664E33-40BC-6440-A49F-F13A8FC268C4}"/>
    <dgm:cxn modelId="{CC2D53FB-CCDD-E644-A3CF-E5C8F3D670AC}" srcId="{300ADDFA-8170-6F45-ABDB-73C439D38549}" destId="{99D6D24C-267F-484D-A051-6CABCFDAA6BD}" srcOrd="5" destOrd="0" parTransId="{11BEA955-26C9-F14C-8F12-3B84435B534A}" sibTransId="{03437A29-5840-854D-82F5-F83B6391C451}"/>
    <dgm:cxn modelId="{BB32E3FB-E735-2A4F-ABCC-C5D6A8C99BE4}" srcId="{300ADDFA-8170-6F45-ABDB-73C439D38549}" destId="{CA1AAFA8-86D4-1D43-BB18-9D0D98CFB961}" srcOrd="6" destOrd="0" parTransId="{C201398A-2280-B941-9365-FD41375416CD}" sibTransId="{F45751DA-61C1-7C4E-A656-84007BFA4101}"/>
    <dgm:cxn modelId="{509E86CA-0F25-DE4D-84A5-72F3979D9B80}" type="presParOf" srcId="{A34783D4-D45A-1043-9D83-4F74CBA1307F}" destId="{BB3E921D-8824-B846-9640-DFD019CDB2A2}" srcOrd="0" destOrd="0" presId="urn:microsoft.com/office/officeart/2005/8/layout/process5"/>
    <dgm:cxn modelId="{FDBBF944-8904-B843-9E37-BE2AA870892C}" type="presParOf" srcId="{A34783D4-D45A-1043-9D83-4F74CBA1307F}" destId="{7CB3DDE3-6E20-E846-A3A5-AC325DC98A60}" srcOrd="1" destOrd="0" presId="urn:microsoft.com/office/officeart/2005/8/layout/process5"/>
    <dgm:cxn modelId="{ED02138C-5095-9B4B-B222-83AFA593C27B}" type="presParOf" srcId="{7CB3DDE3-6E20-E846-A3A5-AC325DC98A60}" destId="{76565D80-C179-9346-B2E8-0EA0D9300631}" srcOrd="0" destOrd="0" presId="urn:microsoft.com/office/officeart/2005/8/layout/process5"/>
    <dgm:cxn modelId="{6FF10EFD-C493-C749-A3D4-CFFB34EA8D74}" type="presParOf" srcId="{A34783D4-D45A-1043-9D83-4F74CBA1307F}" destId="{1C14EE90-0B6C-854A-B5ED-5DD5CB347E54}" srcOrd="2" destOrd="0" presId="urn:microsoft.com/office/officeart/2005/8/layout/process5"/>
    <dgm:cxn modelId="{EABBB3A0-539E-4941-A20B-BB43A90BF908}" type="presParOf" srcId="{A34783D4-D45A-1043-9D83-4F74CBA1307F}" destId="{B95BD754-6F8A-9F4F-9B68-5AC35DFCDC05}" srcOrd="3" destOrd="0" presId="urn:microsoft.com/office/officeart/2005/8/layout/process5"/>
    <dgm:cxn modelId="{CFE5B60F-78D8-AF41-9E23-EF26E0AC4EB9}" type="presParOf" srcId="{B95BD754-6F8A-9F4F-9B68-5AC35DFCDC05}" destId="{DC80B84E-6B2B-6C4E-9F90-4DE341113287}" srcOrd="0" destOrd="0" presId="urn:microsoft.com/office/officeart/2005/8/layout/process5"/>
    <dgm:cxn modelId="{EB144C8A-65FA-E94A-B1AF-BD759103410C}" type="presParOf" srcId="{A34783D4-D45A-1043-9D83-4F74CBA1307F}" destId="{0085B336-7916-B14F-AE4F-BE7CDA88C95E}" srcOrd="4" destOrd="0" presId="urn:microsoft.com/office/officeart/2005/8/layout/process5"/>
    <dgm:cxn modelId="{49CFF964-B74C-AF4B-9B3E-D95E76315F6D}" type="presParOf" srcId="{A34783D4-D45A-1043-9D83-4F74CBA1307F}" destId="{17178F50-AD60-4643-A260-083A9EFD723B}" srcOrd="5" destOrd="0" presId="urn:microsoft.com/office/officeart/2005/8/layout/process5"/>
    <dgm:cxn modelId="{22B79CA9-6443-F443-8DE6-7A9F2338C8CD}" type="presParOf" srcId="{17178F50-AD60-4643-A260-083A9EFD723B}" destId="{28577ACB-190A-4C4D-96C3-E1C0F60CDE4E}" srcOrd="0" destOrd="0" presId="urn:microsoft.com/office/officeart/2005/8/layout/process5"/>
    <dgm:cxn modelId="{1B2D6024-1843-584C-AA38-6D570113C3D4}" type="presParOf" srcId="{A34783D4-D45A-1043-9D83-4F74CBA1307F}" destId="{07044B6C-31FF-ED4C-940F-F883993ED357}" srcOrd="6" destOrd="0" presId="urn:microsoft.com/office/officeart/2005/8/layout/process5"/>
    <dgm:cxn modelId="{F2F59D04-4007-B541-98BA-4C351077F591}" type="presParOf" srcId="{A34783D4-D45A-1043-9D83-4F74CBA1307F}" destId="{0E525D3D-B155-C34D-8882-6D145AC2D5D5}" srcOrd="7" destOrd="0" presId="urn:microsoft.com/office/officeart/2005/8/layout/process5"/>
    <dgm:cxn modelId="{83A8FD90-2B35-0345-A11A-C1B987F4D7BB}" type="presParOf" srcId="{0E525D3D-B155-C34D-8882-6D145AC2D5D5}" destId="{2439BEF8-E9B4-B545-8E84-D228D88EA4D9}" srcOrd="0" destOrd="0" presId="urn:microsoft.com/office/officeart/2005/8/layout/process5"/>
    <dgm:cxn modelId="{63F409B9-D6FF-294B-83CF-B3E2C49B5361}" type="presParOf" srcId="{A34783D4-D45A-1043-9D83-4F74CBA1307F}" destId="{1B2D0210-819D-9749-9DF0-97E41D2878D1}" srcOrd="8" destOrd="0" presId="urn:microsoft.com/office/officeart/2005/8/layout/process5"/>
    <dgm:cxn modelId="{ED35AE8B-BCED-074A-8705-A578C437E711}" type="presParOf" srcId="{A34783D4-D45A-1043-9D83-4F74CBA1307F}" destId="{96224BA6-0E33-EF43-85D1-6F6725C80CA8}" srcOrd="9" destOrd="0" presId="urn:microsoft.com/office/officeart/2005/8/layout/process5"/>
    <dgm:cxn modelId="{294500BF-A8CE-4D49-B9F5-D186F13ED31E}" type="presParOf" srcId="{96224BA6-0E33-EF43-85D1-6F6725C80CA8}" destId="{AE312F44-D30D-1D4E-9A72-3D0E015FA7BB}" srcOrd="0" destOrd="0" presId="urn:microsoft.com/office/officeart/2005/8/layout/process5"/>
    <dgm:cxn modelId="{FF5B3FAB-726A-1944-B787-8F4D9E6DA94A}" type="presParOf" srcId="{A34783D4-D45A-1043-9D83-4F74CBA1307F}" destId="{CC722804-FB14-5241-BDFF-5363AC45F513}" srcOrd="10" destOrd="0" presId="urn:microsoft.com/office/officeart/2005/8/layout/process5"/>
    <dgm:cxn modelId="{A3050B1C-A913-BA4C-B890-E20F360B0E1A}" type="presParOf" srcId="{A34783D4-D45A-1043-9D83-4F74CBA1307F}" destId="{57FB473B-FF37-BE4F-B8E8-76D93E1DDD8C}" srcOrd="11" destOrd="0" presId="urn:microsoft.com/office/officeart/2005/8/layout/process5"/>
    <dgm:cxn modelId="{E4A89A6E-AE23-B44D-BC78-B0C85811EC47}" type="presParOf" srcId="{57FB473B-FF37-BE4F-B8E8-76D93E1DDD8C}" destId="{D0B90AB2-1337-C248-AF71-0A4CD0AE7FD2}" srcOrd="0" destOrd="0" presId="urn:microsoft.com/office/officeart/2005/8/layout/process5"/>
    <dgm:cxn modelId="{D60422B5-CD02-EA47-AE93-7655AF43AE58}" type="presParOf" srcId="{A34783D4-D45A-1043-9D83-4F74CBA1307F}" destId="{62979A1B-6289-A14C-A4A3-DFB0F84C620A}" srcOrd="12" destOrd="0" presId="urn:microsoft.com/office/officeart/2005/8/layout/process5"/>
    <dgm:cxn modelId="{A3C5D074-65B1-7E4F-AF16-A23C0C95A6FD}" type="presParOf" srcId="{A34783D4-D45A-1043-9D83-4F74CBA1307F}" destId="{52F01F04-21CB-FB4D-96F5-DEA1190CB298}" srcOrd="13" destOrd="0" presId="urn:microsoft.com/office/officeart/2005/8/layout/process5"/>
    <dgm:cxn modelId="{263E0F48-1B74-E246-B2F8-E016C3FC96D2}" type="presParOf" srcId="{52F01F04-21CB-FB4D-96F5-DEA1190CB298}" destId="{95710F6D-0196-2F4F-A4E7-DBC4B3D13BA4}" srcOrd="0" destOrd="0" presId="urn:microsoft.com/office/officeart/2005/8/layout/process5"/>
    <dgm:cxn modelId="{1DFC6736-2686-7740-A058-91547DC3F2BD}" type="presParOf" srcId="{A34783D4-D45A-1043-9D83-4F74CBA1307F}" destId="{AEB99475-5D93-5C46-A4EA-F630AC7B8F7B}" srcOrd="14" destOrd="0" presId="urn:microsoft.com/office/officeart/2005/8/layout/process5"/>
    <dgm:cxn modelId="{0705F577-23D6-1F4B-BEAE-87F706BDA701}" type="presParOf" srcId="{A34783D4-D45A-1043-9D83-4F74CBA1307F}" destId="{65CF9B51-5BD0-F545-AACC-86015F18E01C}" srcOrd="15" destOrd="0" presId="urn:microsoft.com/office/officeart/2005/8/layout/process5"/>
    <dgm:cxn modelId="{7F6C4F92-CBCF-2A46-8668-8BCB18650FF3}" type="presParOf" srcId="{65CF9B51-5BD0-F545-AACC-86015F18E01C}" destId="{A6AB16BD-F0A9-0C40-A111-E6246A89CF27}" srcOrd="0" destOrd="0" presId="urn:microsoft.com/office/officeart/2005/8/layout/process5"/>
    <dgm:cxn modelId="{27966A88-5195-FE4F-994E-01C7362DC0D2}" type="presParOf" srcId="{A34783D4-D45A-1043-9D83-4F74CBA1307F}" destId="{EBC48BDD-52DA-E24E-B074-6935FE491539}" srcOrd="16" destOrd="0" presId="urn:microsoft.com/office/officeart/2005/8/layout/process5"/>
    <dgm:cxn modelId="{DCEE4F9A-A105-B24C-A416-E21E05FC5913}" type="presParOf" srcId="{A34783D4-D45A-1043-9D83-4F74CBA1307F}" destId="{9D85BD68-6C22-B54B-A179-95AC9FE1A0B4}" srcOrd="17" destOrd="0" presId="urn:microsoft.com/office/officeart/2005/8/layout/process5"/>
    <dgm:cxn modelId="{46008043-2F04-9D48-84DD-7E607F1C727E}" type="presParOf" srcId="{9D85BD68-6C22-B54B-A179-95AC9FE1A0B4}" destId="{3198B061-5644-5E42-90E9-676D1BDCF038}" srcOrd="0" destOrd="0" presId="urn:microsoft.com/office/officeart/2005/8/layout/process5"/>
    <dgm:cxn modelId="{EC84C923-6766-BA4C-8FE4-97EE71F29EEE}" type="presParOf" srcId="{A34783D4-D45A-1043-9D83-4F74CBA1307F}" destId="{CDC987AC-32D5-CD44-AAD0-6454D79D1784}" srcOrd="18" destOrd="0" presId="urn:microsoft.com/office/officeart/2005/8/layout/process5"/>
    <dgm:cxn modelId="{3D6F9004-0303-254C-BAD8-CA2AA5DC80D7}" type="presParOf" srcId="{A34783D4-D45A-1043-9D83-4F74CBA1307F}" destId="{DB758816-831D-5E47-B8F0-4AECFF0FCEDD}" srcOrd="19" destOrd="0" presId="urn:microsoft.com/office/officeart/2005/8/layout/process5"/>
    <dgm:cxn modelId="{79C4D7BF-952C-2A43-AFD7-AF049854DC8C}" type="presParOf" srcId="{DB758816-831D-5E47-B8F0-4AECFF0FCEDD}" destId="{B974B93C-A56D-DA4A-90D6-5FEF691C93F9}" srcOrd="0" destOrd="0" presId="urn:microsoft.com/office/officeart/2005/8/layout/process5"/>
    <dgm:cxn modelId="{0EF49F4F-8310-3C4C-BCFF-72B73DD3B8A8}" type="presParOf" srcId="{A34783D4-D45A-1043-9D83-4F74CBA1307F}" destId="{10AE29FC-2C05-5744-8DEE-14D26F5EA1E4}" srcOrd="20" destOrd="0" presId="urn:microsoft.com/office/officeart/2005/8/layout/process5"/>
    <dgm:cxn modelId="{2C7883CE-169A-754F-B367-E12CCCCF8E1F}" type="presParOf" srcId="{A34783D4-D45A-1043-9D83-4F74CBA1307F}" destId="{8F23860A-9035-424C-B2E1-F8A6A1003468}" srcOrd="21" destOrd="0" presId="urn:microsoft.com/office/officeart/2005/8/layout/process5"/>
    <dgm:cxn modelId="{44D1CC83-AD27-EC43-ACA0-ED732F20D6FD}" type="presParOf" srcId="{8F23860A-9035-424C-B2E1-F8A6A1003468}" destId="{5BAB1B3E-E4B1-C540-8A2E-92DFBA11FF7E}" srcOrd="0" destOrd="0" presId="urn:microsoft.com/office/officeart/2005/8/layout/process5"/>
    <dgm:cxn modelId="{D846DD18-8A5E-B941-BF71-3E16B1B28813}" type="presParOf" srcId="{A34783D4-D45A-1043-9D83-4F74CBA1307F}" destId="{B349B732-DE57-294B-B0A2-5BB2E6014707}" srcOrd="22" destOrd="0" presId="urn:microsoft.com/office/officeart/2005/8/layout/process5"/>
    <dgm:cxn modelId="{181FFF06-3D21-EF4A-9D9F-7BD3DE33732E}" type="presParOf" srcId="{A34783D4-D45A-1043-9D83-4F74CBA1307F}" destId="{4B69DA95-E497-974D-A3B7-D7BC8AB87D79}" srcOrd="23" destOrd="0" presId="urn:microsoft.com/office/officeart/2005/8/layout/process5"/>
    <dgm:cxn modelId="{EAAAA0A5-5596-DB49-8E1B-2A31BCCE1B0B}" type="presParOf" srcId="{4B69DA95-E497-974D-A3B7-D7BC8AB87D79}" destId="{B0823E07-5AD6-CF49-B1A0-B12EB6521FBF}" srcOrd="0" destOrd="0" presId="urn:microsoft.com/office/officeart/2005/8/layout/process5"/>
    <dgm:cxn modelId="{C950AF05-924F-0E48-BA99-00A74936C80F}" type="presParOf" srcId="{A34783D4-D45A-1043-9D83-4F74CBA1307F}" destId="{DF539412-DD49-0143-8712-453CFDAD8C2C}" srcOrd="24" destOrd="0" presId="urn:microsoft.com/office/officeart/2005/8/layout/process5"/>
    <dgm:cxn modelId="{2860890C-276F-6949-B6C3-8204E9758F94}" type="presParOf" srcId="{A34783D4-D45A-1043-9D83-4F74CBA1307F}" destId="{48571FE9-A7C6-EA4E-9833-8265ABFB301F}" srcOrd="25" destOrd="0" presId="urn:microsoft.com/office/officeart/2005/8/layout/process5"/>
    <dgm:cxn modelId="{E3378FB6-ABE5-5F40-9D6E-0228083B5885}" type="presParOf" srcId="{48571FE9-A7C6-EA4E-9833-8265ABFB301F}" destId="{3617F950-4D52-7F41-B09C-343A411D5A38}" srcOrd="0" destOrd="0" presId="urn:microsoft.com/office/officeart/2005/8/layout/process5"/>
    <dgm:cxn modelId="{15F44FCE-1085-BE46-A409-B1E48181A07E}" type="presParOf" srcId="{A34783D4-D45A-1043-9D83-4F74CBA1307F}" destId="{E86B766B-1018-E740-871E-3B36EA0CF9F9}" srcOrd="2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E921D-8824-B846-9640-DFD019CDB2A2}">
      <dsp:nvSpPr>
        <dsp:cNvPr id="0" name=""/>
        <dsp:cNvSpPr/>
      </dsp:nvSpPr>
      <dsp:spPr>
        <a:xfrm>
          <a:off x="114895" y="1389"/>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Material Master in the system</a:t>
          </a:r>
        </a:p>
      </dsp:txBody>
      <dsp:txXfrm>
        <a:off x="134720" y="21214"/>
        <a:ext cx="1088467" cy="637220"/>
      </dsp:txXfrm>
    </dsp:sp>
    <dsp:sp modelId="{7CB3DDE3-6E20-E846-A3A5-AC325DC98A60}">
      <dsp:nvSpPr>
        <dsp:cNvPr id="0" name=""/>
        <dsp:cNvSpPr/>
      </dsp:nvSpPr>
      <dsp:spPr>
        <a:xfrm>
          <a:off x="1342286" y="199937"/>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1342286" y="255892"/>
        <a:ext cx="167412" cy="167863"/>
      </dsp:txXfrm>
    </dsp:sp>
    <dsp:sp modelId="{1C14EE90-0B6C-854A-B5ED-5DD5CB347E54}">
      <dsp:nvSpPr>
        <dsp:cNvPr id="0" name=""/>
        <dsp:cNvSpPr/>
      </dsp:nvSpPr>
      <dsp:spPr>
        <a:xfrm>
          <a:off x="1694259" y="1389"/>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Vendor Master, Tax master and other master data in the system</a:t>
          </a:r>
        </a:p>
      </dsp:txBody>
      <dsp:txXfrm>
        <a:off x="1714084" y="21214"/>
        <a:ext cx="1088467" cy="637220"/>
      </dsp:txXfrm>
    </dsp:sp>
    <dsp:sp modelId="{B95BD754-6F8A-9F4F-9B68-5AC35DFCDC05}">
      <dsp:nvSpPr>
        <dsp:cNvPr id="0" name=""/>
        <dsp:cNvSpPr/>
      </dsp:nvSpPr>
      <dsp:spPr>
        <a:xfrm>
          <a:off x="2921650" y="199937"/>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2921650" y="255892"/>
        <a:ext cx="167412" cy="167863"/>
      </dsp:txXfrm>
    </dsp:sp>
    <dsp:sp modelId="{0085B336-7916-B14F-AE4F-BE7CDA88C95E}">
      <dsp:nvSpPr>
        <dsp:cNvPr id="0" name=""/>
        <dsp:cNvSpPr/>
      </dsp:nvSpPr>
      <dsp:spPr>
        <a:xfrm>
          <a:off x="3273623" y="1389"/>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PR Creation &amp; approval</a:t>
          </a:r>
          <a:endParaRPr lang="en-GB" sz="900" kern="1200" dirty="0"/>
        </a:p>
      </dsp:txBody>
      <dsp:txXfrm>
        <a:off x="3293448" y="21214"/>
        <a:ext cx="1088467" cy="637220"/>
      </dsp:txXfrm>
    </dsp:sp>
    <dsp:sp modelId="{17178F50-AD60-4643-A260-083A9EFD723B}">
      <dsp:nvSpPr>
        <dsp:cNvPr id="0" name=""/>
        <dsp:cNvSpPr/>
      </dsp:nvSpPr>
      <dsp:spPr>
        <a:xfrm>
          <a:off x="4501014" y="199937"/>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4501014" y="255892"/>
        <a:ext cx="167412" cy="167863"/>
      </dsp:txXfrm>
    </dsp:sp>
    <dsp:sp modelId="{07044B6C-31FF-ED4C-940F-F883993ED357}">
      <dsp:nvSpPr>
        <dsp:cNvPr id="0" name=""/>
        <dsp:cNvSpPr/>
      </dsp:nvSpPr>
      <dsp:spPr>
        <a:xfrm>
          <a:off x="4852987" y="1389"/>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PO Creation</a:t>
          </a:r>
        </a:p>
      </dsp:txBody>
      <dsp:txXfrm>
        <a:off x="4872812" y="21214"/>
        <a:ext cx="1088467" cy="637220"/>
      </dsp:txXfrm>
    </dsp:sp>
    <dsp:sp modelId="{0E525D3D-B155-C34D-8882-6D145AC2D5D5}">
      <dsp:nvSpPr>
        <dsp:cNvPr id="0" name=""/>
        <dsp:cNvSpPr/>
      </dsp:nvSpPr>
      <dsp:spPr>
        <a:xfrm rot="5400000">
          <a:off x="5297465" y="757227"/>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5400000">
        <a:off x="5333114" y="777533"/>
        <a:ext cx="167863" cy="167412"/>
      </dsp:txXfrm>
    </dsp:sp>
    <dsp:sp modelId="{1B2D0210-819D-9749-9DF0-97E41D2878D1}">
      <dsp:nvSpPr>
        <dsp:cNvPr id="0" name=""/>
        <dsp:cNvSpPr/>
      </dsp:nvSpPr>
      <dsp:spPr>
        <a:xfrm>
          <a:off x="4852987" y="1129506"/>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GRN</a:t>
          </a:r>
        </a:p>
      </dsp:txBody>
      <dsp:txXfrm>
        <a:off x="4872812" y="1149331"/>
        <a:ext cx="1088467" cy="637220"/>
      </dsp:txXfrm>
    </dsp:sp>
    <dsp:sp modelId="{96224BA6-0E33-EF43-85D1-6F6725C80CA8}">
      <dsp:nvSpPr>
        <dsp:cNvPr id="0" name=""/>
        <dsp:cNvSpPr/>
      </dsp:nvSpPr>
      <dsp:spPr>
        <a:xfrm rot="10800000">
          <a:off x="4514552" y="1328054"/>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4586300" y="1384009"/>
        <a:ext cx="167412" cy="167863"/>
      </dsp:txXfrm>
    </dsp:sp>
    <dsp:sp modelId="{CC722804-FB14-5241-BDFF-5363AC45F513}">
      <dsp:nvSpPr>
        <dsp:cNvPr id="0" name=""/>
        <dsp:cNvSpPr/>
      </dsp:nvSpPr>
      <dsp:spPr>
        <a:xfrm>
          <a:off x="3273623" y="1129506"/>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Export “PO &amp; GRN data” to Tally (Download from system &amp; upload to Tally daily )</a:t>
          </a:r>
        </a:p>
      </dsp:txBody>
      <dsp:txXfrm>
        <a:off x="3293448" y="1149331"/>
        <a:ext cx="1088467" cy="637220"/>
      </dsp:txXfrm>
    </dsp:sp>
    <dsp:sp modelId="{57FB473B-FF37-BE4F-B8E8-76D93E1DDD8C}">
      <dsp:nvSpPr>
        <dsp:cNvPr id="0" name=""/>
        <dsp:cNvSpPr/>
      </dsp:nvSpPr>
      <dsp:spPr>
        <a:xfrm rot="10800000">
          <a:off x="2935188" y="1328054"/>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3006936" y="1384009"/>
        <a:ext cx="167412" cy="167863"/>
      </dsp:txXfrm>
    </dsp:sp>
    <dsp:sp modelId="{62979A1B-6289-A14C-A4A3-DFB0F84C620A}">
      <dsp:nvSpPr>
        <dsp:cNvPr id="0" name=""/>
        <dsp:cNvSpPr/>
      </dsp:nvSpPr>
      <dsp:spPr>
        <a:xfrm>
          <a:off x="1694259" y="1129506"/>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Issue to Project</a:t>
          </a:r>
        </a:p>
      </dsp:txBody>
      <dsp:txXfrm>
        <a:off x="1714084" y="1149331"/>
        <a:ext cx="1088467" cy="637220"/>
      </dsp:txXfrm>
    </dsp:sp>
    <dsp:sp modelId="{52F01F04-21CB-FB4D-96F5-DEA1190CB298}">
      <dsp:nvSpPr>
        <dsp:cNvPr id="0" name=""/>
        <dsp:cNvSpPr/>
      </dsp:nvSpPr>
      <dsp:spPr>
        <a:xfrm rot="10800000">
          <a:off x="1355824" y="1328054"/>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1427572" y="1384009"/>
        <a:ext cx="167412" cy="167863"/>
      </dsp:txXfrm>
    </dsp:sp>
    <dsp:sp modelId="{AEB99475-5D93-5C46-A4EA-F630AC7B8F7B}">
      <dsp:nvSpPr>
        <dsp:cNvPr id="0" name=""/>
        <dsp:cNvSpPr/>
      </dsp:nvSpPr>
      <dsp:spPr>
        <a:xfrm>
          <a:off x="114895" y="1129506"/>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Cut items , Scrap &amp; off-cut design data from External system to tally via download &amp; upload</a:t>
          </a:r>
        </a:p>
      </dsp:txBody>
      <dsp:txXfrm>
        <a:off x="134720" y="1149331"/>
        <a:ext cx="1088467" cy="637220"/>
      </dsp:txXfrm>
    </dsp:sp>
    <dsp:sp modelId="{65CF9B51-5BD0-F545-AACC-86015F18E01C}">
      <dsp:nvSpPr>
        <dsp:cNvPr id="0" name=""/>
        <dsp:cNvSpPr/>
      </dsp:nvSpPr>
      <dsp:spPr>
        <a:xfrm rot="5400000">
          <a:off x="559373" y="1885344"/>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5400000">
        <a:off x="595022" y="1905650"/>
        <a:ext cx="167863" cy="167412"/>
      </dsp:txXfrm>
    </dsp:sp>
    <dsp:sp modelId="{EBC48BDD-52DA-E24E-B074-6935FE491539}">
      <dsp:nvSpPr>
        <dsp:cNvPr id="0" name=""/>
        <dsp:cNvSpPr/>
      </dsp:nvSpPr>
      <dsp:spPr>
        <a:xfrm>
          <a:off x="114895" y="2257623"/>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Production of cut items, scrap and off cut data in the system as inventory</a:t>
          </a:r>
        </a:p>
      </dsp:txBody>
      <dsp:txXfrm>
        <a:off x="134720" y="2277448"/>
        <a:ext cx="1088467" cy="637220"/>
      </dsp:txXfrm>
    </dsp:sp>
    <dsp:sp modelId="{9D85BD68-6C22-B54B-A179-95AC9FE1A0B4}">
      <dsp:nvSpPr>
        <dsp:cNvPr id="0" name=""/>
        <dsp:cNvSpPr/>
      </dsp:nvSpPr>
      <dsp:spPr>
        <a:xfrm>
          <a:off x="1342286" y="2456172"/>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a:off x="1342286" y="2512127"/>
        <a:ext cx="167412" cy="167863"/>
      </dsp:txXfrm>
    </dsp:sp>
    <dsp:sp modelId="{CDC987AC-32D5-CD44-AAD0-6454D79D1784}">
      <dsp:nvSpPr>
        <dsp:cNvPr id="0" name=""/>
        <dsp:cNvSpPr/>
      </dsp:nvSpPr>
      <dsp:spPr>
        <a:xfrm>
          <a:off x="1694259" y="2257623"/>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BoM , Cost Centre, Work Centre, Equipment, Functional Location , Routing in system</a:t>
          </a:r>
        </a:p>
      </dsp:txBody>
      <dsp:txXfrm>
        <a:off x="1714084" y="2277448"/>
        <a:ext cx="1088467" cy="637220"/>
      </dsp:txXfrm>
    </dsp:sp>
    <dsp:sp modelId="{DB758816-831D-5E47-B8F0-4AECFF0FCEDD}">
      <dsp:nvSpPr>
        <dsp:cNvPr id="0" name=""/>
        <dsp:cNvSpPr/>
      </dsp:nvSpPr>
      <dsp:spPr>
        <a:xfrm>
          <a:off x="2921650" y="2456172"/>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2921650" y="2512127"/>
        <a:ext cx="167412" cy="167863"/>
      </dsp:txXfrm>
    </dsp:sp>
    <dsp:sp modelId="{10AE29FC-2C05-5744-8DEE-14D26F5EA1E4}">
      <dsp:nvSpPr>
        <dsp:cNvPr id="0" name=""/>
        <dsp:cNvSpPr/>
      </dsp:nvSpPr>
      <dsp:spPr>
        <a:xfrm>
          <a:off x="3273623" y="2257623"/>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Stage wise production, WIP, Rejection accounting , QA process in system</a:t>
          </a:r>
        </a:p>
      </dsp:txBody>
      <dsp:txXfrm>
        <a:off x="3293448" y="2277448"/>
        <a:ext cx="1088467" cy="637220"/>
      </dsp:txXfrm>
    </dsp:sp>
    <dsp:sp modelId="{8F23860A-9035-424C-B2E1-F8A6A1003468}">
      <dsp:nvSpPr>
        <dsp:cNvPr id="0" name=""/>
        <dsp:cNvSpPr/>
      </dsp:nvSpPr>
      <dsp:spPr>
        <a:xfrm>
          <a:off x="4501014" y="2456172"/>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4501014" y="2512127"/>
        <a:ext cx="167412" cy="167863"/>
      </dsp:txXfrm>
    </dsp:sp>
    <dsp:sp modelId="{B349B732-DE57-294B-B0A2-5BB2E6014707}">
      <dsp:nvSpPr>
        <dsp:cNvPr id="0" name=""/>
        <dsp:cNvSpPr/>
      </dsp:nvSpPr>
      <dsp:spPr>
        <a:xfrm>
          <a:off x="4852987" y="2257623"/>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Finished Good accounting in system</a:t>
          </a:r>
        </a:p>
      </dsp:txBody>
      <dsp:txXfrm>
        <a:off x="4872812" y="2277448"/>
        <a:ext cx="1088467" cy="637220"/>
      </dsp:txXfrm>
    </dsp:sp>
    <dsp:sp modelId="{4B69DA95-E497-974D-A3B7-D7BC8AB87D79}">
      <dsp:nvSpPr>
        <dsp:cNvPr id="0" name=""/>
        <dsp:cNvSpPr/>
      </dsp:nvSpPr>
      <dsp:spPr>
        <a:xfrm rot="5400000">
          <a:off x="5297465" y="3013461"/>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5400000">
        <a:off x="5333114" y="3033767"/>
        <a:ext cx="167863" cy="167412"/>
      </dsp:txXfrm>
    </dsp:sp>
    <dsp:sp modelId="{DF539412-DD49-0143-8712-453CFDAD8C2C}">
      <dsp:nvSpPr>
        <dsp:cNvPr id="0" name=""/>
        <dsp:cNvSpPr/>
      </dsp:nvSpPr>
      <dsp:spPr>
        <a:xfrm>
          <a:off x="4852987" y="3385740"/>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Finished Good Sale in the system for inventory accounting</a:t>
          </a:r>
        </a:p>
      </dsp:txBody>
      <dsp:txXfrm>
        <a:off x="4872812" y="3405565"/>
        <a:ext cx="1088467" cy="637220"/>
      </dsp:txXfrm>
    </dsp:sp>
    <dsp:sp modelId="{48571FE9-A7C6-EA4E-9833-8265ABFB301F}">
      <dsp:nvSpPr>
        <dsp:cNvPr id="0" name=""/>
        <dsp:cNvSpPr/>
      </dsp:nvSpPr>
      <dsp:spPr>
        <a:xfrm rot="10800000">
          <a:off x="4514552" y="3584289"/>
          <a:ext cx="239160" cy="2797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4586300" y="3640244"/>
        <a:ext cx="167412" cy="167863"/>
      </dsp:txXfrm>
    </dsp:sp>
    <dsp:sp modelId="{E86B766B-1018-E740-871E-3B36EA0CF9F9}">
      <dsp:nvSpPr>
        <dsp:cNvPr id="0" name=""/>
        <dsp:cNvSpPr/>
      </dsp:nvSpPr>
      <dsp:spPr>
        <a:xfrm>
          <a:off x="3273623" y="3385740"/>
          <a:ext cx="1128117" cy="6768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Export to Tally for invoicing in Tally (Download from system &amp; upload to Tally daily )</a:t>
          </a:r>
        </a:p>
      </dsp:txBody>
      <dsp:txXfrm>
        <a:off x="3293448" y="3405565"/>
        <a:ext cx="1088467" cy="6372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58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2AF3-FD68-2C41-C395-56B76CDCF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7E867-98FB-08AB-53DA-06F4D014D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CA3F7-D4CB-CFD4-8796-FE80658752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D81454-BDC7-8C13-839B-16CE69C1D812}"/>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3943975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DF340-D728-FBD8-9D98-2A69492F9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DDBFA-755E-00FE-D802-5A9FD4A33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7E5FF-643F-C6ED-3BD9-C8D64E996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E6A5D8-EAE6-2068-A7BD-6D09F34DDF09}"/>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641264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5F658-2C89-9BC7-5694-745CE2D1F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4891A-6E9B-9463-2850-03552E26D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47ACC-F319-2165-EFFE-60B7508220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DAD416-DEF6-4E2C-D677-62279889A2E6}"/>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2307935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CF1B9-66D0-7AB0-A3A8-1D967B068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5E587-0ACE-21BB-DFEC-A868F2D06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99DEE-8550-7390-F4F1-693414F33A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79F867-6E6B-5461-3505-ACE7FD939E89}"/>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2326864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7F37-ED98-35AE-C058-371111A68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9AC39-1782-3A8C-CD6F-E6B29B415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76015-8D88-6FE3-8B92-322861E986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B2B4A-44C2-71A8-80F5-07284076A235}"/>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4164849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B0FE-105D-BDEF-B20C-32FB56F50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93C78-4AC5-8708-5609-6EC78459B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8ACC80-AAB2-DBB3-EE4A-283F6945F1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4EAC0-3334-C5E8-AC71-2A014A9AA20F}"/>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848713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DD2E-D3C8-2CDD-78E5-B79098E19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A4758-A3DB-C333-EE04-E8092EFF9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0F857-C93C-198F-52C9-8B051B775B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2C729-7CE4-797D-BFA4-63D5F9AE8BFB}"/>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564478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262E-0BE0-13DA-BA41-CC196A293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460FB-8D85-6C6D-16D9-0EF5891BD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6BCEE-8911-A570-B42C-D975A3849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5AF67-178C-14CC-C292-B67D2EBCC0FB}"/>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828278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35400"/>
          </a:solidFill>
          <a:ln w="12700">
            <a:solidFill>
              <a:srgbClr val="D35400"/>
            </a:solidFill>
            <a:prstDash val="solid"/>
          </a:ln>
        </p:spPr>
        <p:txBody>
          <a:bodyPr/>
          <a:lstStyle/>
          <a:p>
            <a:endParaRPr lang="en-US" dirty="0"/>
          </a:p>
        </p:txBody>
      </p:sp>
      <p:sp>
        <p:nvSpPr>
          <p:cNvPr id="3" name="Shape 1"/>
          <p:cNvSpPr/>
          <p:nvPr/>
        </p:nvSpPr>
        <p:spPr>
          <a:xfrm>
            <a:off x="0" y="109728"/>
            <a:ext cx="54864" cy="5033772"/>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65760" y="411480"/>
            <a:ext cx="8412480" cy="640080"/>
          </a:xfrm>
          <a:prstGeom prst="rect">
            <a:avLst/>
          </a:prstGeom>
          <a:noFill/>
          <a:ln/>
        </p:spPr>
        <p:txBody>
          <a:bodyPr wrap="square" rtlCol="0" anchor="ctr"/>
          <a:lstStyle/>
          <a:p>
            <a:pPr marL="0" indent="0" algn="l">
              <a:buNone/>
            </a:pPr>
            <a:r>
              <a:rPr lang="en-US" sz="2200" b="1" kern="0" spc="200" dirty="0">
                <a:solidFill>
                  <a:srgbClr val="F0A500"/>
                </a:solidFill>
                <a:latin typeface="Calibri" pitchFamily="34" charset="0"/>
                <a:ea typeface="Calibri" pitchFamily="34" charset="-122"/>
                <a:cs typeface="Calibri" pitchFamily="34" charset="-120"/>
              </a:rPr>
              <a:t>CORROSION PROTECTION PRIVATE LIMITED</a:t>
            </a:r>
            <a:endParaRPr lang="en-US" sz="2200" dirty="0"/>
          </a:p>
        </p:txBody>
      </p:sp>
      <p:sp>
        <p:nvSpPr>
          <p:cNvPr id="5" name="Text 3"/>
          <p:cNvSpPr/>
          <p:nvPr/>
        </p:nvSpPr>
        <p:spPr>
          <a:xfrm>
            <a:off x="365760" y="1188720"/>
            <a:ext cx="8412480" cy="82296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Inbound Process Automation</a:t>
            </a:r>
            <a:endParaRPr lang="en-US" sz="3600" dirty="0"/>
          </a:p>
        </p:txBody>
      </p:sp>
      <p:sp>
        <p:nvSpPr>
          <p:cNvPr id="6" name="Text 4"/>
          <p:cNvSpPr/>
          <p:nvPr/>
        </p:nvSpPr>
        <p:spPr>
          <a:xfrm>
            <a:off x="365760" y="1993392"/>
            <a:ext cx="8412480" cy="411480"/>
          </a:xfrm>
          <a:prstGeom prst="rect">
            <a:avLst/>
          </a:prstGeom>
          <a:noFill/>
          <a:ln/>
        </p:spPr>
        <p:txBody>
          <a:bodyPr wrap="square" rtlCol="0" anchor="ctr"/>
          <a:lstStyle/>
          <a:p>
            <a:pPr marL="0" indent="0" algn="l">
              <a:buNone/>
            </a:pPr>
            <a:r>
              <a:rPr lang="en-US" sz="1400" dirty="0">
                <a:solidFill>
                  <a:srgbClr val="A8C7E0"/>
                </a:solidFill>
                <a:latin typeface="Calibri" pitchFamily="34" charset="0"/>
                <a:ea typeface="Calibri" pitchFamily="34" charset="-122"/>
                <a:cs typeface="Calibri" pitchFamily="34" charset="-120"/>
              </a:rPr>
              <a:t>Store, Inventory &amp; Procurement | Comprehensive Understanding Document</a:t>
            </a:r>
            <a:endParaRPr lang="en-US" sz="1400" dirty="0"/>
          </a:p>
        </p:txBody>
      </p:sp>
      <p:sp>
        <p:nvSpPr>
          <p:cNvPr id="7" name="Shape 5"/>
          <p:cNvSpPr/>
          <p:nvPr/>
        </p:nvSpPr>
        <p:spPr>
          <a:xfrm>
            <a:off x="365760" y="2487168"/>
            <a:ext cx="4114800" cy="36576"/>
          </a:xfrm>
          <a:prstGeom prst="rect">
            <a:avLst/>
          </a:prstGeom>
          <a:solidFill>
            <a:srgbClr val="D35400"/>
          </a:solidFill>
          <a:ln w="12700">
            <a:solidFill>
              <a:srgbClr val="D35400"/>
            </a:solidFill>
            <a:prstDash val="solid"/>
          </a:ln>
        </p:spPr>
        <p:txBody>
          <a:bodyPr/>
          <a:lstStyle/>
          <a:p>
            <a:endParaRPr lang="en-US" dirty="0"/>
          </a:p>
        </p:txBody>
      </p:sp>
      <p:sp>
        <p:nvSpPr>
          <p:cNvPr id="8" name="Shape 6"/>
          <p:cNvSpPr/>
          <p:nvPr/>
        </p:nvSpPr>
        <p:spPr>
          <a:xfrm>
            <a:off x="365760" y="2651760"/>
            <a:ext cx="5669280" cy="2194560"/>
          </a:xfrm>
          <a:prstGeom prst="rect">
            <a:avLst/>
          </a:prstGeom>
          <a:solidFill>
            <a:srgbClr val="112B3C"/>
          </a:solidFill>
          <a:ln w="12700">
            <a:solidFill>
              <a:srgbClr val="1E3D54"/>
            </a:solidFill>
            <a:prstDash val="solid"/>
          </a:ln>
          <a:effectLst>
            <a:outerShdw blurRad="63500" dist="25400" dir="8100000" algn="bl" rotWithShape="0">
              <a:srgbClr val="000000">
                <a:alpha val="10000"/>
              </a:srgbClr>
            </a:outerShdw>
          </a:effectLst>
        </p:spPr>
        <p:txBody>
          <a:bodyPr/>
          <a:lstStyle/>
          <a:p>
            <a:endParaRPr lang="en-US" dirty="0"/>
          </a:p>
        </p:txBody>
      </p:sp>
      <p:sp>
        <p:nvSpPr>
          <p:cNvPr id="9" name="Text 7"/>
          <p:cNvSpPr/>
          <p:nvPr/>
        </p:nvSpPr>
        <p:spPr>
          <a:xfrm>
            <a:off x="502920" y="2743200"/>
            <a:ext cx="1645920" cy="347472"/>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Prepared By</a:t>
            </a:r>
            <a:endParaRPr lang="en-US" sz="1100" dirty="0"/>
          </a:p>
        </p:txBody>
      </p:sp>
      <p:sp>
        <p:nvSpPr>
          <p:cNvPr id="10" name="Text 8"/>
          <p:cNvSpPr/>
          <p:nvPr/>
        </p:nvSpPr>
        <p:spPr>
          <a:xfrm>
            <a:off x="2103120" y="2743200"/>
            <a:ext cx="182880" cy="347472"/>
          </a:xfrm>
          <a:prstGeom prst="rect">
            <a:avLst/>
          </a:prstGeom>
          <a:noFill/>
          <a:ln/>
        </p:spPr>
        <p:txBody>
          <a:bodyPr wrap="square" rtlCol="0" anchor="ctr"/>
          <a:lstStyle/>
          <a:p>
            <a:pPr marL="0" indent="0" algn="ctr">
              <a:buNone/>
            </a:pPr>
            <a:r>
              <a:rPr lang="en-US" sz="1100" dirty="0">
                <a:solidFill>
                  <a:srgbClr val="5D8AA8"/>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2286000" y="2743200"/>
            <a:ext cx="3566160" cy="347472"/>
          </a:xfrm>
          <a:prstGeom prst="rect">
            <a:avLst/>
          </a:prstGeom>
          <a:noFill/>
          <a:ln/>
        </p:spPr>
        <p:txBody>
          <a:bodyPr wrap="square" rtlCol="0" anchor="ctr"/>
          <a:lstStyle/>
          <a:p>
            <a:pPr marL="0" indent="0">
              <a:buNone/>
            </a:pPr>
            <a:r>
              <a:rPr lang="en-US" sz="1100" dirty="0">
                <a:solidFill>
                  <a:srgbClr val="D6E8F5"/>
                </a:solidFill>
                <a:latin typeface="Calibri" pitchFamily="34" charset="0"/>
                <a:ea typeface="Calibri" pitchFamily="34" charset="-122"/>
                <a:cs typeface="Calibri" pitchFamily="34" charset="-120"/>
              </a:rPr>
              <a:t>TransExcel Consulting and Webteam Private Limited</a:t>
            </a:r>
            <a:endParaRPr lang="en-US" sz="1100" dirty="0"/>
          </a:p>
        </p:txBody>
      </p:sp>
      <p:sp>
        <p:nvSpPr>
          <p:cNvPr id="12" name="Text 10"/>
          <p:cNvSpPr/>
          <p:nvPr/>
        </p:nvSpPr>
        <p:spPr>
          <a:xfrm>
            <a:off x="502920" y="3127248"/>
            <a:ext cx="1645920" cy="347472"/>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Prepared For</a:t>
            </a:r>
            <a:endParaRPr lang="en-US" sz="1100" dirty="0"/>
          </a:p>
        </p:txBody>
      </p:sp>
      <p:sp>
        <p:nvSpPr>
          <p:cNvPr id="13" name="Text 11"/>
          <p:cNvSpPr/>
          <p:nvPr/>
        </p:nvSpPr>
        <p:spPr>
          <a:xfrm>
            <a:off x="2103120" y="3127248"/>
            <a:ext cx="182880" cy="347472"/>
          </a:xfrm>
          <a:prstGeom prst="rect">
            <a:avLst/>
          </a:prstGeom>
          <a:noFill/>
          <a:ln/>
        </p:spPr>
        <p:txBody>
          <a:bodyPr wrap="square" rtlCol="0" anchor="ctr"/>
          <a:lstStyle/>
          <a:p>
            <a:pPr marL="0" indent="0" algn="ctr">
              <a:buNone/>
            </a:pPr>
            <a:r>
              <a:rPr lang="en-US" sz="1100" dirty="0">
                <a:solidFill>
                  <a:srgbClr val="5D8AA8"/>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2286000" y="3127248"/>
            <a:ext cx="3566160" cy="347472"/>
          </a:xfrm>
          <a:prstGeom prst="rect">
            <a:avLst/>
          </a:prstGeom>
          <a:noFill/>
          <a:ln/>
        </p:spPr>
        <p:txBody>
          <a:bodyPr wrap="square" rtlCol="0" anchor="ctr"/>
          <a:lstStyle/>
          <a:p>
            <a:pPr marL="0" indent="0">
              <a:buNone/>
            </a:pPr>
            <a:r>
              <a:rPr lang="en-US" sz="1100" dirty="0">
                <a:solidFill>
                  <a:srgbClr val="D6E8F5"/>
                </a:solidFill>
                <a:latin typeface="Calibri" pitchFamily="34" charset="0"/>
                <a:ea typeface="Calibri" pitchFamily="34" charset="-122"/>
                <a:cs typeface="Calibri" pitchFamily="34" charset="-120"/>
              </a:rPr>
              <a:t>Corrosion Protection Private Limited (CPPL)</a:t>
            </a:r>
            <a:endParaRPr lang="en-US" sz="1100" dirty="0"/>
          </a:p>
        </p:txBody>
      </p:sp>
      <p:sp>
        <p:nvSpPr>
          <p:cNvPr id="15" name="Text 13"/>
          <p:cNvSpPr/>
          <p:nvPr/>
        </p:nvSpPr>
        <p:spPr>
          <a:xfrm>
            <a:off x="502920" y="3511296"/>
            <a:ext cx="1645920" cy="347472"/>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Date</a:t>
            </a:r>
            <a:endParaRPr lang="en-US" sz="1100" dirty="0"/>
          </a:p>
        </p:txBody>
      </p:sp>
      <p:sp>
        <p:nvSpPr>
          <p:cNvPr id="16" name="Text 14"/>
          <p:cNvSpPr/>
          <p:nvPr/>
        </p:nvSpPr>
        <p:spPr>
          <a:xfrm>
            <a:off x="2103120" y="3511296"/>
            <a:ext cx="182880" cy="347472"/>
          </a:xfrm>
          <a:prstGeom prst="rect">
            <a:avLst/>
          </a:prstGeom>
          <a:noFill/>
          <a:ln/>
        </p:spPr>
        <p:txBody>
          <a:bodyPr wrap="square" rtlCol="0" anchor="ctr"/>
          <a:lstStyle/>
          <a:p>
            <a:pPr marL="0" indent="0" algn="ctr">
              <a:buNone/>
            </a:pPr>
            <a:r>
              <a:rPr lang="en-US" sz="1100" dirty="0">
                <a:solidFill>
                  <a:srgbClr val="5D8AA8"/>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2286000" y="3511296"/>
            <a:ext cx="3566160" cy="347472"/>
          </a:xfrm>
          <a:prstGeom prst="rect">
            <a:avLst/>
          </a:prstGeom>
          <a:noFill/>
          <a:ln/>
        </p:spPr>
        <p:txBody>
          <a:bodyPr wrap="square" rtlCol="0" anchor="ctr"/>
          <a:lstStyle/>
          <a:p>
            <a:pPr marL="0" indent="0">
              <a:buNone/>
            </a:pPr>
            <a:r>
              <a:rPr lang="en-US" sz="1100" dirty="0">
                <a:solidFill>
                  <a:srgbClr val="D6E8F5"/>
                </a:solidFill>
                <a:latin typeface="Calibri" pitchFamily="34" charset="0"/>
                <a:ea typeface="Calibri" pitchFamily="34" charset="-122"/>
                <a:cs typeface="Calibri" pitchFamily="34" charset="-120"/>
              </a:rPr>
              <a:t>24th February 2026</a:t>
            </a:r>
            <a:endParaRPr lang="en-US" sz="1100" dirty="0"/>
          </a:p>
        </p:txBody>
      </p:sp>
      <p:sp>
        <p:nvSpPr>
          <p:cNvPr id="18" name="Text 16"/>
          <p:cNvSpPr/>
          <p:nvPr/>
        </p:nvSpPr>
        <p:spPr>
          <a:xfrm>
            <a:off x="502920" y="3895344"/>
            <a:ext cx="1645920" cy="347472"/>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Document Type</a:t>
            </a:r>
            <a:endParaRPr lang="en-US" sz="1100" dirty="0"/>
          </a:p>
        </p:txBody>
      </p:sp>
      <p:sp>
        <p:nvSpPr>
          <p:cNvPr id="19" name="Text 17"/>
          <p:cNvSpPr/>
          <p:nvPr/>
        </p:nvSpPr>
        <p:spPr>
          <a:xfrm>
            <a:off x="2103120" y="3895344"/>
            <a:ext cx="182880" cy="347472"/>
          </a:xfrm>
          <a:prstGeom prst="rect">
            <a:avLst/>
          </a:prstGeom>
          <a:noFill/>
          <a:ln/>
        </p:spPr>
        <p:txBody>
          <a:bodyPr wrap="square" rtlCol="0" anchor="ctr"/>
          <a:lstStyle/>
          <a:p>
            <a:pPr marL="0" indent="0" algn="ctr">
              <a:buNone/>
            </a:pPr>
            <a:r>
              <a:rPr lang="en-US" sz="1100" dirty="0">
                <a:solidFill>
                  <a:srgbClr val="5D8AA8"/>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2286000" y="3895344"/>
            <a:ext cx="3566160" cy="347472"/>
          </a:xfrm>
          <a:prstGeom prst="rect">
            <a:avLst/>
          </a:prstGeom>
          <a:noFill/>
          <a:ln/>
        </p:spPr>
        <p:txBody>
          <a:bodyPr wrap="square" rtlCol="0" anchor="ctr"/>
          <a:lstStyle/>
          <a:p>
            <a:pPr marL="0" indent="0">
              <a:buNone/>
            </a:pPr>
            <a:r>
              <a:rPr lang="en-US" sz="1100" dirty="0">
                <a:solidFill>
                  <a:srgbClr val="D6E8F5"/>
                </a:solidFill>
                <a:latin typeface="Calibri" pitchFamily="34" charset="0"/>
                <a:ea typeface="Calibri" pitchFamily="34" charset="-122"/>
                <a:cs typeface="Calibri" pitchFamily="34" charset="-120"/>
              </a:rPr>
              <a:t>Pre-Sales | Business Understanding Document</a:t>
            </a:r>
            <a:endParaRPr lang="en-US" sz="1100" dirty="0"/>
          </a:p>
        </p:txBody>
      </p:sp>
      <p:sp>
        <p:nvSpPr>
          <p:cNvPr id="21" name="Text 19"/>
          <p:cNvSpPr/>
          <p:nvPr/>
        </p:nvSpPr>
        <p:spPr>
          <a:xfrm>
            <a:off x="502920" y="4279392"/>
            <a:ext cx="1645920" cy="347472"/>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Version</a:t>
            </a:r>
            <a:endParaRPr lang="en-US" sz="1100" dirty="0"/>
          </a:p>
        </p:txBody>
      </p:sp>
      <p:sp>
        <p:nvSpPr>
          <p:cNvPr id="22" name="Text 20"/>
          <p:cNvSpPr/>
          <p:nvPr/>
        </p:nvSpPr>
        <p:spPr>
          <a:xfrm>
            <a:off x="2103120" y="4279392"/>
            <a:ext cx="182880" cy="347472"/>
          </a:xfrm>
          <a:prstGeom prst="rect">
            <a:avLst/>
          </a:prstGeom>
          <a:noFill/>
          <a:ln/>
        </p:spPr>
        <p:txBody>
          <a:bodyPr wrap="square" rtlCol="0" anchor="ctr"/>
          <a:lstStyle/>
          <a:p>
            <a:pPr marL="0" indent="0" algn="ctr">
              <a:buNone/>
            </a:pPr>
            <a:r>
              <a:rPr lang="en-US" sz="1100" dirty="0">
                <a:solidFill>
                  <a:srgbClr val="5D8AA8"/>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2286000" y="4279392"/>
            <a:ext cx="3566160" cy="347472"/>
          </a:xfrm>
          <a:prstGeom prst="rect">
            <a:avLst/>
          </a:prstGeom>
          <a:noFill/>
          <a:ln/>
        </p:spPr>
        <p:txBody>
          <a:bodyPr wrap="square" rtlCol="0" anchor="ctr"/>
          <a:lstStyle/>
          <a:p>
            <a:pPr marL="0" indent="0">
              <a:buNone/>
            </a:pPr>
            <a:r>
              <a:rPr lang="en-US" sz="1100" dirty="0">
                <a:solidFill>
                  <a:srgbClr val="D6E8F5"/>
                </a:solidFill>
                <a:latin typeface="Calibri" pitchFamily="34" charset="0"/>
                <a:ea typeface="Calibri" pitchFamily="34" charset="-122"/>
                <a:cs typeface="Calibri" pitchFamily="34" charset="-120"/>
              </a:rPr>
              <a:t>1.0 - Draft for Review</a:t>
            </a:r>
            <a:endParaRPr lang="en-US" sz="1100" dirty="0"/>
          </a:p>
        </p:txBody>
      </p:sp>
      <p:sp>
        <p:nvSpPr>
          <p:cNvPr id="24" name="Shape 22"/>
          <p:cNvSpPr/>
          <p:nvPr/>
        </p:nvSpPr>
        <p:spPr>
          <a:xfrm>
            <a:off x="7498080" y="3474720"/>
            <a:ext cx="2011680" cy="2011680"/>
          </a:xfrm>
          <a:prstGeom prst="ellipse">
            <a:avLst/>
          </a:prstGeom>
          <a:solidFill>
            <a:srgbClr val="112B3C"/>
          </a:solidFill>
          <a:ln w="12700">
            <a:solidFill>
              <a:srgbClr val="1E3D54"/>
            </a:solidFill>
            <a:prstDash val="solid"/>
          </a:ln>
        </p:spPr>
        <p:txBody>
          <a:bodyPr/>
          <a:lstStyle/>
          <a:p>
            <a:endParaRPr lang="en-US" dirty="0"/>
          </a:p>
        </p:txBody>
      </p:sp>
      <p:sp>
        <p:nvSpPr>
          <p:cNvPr id="25" name="Shape 23"/>
          <p:cNvSpPr/>
          <p:nvPr/>
        </p:nvSpPr>
        <p:spPr>
          <a:xfrm>
            <a:off x="7955280" y="3749040"/>
            <a:ext cx="1371600" cy="1371600"/>
          </a:xfrm>
          <a:prstGeom prst="ellipse">
            <a:avLst/>
          </a:prstGeom>
          <a:solidFill>
            <a:srgbClr val="1B3A5C"/>
          </a:solidFill>
          <a:ln w="12700">
            <a:solidFill>
              <a:srgbClr val="2E5880"/>
            </a:solidFill>
            <a:prstDash val="solid"/>
          </a:ln>
        </p:spPr>
        <p:txBody>
          <a:bodyPr/>
          <a:lstStyle/>
          <a:p>
            <a:endParaRPr lang="en-US" dirty="0"/>
          </a:p>
        </p:txBody>
      </p:sp>
      <p:sp>
        <p:nvSpPr>
          <p:cNvPr id="26" name="Text 24"/>
          <p:cNvSpPr/>
          <p:nvPr/>
        </p:nvSpPr>
        <p:spPr>
          <a:xfrm>
            <a:off x="365760" y="4800600"/>
            <a:ext cx="8412480" cy="228600"/>
          </a:xfrm>
          <a:prstGeom prst="rect">
            <a:avLst/>
          </a:prstGeom>
          <a:noFill/>
          <a:ln/>
        </p:spPr>
        <p:txBody>
          <a:bodyPr wrap="square" rtlCol="0" anchor="ctr"/>
          <a:lstStyle/>
          <a:p>
            <a:pPr marL="0" indent="0" algn="l">
              <a:buNone/>
            </a:pPr>
            <a:r>
              <a:rPr lang="en-US" sz="900" dirty="0">
                <a:solidFill>
                  <a:srgbClr val="5D8AA8"/>
                </a:solidFill>
                <a:latin typeface="Calibri" pitchFamily="34" charset="0"/>
                <a:ea typeface="Calibri" pitchFamily="34" charset="-122"/>
                <a:cs typeface="Calibri" pitchFamily="34" charset="-120"/>
              </a:rPr>
              <a:t>Confidential | Pre-Sales Document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5" name="Shape 3"/>
          <p:cNvSpPr/>
          <p:nvPr/>
        </p:nvSpPr>
        <p:spPr>
          <a:xfrm>
            <a:off x="320040" y="777240"/>
            <a:ext cx="8503920" cy="19202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320040" y="777240"/>
            <a:ext cx="164592" cy="1920240"/>
          </a:xfrm>
          <a:prstGeom prst="rect">
            <a:avLst/>
          </a:prstGeom>
          <a:solidFill>
            <a:srgbClr val="D35400"/>
          </a:solidFill>
          <a:ln w="12700">
            <a:solidFill>
              <a:srgbClr val="D35400"/>
            </a:solidFill>
            <a:prstDash val="solid"/>
          </a:ln>
        </p:spPr>
        <p:txBody>
          <a:bodyPr/>
          <a:lstStyle/>
          <a:p>
            <a:endParaRPr lang="en-US" dirty="0"/>
          </a:p>
        </p:txBody>
      </p:sp>
      <p:sp>
        <p:nvSpPr>
          <p:cNvPr id="7" name="Text 5"/>
          <p:cNvSpPr/>
          <p:nvPr/>
        </p:nvSpPr>
        <p:spPr>
          <a:xfrm>
            <a:off x="594360" y="841248"/>
            <a:ext cx="8092440" cy="1737360"/>
          </a:xfrm>
          <a:prstGeom prst="rect">
            <a:avLst/>
          </a:prstGeom>
          <a:noFill/>
          <a:ln/>
        </p:spPr>
        <p:txBody>
          <a:bodyPr wrap="square" rtlCol="0" anchor="t"/>
          <a:lstStyle/>
          <a:p>
            <a:pPr marL="0" indent="0">
              <a:spcAft>
                <a:spcPts val="500"/>
              </a:spcAft>
              <a:buNone/>
            </a:pPr>
            <a:r>
              <a:rPr lang="en-US" sz="1300" b="1" dirty="0">
                <a:solidFill>
                  <a:srgbClr val="1A252F"/>
                </a:solidFill>
                <a:latin typeface="Calibri" pitchFamily="34" charset="0"/>
                <a:ea typeface="Calibri" pitchFamily="34" charset="-122"/>
                <a:cs typeface="Calibri" pitchFamily="34" charset="-120"/>
              </a:rPr>
              <a:t>Context</a:t>
            </a:r>
            <a:endParaRPr lang="en-US" sz="1300" dirty="0"/>
          </a:p>
          <a:p>
            <a:pPr marL="0" indent="0">
              <a:spcAft>
                <a:spcPts val="500"/>
              </a:spcAft>
              <a:buNone/>
            </a:pPr>
            <a:r>
              <a:rPr lang="en-US" sz="1300" dirty="0">
                <a:solidFill>
                  <a:srgbClr val="1A252F"/>
                </a:solidFill>
                <a:latin typeface="Calibri" pitchFamily="34" charset="0"/>
                <a:ea typeface="Calibri" pitchFamily="34" charset="-122"/>
                <a:cs typeface="Calibri" pitchFamily="34" charset="-120"/>
              </a:rPr>
              <a:t>This document captures the comprehensive understanding of Corrosion Protection Private Limited's (CPPL) current operational challenges and the proposed inbound automation solution discussed during the discovery meeting with Webteam Private Limited.</a:t>
            </a:r>
            <a:endParaRPr lang="en-US" sz="1300" dirty="0"/>
          </a:p>
        </p:txBody>
      </p:sp>
      <p:sp>
        <p:nvSpPr>
          <p:cNvPr id="8" name="Shape 6"/>
          <p:cNvSpPr/>
          <p:nvPr/>
        </p:nvSpPr>
        <p:spPr>
          <a:xfrm>
            <a:off x="320040" y="2834640"/>
            <a:ext cx="8503920" cy="196596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9" name="Shape 7"/>
          <p:cNvSpPr/>
          <p:nvPr/>
        </p:nvSpPr>
        <p:spPr>
          <a:xfrm>
            <a:off x="320040" y="2834640"/>
            <a:ext cx="164592" cy="1965960"/>
          </a:xfrm>
          <a:prstGeom prst="rect">
            <a:avLst/>
          </a:prstGeom>
          <a:solidFill>
            <a:srgbClr val="0E7490"/>
          </a:solidFill>
          <a:ln w="12700">
            <a:solidFill>
              <a:srgbClr val="0E7490"/>
            </a:solidFill>
            <a:prstDash val="solid"/>
          </a:ln>
        </p:spPr>
        <p:txBody>
          <a:bodyPr/>
          <a:lstStyle/>
          <a:p>
            <a:endParaRPr lang="en-US" dirty="0"/>
          </a:p>
        </p:txBody>
      </p:sp>
      <p:sp>
        <p:nvSpPr>
          <p:cNvPr id="10" name="Text 8"/>
          <p:cNvSpPr/>
          <p:nvPr/>
        </p:nvSpPr>
        <p:spPr>
          <a:xfrm>
            <a:off x="594360" y="2907792"/>
            <a:ext cx="8092440" cy="1783080"/>
          </a:xfrm>
          <a:prstGeom prst="rect">
            <a:avLst/>
          </a:prstGeom>
          <a:noFill/>
          <a:ln/>
        </p:spPr>
        <p:txBody>
          <a:bodyPr wrap="square" rtlCol="0" anchor="t"/>
          <a:lstStyle/>
          <a:p>
            <a:pPr marL="0" indent="0">
              <a:spcAft>
                <a:spcPts val="500"/>
              </a:spcAft>
              <a:buNone/>
            </a:pPr>
            <a:r>
              <a:rPr lang="en-US" sz="1300" b="1" dirty="0">
                <a:solidFill>
                  <a:srgbClr val="1A252F"/>
                </a:solidFill>
                <a:latin typeface="Calibri" pitchFamily="34" charset="0"/>
                <a:ea typeface="Calibri" pitchFamily="34" charset="-122"/>
                <a:cs typeface="Calibri" pitchFamily="34" charset="-120"/>
              </a:rPr>
              <a:t>Proposed Approach</a:t>
            </a:r>
            <a:endParaRPr lang="en-US" sz="1300" dirty="0"/>
          </a:p>
          <a:p>
            <a:pPr marL="0" indent="0">
              <a:spcAft>
                <a:spcPts val="500"/>
              </a:spcAft>
              <a:buNone/>
            </a:pPr>
            <a:r>
              <a:rPr lang="en-US" sz="1300" dirty="0">
                <a:solidFill>
                  <a:srgbClr val="1A252F"/>
                </a:solidFill>
                <a:latin typeface="Calibri" pitchFamily="34" charset="0"/>
                <a:ea typeface="Calibri" pitchFamily="34" charset="-122"/>
                <a:cs typeface="Calibri" pitchFamily="34" charset="-120"/>
              </a:rPr>
              <a:t>CPPL currently relies heavily on Tally for financial transactions but lacks a dedicated system to manage store operations, material inward/outward, scrap tracking, and procurement workflows. The proposed solution addresses these gaps through a purpose-built inbound automation system that integrates with their existing cutting machine software and Tally, providing end-to-end visibility from material procurement to scrap reuse.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About Corrosion Protection Private Limited (CPPL)</a:t>
            </a:r>
            <a:endParaRPr lang="en-US" sz="2200" dirty="0"/>
          </a:p>
        </p:txBody>
      </p:sp>
      <p:sp>
        <p:nvSpPr>
          <p:cNvPr id="5" name="Shape 3"/>
          <p:cNvSpPr/>
          <p:nvPr/>
        </p:nvSpPr>
        <p:spPr>
          <a:xfrm>
            <a:off x="320040" y="804672"/>
            <a:ext cx="8503920" cy="1115568"/>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320040" y="804672"/>
            <a:ext cx="164592" cy="1115568"/>
          </a:xfrm>
          <a:prstGeom prst="rect">
            <a:avLst/>
          </a:prstGeom>
          <a:solidFill>
            <a:srgbClr val="D35400"/>
          </a:solidFill>
          <a:ln w="12700">
            <a:solidFill>
              <a:srgbClr val="D35400"/>
            </a:solidFill>
            <a:prstDash val="solid"/>
          </a:ln>
        </p:spPr>
        <p:txBody>
          <a:bodyPr/>
          <a:lstStyle/>
          <a:p>
            <a:endParaRPr lang="en-US" dirty="0"/>
          </a:p>
        </p:txBody>
      </p:sp>
      <p:sp>
        <p:nvSpPr>
          <p:cNvPr id="7" name="Text 5"/>
          <p:cNvSpPr/>
          <p:nvPr/>
        </p:nvSpPr>
        <p:spPr>
          <a:xfrm>
            <a:off x="594360" y="868680"/>
            <a:ext cx="8092440" cy="969264"/>
          </a:xfrm>
          <a:prstGeom prst="rect">
            <a:avLst/>
          </a:prstGeom>
          <a:noFill/>
          <a:ln/>
        </p:spPr>
        <p:txBody>
          <a:bodyPr wrap="square" rtlCol="0" anchor="t"/>
          <a:lstStyle/>
          <a:p>
            <a:pPr marL="0" indent="0">
              <a:spcAft>
                <a:spcPts val="400"/>
              </a:spcAft>
              <a:buNone/>
            </a:pPr>
            <a:r>
              <a:rPr lang="en-US" sz="1300" b="1" dirty="0">
                <a:solidFill>
                  <a:srgbClr val="1A252F"/>
                </a:solidFill>
                <a:latin typeface="Calibri" pitchFamily="34" charset="0"/>
                <a:ea typeface="Calibri" pitchFamily="34" charset="-122"/>
                <a:cs typeface="Calibri" pitchFamily="34" charset="-120"/>
              </a:rPr>
              <a:t>Company Overview</a:t>
            </a:r>
            <a:endParaRPr lang="en-US" sz="1300" dirty="0"/>
          </a:p>
          <a:p>
            <a:pPr marL="0" indent="0">
              <a:spcAft>
                <a:spcPts val="400"/>
              </a:spcAft>
              <a:buNone/>
            </a:pPr>
            <a:r>
              <a:rPr lang="en-US" sz="1300" dirty="0">
                <a:solidFill>
                  <a:srgbClr val="1A252F"/>
                </a:solidFill>
                <a:latin typeface="Calibri" pitchFamily="34" charset="0"/>
                <a:ea typeface="Calibri" pitchFamily="34" charset="-122"/>
                <a:cs typeface="Calibri" pitchFamily="34" charset="-120"/>
              </a:rPr>
              <a:t>CPPL is engaged in corrosion protection and related manufacturing/fabrication activities. Their operations involve procurement of raw materials, production processes (including cutting operations), inventory management, and dispatch of finished goods.</a:t>
            </a:r>
            <a:endParaRPr lang="en-US" sz="1300" dirty="0"/>
          </a:p>
        </p:txBody>
      </p:sp>
      <p:sp>
        <p:nvSpPr>
          <p:cNvPr id="8" name="Shape 6"/>
          <p:cNvSpPr/>
          <p:nvPr/>
        </p:nvSpPr>
        <p:spPr>
          <a:xfrm>
            <a:off x="320040" y="2148840"/>
            <a:ext cx="2651760" cy="23774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9" name="Shape 7"/>
          <p:cNvSpPr/>
          <p:nvPr/>
        </p:nvSpPr>
        <p:spPr>
          <a:xfrm>
            <a:off x="320040" y="2148840"/>
            <a:ext cx="2651760" cy="749808"/>
          </a:xfrm>
          <a:prstGeom prst="rect">
            <a:avLst/>
          </a:prstGeom>
          <a:solidFill>
            <a:srgbClr val="0B2545"/>
          </a:solidFill>
          <a:ln w="12700">
            <a:solidFill>
              <a:srgbClr val="0B2545"/>
            </a:solidFill>
            <a:prstDash val="solid"/>
          </a:ln>
        </p:spPr>
        <p:txBody>
          <a:bodyPr/>
          <a:lstStyle/>
          <a:p>
            <a:endParaRPr lang="en-US" dirty="0"/>
          </a:p>
        </p:txBody>
      </p:sp>
      <p:sp>
        <p:nvSpPr>
          <p:cNvPr id="10" name="Text 8"/>
          <p:cNvSpPr/>
          <p:nvPr/>
        </p:nvSpPr>
        <p:spPr>
          <a:xfrm>
            <a:off x="429768" y="2148840"/>
            <a:ext cx="2432304" cy="7498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Raw Material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Procurement</a:t>
            </a:r>
            <a:endParaRPr lang="en-US" sz="1300" dirty="0"/>
          </a:p>
        </p:txBody>
      </p:sp>
      <p:sp>
        <p:nvSpPr>
          <p:cNvPr id="11" name="Text 9"/>
          <p:cNvSpPr/>
          <p:nvPr/>
        </p:nvSpPr>
        <p:spPr>
          <a:xfrm>
            <a:off x="457200" y="2971800"/>
            <a:ext cx="2377440" cy="1463040"/>
          </a:xfrm>
          <a:prstGeom prst="rect">
            <a:avLst/>
          </a:prstGeom>
          <a:noFill/>
          <a:ln/>
        </p:spPr>
        <p:txBody>
          <a:bodyPr wrap="square" rtlCol="0" anchor="t"/>
          <a:lstStyle/>
          <a:p>
            <a:pPr marL="0" indent="0">
              <a:spcAft>
                <a:spcPts val="400"/>
              </a:spcAft>
              <a:buNone/>
            </a:pPr>
            <a:r>
              <a:rPr lang="en-US" sz="1200" dirty="0">
                <a:solidFill>
                  <a:srgbClr val="4A5568"/>
                </a:solidFill>
                <a:latin typeface="Calibri" pitchFamily="34" charset="0"/>
                <a:ea typeface="Calibri" pitchFamily="34" charset="-122"/>
                <a:cs typeface="Calibri" pitchFamily="34" charset="-120"/>
              </a:rPr>
              <a:t>Sourcing materials from vendors, raising purchase orders, managing deliveries and receipts.</a:t>
            </a:r>
            <a:endParaRPr lang="en-US" sz="1200" dirty="0"/>
          </a:p>
        </p:txBody>
      </p:sp>
      <p:sp>
        <p:nvSpPr>
          <p:cNvPr id="12" name="Shape 10"/>
          <p:cNvSpPr/>
          <p:nvPr/>
        </p:nvSpPr>
        <p:spPr>
          <a:xfrm>
            <a:off x="3131820" y="2148840"/>
            <a:ext cx="2651760" cy="23774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3" name="Shape 11"/>
          <p:cNvSpPr/>
          <p:nvPr/>
        </p:nvSpPr>
        <p:spPr>
          <a:xfrm>
            <a:off x="3131820" y="2148840"/>
            <a:ext cx="2651760" cy="749808"/>
          </a:xfrm>
          <a:prstGeom prst="rect">
            <a:avLst/>
          </a:prstGeom>
          <a:solidFill>
            <a:srgbClr val="0B2545"/>
          </a:solidFill>
          <a:ln w="12700">
            <a:solidFill>
              <a:srgbClr val="0B2545"/>
            </a:solidFill>
            <a:prstDash val="solid"/>
          </a:ln>
        </p:spPr>
        <p:txBody>
          <a:bodyPr/>
          <a:lstStyle/>
          <a:p>
            <a:endParaRPr lang="en-US" dirty="0"/>
          </a:p>
        </p:txBody>
      </p:sp>
      <p:sp>
        <p:nvSpPr>
          <p:cNvPr id="14" name="Text 12"/>
          <p:cNvSpPr/>
          <p:nvPr/>
        </p:nvSpPr>
        <p:spPr>
          <a:xfrm>
            <a:off x="3241548" y="2148840"/>
            <a:ext cx="2432304" cy="7498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Production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Cutting Operations</a:t>
            </a:r>
            <a:endParaRPr lang="en-US" sz="1300" dirty="0"/>
          </a:p>
        </p:txBody>
      </p:sp>
      <p:sp>
        <p:nvSpPr>
          <p:cNvPr id="15" name="Text 13"/>
          <p:cNvSpPr/>
          <p:nvPr/>
        </p:nvSpPr>
        <p:spPr>
          <a:xfrm>
            <a:off x="3268980" y="2971800"/>
            <a:ext cx="2377440" cy="1463040"/>
          </a:xfrm>
          <a:prstGeom prst="rect">
            <a:avLst/>
          </a:prstGeom>
          <a:noFill/>
          <a:ln/>
        </p:spPr>
        <p:txBody>
          <a:bodyPr wrap="square" rtlCol="0" anchor="t"/>
          <a:lstStyle/>
          <a:p>
            <a:pPr marL="0" indent="0">
              <a:spcAft>
                <a:spcPts val="400"/>
              </a:spcAft>
              <a:buNone/>
            </a:pPr>
            <a:r>
              <a:rPr lang="en-US" sz="1200" dirty="0">
                <a:solidFill>
                  <a:srgbClr val="4A5568"/>
                </a:solidFill>
                <a:latin typeface="Calibri" pitchFamily="34" charset="0"/>
                <a:ea typeface="Calibri" pitchFamily="34" charset="-122"/>
                <a:cs typeface="Calibri" pitchFamily="34" charset="-120"/>
              </a:rPr>
              <a:t>Manufacturing processes including precision cutting operations with dedicated cutting machine software.</a:t>
            </a:r>
            <a:endParaRPr lang="en-US" sz="1200" dirty="0"/>
          </a:p>
        </p:txBody>
      </p:sp>
      <p:sp>
        <p:nvSpPr>
          <p:cNvPr id="16" name="Shape 14"/>
          <p:cNvSpPr/>
          <p:nvPr/>
        </p:nvSpPr>
        <p:spPr>
          <a:xfrm>
            <a:off x="5943600" y="2148840"/>
            <a:ext cx="2651760" cy="23774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7" name="Shape 15"/>
          <p:cNvSpPr/>
          <p:nvPr/>
        </p:nvSpPr>
        <p:spPr>
          <a:xfrm>
            <a:off x="5943600" y="2148840"/>
            <a:ext cx="2651760" cy="749808"/>
          </a:xfrm>
          <a:prstGeom prst="rect">
            <a:avLst/>
          </a:prstGeom>
          <a:solidFill>
            <a:srgbClr val="0B2545"/>
          </a:solidFill>
          <a:ln w="12700">
            <a:solidFill>
              <a:srgbClr val="0B2545"/>
            </a:solidFill>
            <a:prstDash val="solid"/>
          </a:ln>
        </p:spPr>
        <p:txBody>
          <a:bodyPr/>
          <a:lstStyle/>
          <a:p>
            <a:endParaRPr lang="en-US" dirty="0"/>
          </a:p>
        </p:txBody>
      </p:sp>
      <p:sp>
        <p:nvSpPr>
          <p:cNvPr id="18" name="Text 16"/>
          <p:cNvSpPr/>
          <p:nvPr/>
        </p:nvSpPr>
        <p:spPr>
          <a:xfrm>
            <a:off x="6053328" y="2148840"/>
            <a:ext cx="2432304" cy="7498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Inventory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Dispatch</a:t>
            </a:r>
            <a:endParaRPr lang="en-US" sz="1300" dirty="0"/>
          </a:p>
        </p:txBody>
      </p:sp>
      <p:sp>
        <p:nvSpPr>
          <p:cNvPr id="19" name="Text 17"/>
          <p:cNvSpPr/>
          <p:nvPr/>
        </p:nvSpPr>
        <p:spPr>
          <a:xfrm>
            <a:off x="6080760" y="2971800"/>
            <a:ext cx="2377440" cy="1463040"/>
          </a:xfrm>
          <a:prstGeom prst="rect">
            <a:avLst/>
          </a:prstGeom>
          <a:noFill/>
          <a:ln/>
        </p:spPr>
        <p:txBody>
          <a:bodyPr wrap="square" rtlCol="0" anchor="t"/>
          <a:lstStyle/>
          <a:p>
            <a:pPr marL="0" indent="0">
              <a:spcAft>
                <a:spcPts val="400"/>
              </a:spcAft>
              <a:buNone/>
            </a:pPr>
            <a:r>
              <a:rPr lang="en-US" sz="1200" dirty="0">
                <a:solidFill>
                  <a:srgbClr val="4A5568"/>
                </a:solidFill>
                <a:latin typeface="Calibri" pitchFamily="34" charset="0"/>
                <a:ea typeface="Calibri" pitchFamily="34" charset="-122"/>
                <a:cs typeface="Calibri" pitchFamily="34" charset="-120"/>
              </a:rPr>
              <a:t>Managing store inventory, tracking scrap/offcuts, and dispatching finished goods to customers.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Technology Landscape</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804672"/>
          <a:ext cx="8503920" cy="3429000"/>
        </p:xfrm>
        <a:graphic>
          <a:graphicData uri="http://schemas.openxmlformats.org/drawingml/2006/table">
            <a:tbl>
              <a:tblPr/>
              <a:tblGrid>
                <a:gridCol w="274320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685800">
                <a:tc>
                  <a:txBody>
                    <a:bodyPr/>
                    <a:lstStyle/>
                    <a:p>
                      <a:pPr marL="0" indent="0">
                        <a:buNone/>
                      </a:pPr>
                      <a:r>
                        <a:rPr lang="en-US" sz="1400" b="1" dirty="0">
                          <a:solidFill>
                            <a:srgbClr val="FFFFFF"/>
                          </a:solidFill>
                        </a:rPr>
                        <a:t>System / Tool</a:t>
                      </a:r>
                      <a:endParaRPr lang="en-US" sz="14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rPr>
                        <a:t>Current Usage</a:t>
                      </a:r>
                      <a:endParaRPr lang="en-US" sz="14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85800">
                <a:tc>
                  <a:txBody>
                    <a:bodyPr/>
                    <a:lstStyle/>
                    <a:p>
                      <a:pPr marL="0" indent="0">
                        <a:buNone/>
                      </a:pPr>
                      <a:r>
                        <a:rPr lang="en-US" sz="1300" b="1" dirty="0">
                          <a:solidFill>
                            <a:srgbClr val="1A252F"/>
                          </a:solidFill>
                        </a:rPr>
                        <a:t>Tally ERP</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Accounting, GST, basic inventory (ledger-based)</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300" b="1" dirty="0">
                          <a:solidFill>
                            <a:srgbClr val="1A252F"/>
                          </a:solidFill>
                        </a:rPr>
                        <a:t>Cutting Machine Software</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300" dirty="0">
                          <a:solidFill>
                            <a:srgbClr val="4A5568"/>
                          </a:solidFill>
                        </a:rPr>
                        <a:t>Generates cutting piece data / job sheets</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685800">
                <a:tc>
                  <a:txBody>
                    <a:bodyPr/>
                    <a:lstStyle/>
                    <a:p>
                      <a:pPr marL="0" indent="0">
                        <a:buNone/>
                      </a:pPr>
                      <a:r>
                        <a:rPr lang="en-US" sz="1300" b="1" dirty="0">
                          <a:solidFill>
                            <a:srgbClr val="1A252F"/>
                          </a:solidFill>
                        </a:rPr>
                        <a:t>Manual Registers / Excel</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4A5568"/>
                          </a:solidFill>
                        </a:rPr>
                        <a:t>Store inward-outward tracking, procurement records</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300" b="1" dirty="0">
                          <a:solidFill>
                            <a:srgbClr val="1A252F"/>
                          </a:solidFill>
                        </a:rPr>
                        <a:t>Phone / WhatsApp</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300" dirty="0">
                          <a:solidFill>
                            <a:srgbClr val="4A5568"/>
                          </a:solidFill>
                        </a:rPr>
                        <a:t>Internal approvals, purchase requests</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Departments / Stakeholders Involved</a:t>
            </a:r>
            <a:endParaRPr lang="en-US" sz="2200" dirty="0"/>
          </a:p>
        </p:txBody>
      </p:sp>
      <p:sp>
        <p:nvSpPr>
          <p:cNvPr id="5" name="Shape 3"/>
          <p:cNvSpPr/>
          <p:nvPr/>
        </p:nvSpPr>
        <p:spPr>
          <a:xfrm>
            <a:off x="320040" y="822960"/>
            <a:ext cx="274320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320040" y="822960"/>
            <a:ext cx="2743200" cy="493776"/>
          </a:xfrm>
          <a:prstGeom prst="rect">
            <a:avLst/>
          </a:prstGeom>
          <a:solidFill>
            <a:srgbClr val="0B2545"/>
          </a:solidFill>
          <a:ln w="12700">
            <a:solidFill>
              <a:srgbClr val="0B2545"/>
            </a:solidFill>
            <a:prstDash val="solid"/>
          </a:ln>
        </p:spPr>
        <p:txBody>
          <a:bodyPr/>
          <a:lstStyle/>
          <a:p>
            <a:endParaRPr lang="en-US" dirty="0"/>
          </a:p>
        </p:txBody>
      </p:sp>
      <p:sp>
        <p:nvSpPr>
          <p:cNvPr id="7" name="Text 5"/>
          <p:cNvSpPr/>
          <p:nvPr/>
        </p:nvSpPr>
        <p:spPr>
          <a:xfrm>
            <a:off x="411480" y="822960"/>
            <a:ext cx="2560320" cy="49377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Store / Warehouse Team</a:t>
            </a:r>
            <a:endParaRPr lang="en-US" sz="1200" dirty="0"/>
          </a:p>
        </p:txBody>
      </p:sp>
      <p:sp>
        <p:nvSpPr>
          <p:cNvPr id="8" name="Text 6"/>
          <p:cNvSpPr/>
          <p:nvPr/>
        </p:nvSpPr>
        <p:spPr>
          <a:xfrm>
            <a:off x="429768" y="1371600"/>
            <a:ext cx="2523744" cy="1069848"/>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Receiving, issuing, scrap management</a:t>
            </a:r>
            <a:endParaRPr lang="en-US" sz="1200" dirty="0"/>
          </a:p>
        </p:txBody>
      </p:sp>
      <p:sp>
        <p:nvSpPr>
          <p:cNvPr id="9" name="Shape 7"/>
          <p:cNvSpPr/>
          <p:nvPr/>
        </p:nvSpPr>
        <p:spPr>
          <a:xfrm>
            <a:off x="3223260" y="822960"/>
            <a:ext cx="274320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0" name="Shape 8"/>
          <p:cNvSpPr/>
          <p:nvPr/>
        </p:nvSpPr>
        <p:spPr>
          <a:xfrm>
            <a:off x="3223260" y="822960"/>
            <a:ext cx="2743200" cy="493776"/>
          </a:xfrm>
          <a:prstGeom prst="rect">
            <a:avLst/>
          </a:prstGeom>
          <a:solidFill>
            <a:srgbClr val="0E7490"/>
          </a:solidFill>
          <a:ln w="12700">
            <a:solidFill>
              <a:srgbClr val="0E7490"/>
            </a:solidFill>
            <a:prstDash val="solid"/>
          </a:ln>
        </p:spPr>
        <p:txBody>
          <a:bodyPr/>
          <a:lstStyle/>
          <a:p>
            <a:endParaRPr lang="en-US" dirty="0"/>
          </a:p>
        </p:txBody>
      </p:sp>
      <p:sp>
        <p:nvSpPr>
          <p:cNvPr id="11" name="Text 9"/>
          <p:cNvSpPr/>
          <p:nvPr/>
        </p:nvSpPr>
        <p:spPr>
          <a:xfrm>
            <a:off x="3314700" y="822960"/>
            <a:ext cx="2560320" cy="49377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Procurement / Purchase Team</a:t>
            </a:r>
            <a:endParaRPr lang="en-US" sz="1200" dirty="0"/>
          </a:p>
        </p:txBody>
      </p:sp>
      <p:sp>
        <p:nvSpPr>
          <p:cNvPr id="12" name="Text 10"/>
          <p:cNvSpPr/>
          <p:nvPr/>
        </p:nvSpPr>
        <p:spPr>
          <a:xfrm>
            <a:off x="3332988" y="1371600"/>
            <a:ext cx="2523744" cy="1069848"/>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Vendor management, PO creation</a:t>
            </a:r>
            <a:endParaRPr lang="en-US" sz="1200" dirty="0"/>
          </a:p>
        </p:txBody>
      </p:sp>
      <p:sp>
        <p:nvSpPr>
          <p:cNvPr id="13" name="Shape 11"/>
          <p:cNvSpPr/>
          <p:nvPr/>
        </p:nvSpPr>
        <p:spPr>
          <a:xfrm>
            <a:off x="6126480" y="822960"/>
            <a:ext cx="274320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4" name="Shape 12"/>
          <p:cNvSpPr/>
          <p:nvPr/>
        </p:nvSpPr>
        <p:spPr>
          <a:xfrm>
            <a:off x="6126480" y="822960"/>
            <a:ext cx="2743200" cy="493776"/>
          </a:xfrm>
          <a:prstGeom prst="rect">
            <a:avLst/>
          </a:prstGeom>
          <a:solidFill>
            <a:srgbClr val="1B4F72"/>
          </a:solidFill>
          <a:ln w="12700">
            <a:solidFill>
              <a:srgbClr val="1B4F72"/>
            </a:solidFill>
            <a:prstDash val="solid"/>
          </a:ln>
        </p:spPr>
        <p:txBody>
          <a:bodyPr/>
          <a:lstStyle/>
          <a:p>
            <a:endParaRPr lang="en-US" dirty="0"/>
          </a:p>
        </p:txBody>
      </p:sp>
      <p:sp>
        <p:nvSpPr>
          <p:cNvPr id="15" name="Text 13"/>
          <p:cNvSpPr/>
          <p:nvPr/>
        </p:nvSpPr>
        <p:spPr>
          <a:xfrm>
            <a:off x="6217920" y="822960"/>
            <a:ext cx="2560320" cy="49377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 Team</a:t>
            </a:r>
            <a:endParaRPr lang="en-US" sz="1200" dirty="0"/>
          </a:p>
        </p:txBody>
      </p:sp>
      <p:sp>
        <p:nvSpPr>
          <p:cNvPr id="16" name="Text 14"/>
          <p:cNvSpPr/>
          <p:nvPr/>
        </p:nvSpPr>
        <p:spPr>
          <a:xfrm>
            <a:off x="6236208" y="1371600"/>
            <a:ext cx="2523744" cy="1069848"/>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Material consumption, cutting operations</a:t>
            </a:r>
            <a:endParaRPr lang="en-US" sz="1200" dirty="0"/>
          </a:p>
        </p:txBody>
      </p:sp>
      <p:sp>
        <p:nvSpPr>
          <p:cNvPr id="17" name="Shape 15"/>
          <p:cNvSpPr/>
          <p:nvPr/>
        </p:nvSpPr>
        <p:spPr>
          <a:xfrm>
            <a:off x="1771650" y="2715768"/>
            <a:ext cx="274320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8" name="Shape 16"/>
          <p:cNvSpPr/>
          <p:nvPr/>
        </p:nvSpPr>
        <p:spPr>
          <a:xfrm>
            <a:off x="1771650" y="2715768"/>
            <a:ext cx="2743200" cy="493776"/>
          </a:xfrm>
          <a:prstGeom prst="rect">
            <a:avLst/>
          </a:prstGeom>
          <a:solidFill>
            <a:srgbClr val="D35400"/>
          </a:solidFill>
          <a:ln w="12700">
            <a:solidFill>
              <a:srgbClr val="D35400"/>
            </a:solidFill>
            <a:prstDash val="solid"/>
          </a:ln>
        </p:spPr>
        <p:txBody>
          <a:bodyPr/>
          <a:lstStyle/>
          <a:p>
            <a:endParaRPr lang="en-US" dirty="0"/>
          </a:p>
        </p:txBody>
      </p:sp>
      <p:sp>
        <p:nvSpPr>
          <p:cNvPr id="19" name="Text 17"/>
          <p:cNvSpPr/>
          <p:nvPr/>
        </p:nvSpPr>
        <p:spPr>
          <a:xfrm>
            <a:off x="1863090" y="2715768"/>
            <a:ext cx="2560320" cy="49377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Finance / Accounts Team</a:t>
            </a:r>
            <a:endParaRPr lang="en-US" sz="1200" dirty="0"/>
          </a:p>
        </p:txBody>
      </p:sp>
      <p:sp>
        <p:nvSpPr>
          <p:cNvPr id="20" name="Text 18"/>
          <p:cNvSpPr/>
          <p:nvPr/>
        </p:nvSpPr>
        <p:spPr>
          <a:xfrm>
            <a:off x="1881378" y="3264408"/>
            <a:ext cx="2523744" cy="1069848"/>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Tally entries, vendor payments</a:t>
            </a:r>
            <a:endParaRPr lang="en-US" sz="1200" dirty="0"/>
          </a:p>
        </p:txBody>
      </p:sp>
      <p:sp>
        <p:nvSpPr>
          <p:cNvPr id="21" name="Shape 19"/>
          <p:cNvSpPr/>
          <p:nvPr/>
        </p:nvSpPr>
        <p:spPr>
          <a:xfrm>
            <a:off x="4674870" y="2715768"/>
            <a:ext cx="274320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22" name="Shape 20"/>
          <p:cNvSpPr/>
          <p:nvPr/>
        </p:nvSpPr>
        <p:spPr>
          <a:xfrm>
            <a:off x="4674870" y="2715768"/>
            <a:ext cx="2743200" cy="493776"/>
          </a:xfrm>
          <a:prstGeom prst="rect">
            <a:avLst/>
          </a:prstGeom>
          <a:solidFill>
            <a:srgbClr val="1A6B4A"/>
          </a:solidFill>
          <a:ln w="12700">
            <a:solidFill>
              <a:srgbClr val="1A6B4A"/>
            </a:solidFill>
            <a:prstDash val="solid"/>
          </a:ln>
        </p:spPr>
        <p:txBody>
          <a:bodyPr/>
          <a:lstStyle/>
          <a:p>
            <a:endParaRPr lang="en-US" dirty="0"/>
          </a:p>
        </p:txBody>
      </p:sp>
      <p:sp>
        <p:nvSpPr>
          <p:cNvPr id="23" name="Text 21"/>
          <p:cNvSpPr/>
          <p:nvPr/>
        </p:nvSpPr>
        <p:spPr>
          <a:xfrm>
            <a:off x="4766310" y="2715768"/>
            <a:ext cx="2560320" cy="49377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Management</a:t>
            </a:r>
            <a:endParaRPr lang="en-US" sz="1200" dirty="0"/>
          </a:p>
        </p:txBody>
      </p:sp>
      <p:sp>
        <p:nvSpPr>
          <p:cNvPr id="24" name="Text 22"/>
          <p:cNvSpPr/>
          <p:nvPr/>
        </p:nvSpPr>
        <p:spPr>
          <a:xfrm>
            <a:off x="4784598" y="3264408"/>
            <a:ext cx="2523744" cy="1069848"/>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Reporting, approvals, cost control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91452A2-10C6-31C7-AF51-5144167DBA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3EB716-6F3A-BACC-E4A7-BF7C902521B3}"/>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DF841A41-B40C-0FBB-0204-2B45DE4DDB8B}"/>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D092B5D9-0FBB-3D41-5E8B-72F24A5613AA}"/>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Pain Points &amp; Challenges</a:t>
            </a:r>
            <a:endParaRPr lang="en-US" sz="2200" dirty="0"/>
          </a:p>
        </p:txBody>
      </p:sp>
      <p:sp>
        <p:nvSpPr>
          <p:cNvPr id="5" name="Shape 3">
            <a:extLst>
              <a:ext uri="{FF2B5EF4-FFF2-40B4-BE49-F238E27FC236}">
                <a16:creationId xmlns:a16="http://schemas.microsoft.com/office/drawing/2014/main" id="{A47B2288-327F-2F09-750A-376DC2F081B5}"/>
              </a:ext>
            </a:extLst>
          </p:cNvPr>
          <p:cNvSpPr/>
          <p:nvPr/>
        </p:nvSpPr>
        <p:spPr>
          <a:xfrm>
            <a:off x="320040" y="777240"/>
            <a:ext cx="8503920" cy="457200"/>
          </a:xfrm>
          <a:prstGeom prst="rect">
            <a:avLst/>
          </a:prstGeom>
          <a:solidFill>
            <a:srgbClr val="D35400"/>
          </a:solidFill>
          <a:ln w="12700">
            <a:solidFill>
              <a:srgbClr val="D3540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a:extLst>
              <a:ext uri="{FF2B5EF4-FFF2-40B4-BE49-F238E27FC236}">
                <a16:creationId xmlns:a16="http://schemas.microsoft.com/office/drawing/2014/main" id="{FD7561E8-0AE7-8A74-0FB2-C537C6AF40E9}"/>
              </a:ext>
            </a:extLst>
          </p:cNvPr>
          <p:cNvSpPr/>
          <p:nvPr/>
        </p:nvSpPr>
        <p:spPr>
          <a:xfrm>
            <a:off x="457200" y="777240"/>
            <a:ext cx="832104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Inventory / Store Management</a:t>
            </a:r>
            <a:endParaRPr lang="en-US" sz="1500" dirty="0"/>
          </a:p>
        </p:txBody>
      </p:sp>
      <p:sp>
        <p:nvSpPr>
          <p:cNvPr id="7" name="Shape 5">
            <a:extLst>
              <a:ext uri="{FF2B5EF4-FFF2-40B4-BE49-F238E27FC236}">
                <a16:creationId xmlns:a16="http://schemas.microsoft.com/office/drawing/2014/main" id="{76266D32-59B3-C88A-1968-05B726414A62}"/>
              </a:ext>
            </a:extLst>
          </p:cNvPr>
          <p:cNvSpPr/>
          <p:nvPr/>
        </p:nvSpPr>
        <p:spPr>
          <a:xfrm>
            <a:off x="320040" y="1325880"/>
            <a:ext cx="8503920" cy="365760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a:extLst>
              <a:ext uri="{FF2B5EF4-FFF2-40B4-BE49-F238E27FC236}">
                <a16:creationId xmlns:a16="http://schemas.microsoft.com/office/drawing/2014/main" id="{EEE46DC6-6DCF-0AEE-C44A-3A91B908E71F}"/>
              </a:ext>
            </a:extLst>
          </p:cNvPr>
          <p:cNvSpPr/>
          <p:nvPr/>
        </p:nvSpPr>
        <p:spPr>
          <a:xfrm>
            <a:off x="457200" y="1417320"/>
            <a:ext cx="8229600" cy="3474720"/>
          </a:xfrm>
          <a:prstGeom prst="rect">
            <a:avLst/>
          </a:prstGeom>
          <a:noFill/>
          <a:ln/>
        </p:spPr>
        <p:txBody>
          <a:bodyPr wrap="square" rtlCol="0" anchor="t"/>
          <a:lstStyle/>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No real-time visibility of current stock levels - management depends on manual registers or verbal updates.</a:t>
            </a:r>
            <a:endParaRPr lang="en-US" sz="1300" dirty="0"/>
          </a:p>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Inward entries are done manually with no digital audit trail.</a:t>
            </a:r>
            <a:endParaRPr lang="en-US" sz="1300" dirty="0"/>
          </a:p>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Material issuance to production lacks proper tracking - over-issuing or under-issuing happens.</a:t>
            </a:r>
            <a:endParaRPr lang="en-US" sz="1300" dirty="0"/>
          </a:p>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Scrap and offcut material generated from cutting processes is not systematically tracked.</a:t>
            </a:r>
            <a:endParaRPr lang="en-US" sz="1300" dirty="0"/>
          </a:p>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Reusable material (scrap/offcuts) is often wasted or lost because it is not recorded in any system.</a:t>
            </a:r>
            <a:endParaRPr lang="en-US" sz="1300" dirty="0"/>
          </a:p>
          <a:p>
            <a:pPr marL="342900" indent="-342900">
              <a:spcAft>
                <a:spcPts val="600"/>
              </a:spcAft>
              <a:buSzPct val="100000"/>
              <a:buChar char="•"/>
            </a:pPr>
            <a:r>
              <a:rPr lang="en-US" sz="1300" dirty="0">
                <a:solidFill>
                  <a:srgbClr val="1A252F"/>
                </a:solidFill>
                <a:latin typeface="Calibri" pitchFamily="34" charset="0"/>
                <a:ea typeface="Calibri" pitchFamily="34" charset="-122"/>
                <a:cs typeface="Calibri" pitchFamily="34" charset="-120"/>
              </a:rPr>
              <a:t>Duplicate or redundant stock entries in Tally due to manual data entry errors.</a:t>
            </a:r>
            <a:endParaRPr lang="en-US" sz="1300" dirty="0"/>
          </a:p>
        </p:txBody>
      </p:sp>
    </p:spTree>
    <p:extLst>
      <p:ext uri="{BB962C8B-B14F-4D97-AF65-F5344CB8AC3E}">
        <p14:creationId xmlns:p14="http://schemas.microsoft.com/office/powerpoint/2010/main" val="4244688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Pain Points &amp; Challenges</a:t>
            </a:r>
            <a:endParaRPr lang="en-US" sz="2200" dirty="0"/>
          </a:p>
        </p:txBody>
      </p:sp>
      <p:sp>
        <p:nvSpPr>
          <p:cNvPr id="5" name="Shape 3"/>
          <p:cNvSpPr/>
          <p:nvPr/>
        </p:nvSpPr>
        <p:spPr>
          <a:xfrm>
            <a:off x="320040" y="777240"/>
            <a:ext cx="8503920" cy="457200"/>
          </a:xfrm>
          <a:prstGeom prst="rect">
            <a:avLst/>
          </a:prstGeom>
          <a:solidFill>
            <a:srgbClr val="D35400"/>
          </a:solidFill>
          <a:ln w="12700">
            <a:solidFill>
              <a:srgbClr val="D3540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Procurement Process</a:t>
            </a:r>
            <a:endParaRPr lang="en-US" sz="1500" dirty="0"/>
          </a:p>
        </p:txBody>
      </p:sp>
      <p:sp>
        <p:nvSpPr>
          <p:cNvPr id="7" name="Shape 5"/>
          <p:cNvSpPr/>
          <p:nvPr/>
        </p:nvSpPr>
        <p:spPr>
          <a:xfrm>
            <a:off x="320040" y="1325880"/>
            <a:ext cx="8503920" cy="320040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p:cNvSpPr/>
          <p:nvPr/>
        </p:nvSpPr>
        <p:spPr>
          <a:xfrm>
            <a:off x="457200" y="1417320"/>
            <a:ext cx="8229600" cy="3017520"/>
          </a:xfrm>
          <a:prstGeom prst="rect">
            <a:avLst/>
          </a:prstGeom>
          <a:noFill/>
          <a:ln/>
        </p:spPr>
        <p:txBody>
          <a:bodyPr wrap="square" rtlCol="0" anchor="t"/>
          <a:lstStyle/>
          <a:p>
            <a:pPr marL="342900" indent="-342900">
              <a:spcAft>
                <a:spcPts val="800"/>
              </a:spcAft>
              <a:buSzPct val="100000"/>
              <a:buChar char="•"/>
            </a:pPr>
            <a:r>
              <a:rPr lang="en-US" sz="1300" dirty="0">
                <a:solidFill>
                  <a:srgbClr val="1A252F"/>
                </a:solidFill>
                <a:latin typeface="Calibri" pitchFamily="34" charset="0"/>
                <a:ea typeface="Calibri" pitchFamily="34" charset="-122"/>
                <a:cs typeface="Calibri" pitchFamily="34" charset="-120"/>
              </a:rPr>
              <a:t>Purchase requests are raised in tally ( No Connection with any other tool).</a:t>
            </a:r>
            <a:endParaRPr lang="en-US" sz="1300" dirty="0"/>
          </a:p>
          <a:p>
            <a:pPr marL="342900" indent="-342900">
              <a:spcAft>
                <a:spcPts val="800"/>
              </a:spcAft>
              <a:buSzPct val="100000"/>
              <a:buChar char="•"/>
            </a:pPr>
            <a:r>
              <a:rPr lang="en-US" sz="1300" dirty="0">
                <a:solidFill>
                  <a:srgbClr val="1A252F"/>
                </a:solidFill>
                <a:latin typeface="Calibri" pitchFamily="34" charset="0"/>
                <a:ea typeface="Calibri" pitchFamily="34" charset="-122"/>
                <a:cs typeface="Calibri" pitchFamily="34" charset="-120"/>
              </a:rPr>
              <a:t>No centralized Purchase Order (PO) management - vendor communication is unstructured.</a:t>
            </a:r>
            <a:endParaRPr lang="en-US" sz="1300" dirty="0"/>
          </a:p>
          <a:p>
            <a:pPr marL="342900" indent="-342900">
              <a:spcAft>
                <a:spcPts val="800"/>
              </a:spcAft>
              <a:buSzPct val="100000"/>
              <a:buChar char="•"/>
            </a:pPr>
            <a:r>
              <a:rPr lang="en-US" sz="1300" dirty="0">
                <a:solidFill>
                  <a:srgbClr val="1A252F"/>
                </a:solidFill>
                <a:latin typeface="Calibri" pitchFamily="34" charset="0"/>
                <a:ea typeface="Calibri" pitchFamily="34" charset="-122"/>
                <a:cs typeface="Calibri" pitchFamily="34" charset="-120"/>
              </a:rPr>
              <a:t>Difficulty in comparing quotes from multiple vendors.</a:t>
            </a:r>
            <a:endParaRPr lang="en-US" sz="1300" dirty="0"/>
          </a:p>
          <a:p>
            <a:pPr marL="342900" indent="-342900">
              <a:spcAft>
                <a:spcPts val="800"/>
              </a:spcAft>
              <a:buSzPct val="100000"/>
              <a:buChar char="•"/>
            </a:pPr>
            <a:r>
              <a:rPr lang="en-US" sz="1300" dirty="0">
                <a:solidFill>
                  <a:srgbClr val="1A252F"/>
                </a:solidFill>
                <a:latin typeface="Calibri" pitchFamily="34" charset="0"/>
                <a:ea typeface="Calibri" pitchFamily="34" charset="-122"/>
                <a:cs typeface="Calibri" pitchFamily="34" charset="-120"/>
              </a:rPr>
              <a:t>No visibility into open POs, pending deliveries, or short supplies.</a:t>
            </a:r>
            <a:endParaRPr lang="en-US" sz="1300" dirty="0"/>
          </a:p>
          <a:p>
            <a:pPr marL="342900" indent="-342900">
              <a:spcAft>
                <a:spcPts val="800"/>
              </a:spcAft>
              <a:buSzPct val="100000"/>
              <a:buChar char="•"/>
            </a:pPr>
            <a:r>
              <a:rPr lang="en-US" sz="1300" dirty="0">
                <a:solidFill>
                  <a:srgbClr val="1A252F"/>
                </a:solidFill>
                <a:latin typeface="Calibri" pitchFamily="34" charset="0"/>
                <a:ea typeface="Calibri" pitchFamily="34" charset="-122"/>
                <a:cs typeface="Calibri" pitchFamily="34" charset="-120"/>
              </a:rPr>
              <a:t>GRN (Goods Receipt Note) matching with PO is manual and error-prone.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Pain Points &amp; Challenges</a:t>
            </a:r>
            <a:endParaRPr lang="en-US" sz="2200" dirty="0"/>
          </a:p>
        </p:txBody>
      </p:sp>
      <p:sp>
        <p:nvSpPr>
          <p:cNvPr id="5" name="Shape 3"/>
          <p:cNvSpPr/>
          <p:nvPr/>
        </p:nvSpPr>
        <p:spPr>
          <a:xfrm>
            <a:off x="320040" y="777240"/>
            <a:ext cx="8503920" cy="457200"/>
          </a:xfrm>
          <a:prstGeom prst="rect">
            <a:avLst/>
          </a:prstGeom>
          <a:solidFill>
            <a:srgbClr val="D35400"/>
          </a:solidFill>
          <a:ln w="12700">
            <a:solidFill>
              <a:srgbClr val="D3540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Cutting Machine Integration</a:t>
            </a:r>
            <a:endParaRPr lang="en-US" sz="1500" dirty="0"/>
          </a:p>
        </p:txBody>
      </p:sp>
      <p:sp>
        <p:nvSpPr>
          <p:cNvPr id="7" name="Shape 5"/>
          <p:cNvSpPr/>
          <p:nvPr/>
        </p:nvSpPr>
        <p:spPr>
          <a:xfrm>
            <a:off x="320040" y="1325880"/>
            <a:ext cx="8503920" cy="256032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p:cNvSpPr/>
          <p:nvPr/>
        </p:nvSpPr>
        <p:spPr>
          <a:xfrm>
            <a:off x="457200" y="1417320"/>
            <a:ext cx="8229600" cy="2377440"/>
          </a:xfrm>
          <a:prstGeom prst="rect">
            <a:avLst/>
          </a:prstGeom>
          <a:noFill/>
          <a:ln/>
        </p:spPr>
        <p:txBody>
          <a:bodyPr wrap="square" rtlCol="0" anchor="t"/>
          <a:lstStyle/>
          <a:p>
            <a:pPr marL="342900" indent="-342900">
              <a:spcAft>
                <a:spcPts val="1400"/>
              </a:spcAft>
              <a:buSzPct val="100000"/>
              <a:buChar char="•"/>
            </a:pPr>
            <a:r>
              <a:rPr lang="en-US" sz="1300" dirty="0">
                <a:solidFill>
                  <a:srgbClr val="1A252F"/>
                </a:solidFill>
                <a:latin typeface="Calibri" pitchFamily="34" charset="0"/>
                <a:ea typeface="Calibri" pitchFamily="34" charset="-122"/>
                <a:cs typeface="Calibri" pitchFamily="34" charset="-120"/>
              </a:rPr>
              <a:t>The cutting machine generates output data (piece counts, dimensions, material consumed) but this data is siloed within the machine's own software.</a:t>
            </a:r>
            <a:endParaRPr lang="en-US" sz="1300" dirty="0"/>
          </a:p>
          <a:p>
            <a:pPr marL="342900" indent="-342900">
              <a:spcAft>
                <a:spcPts val="1400"/>
              </a:spcAft>
              <a:buSzPct val="100000"/>
              <a:buChar char="•"/>
            </a:pPr>
            <a:r>
              <a:rPr lang="en-US" sz="1300" dirty="0">
                <a:solidFill>
                  <a:srgbClr val="1A252F"/>
                </a:solidFill>
                <a:latin typeface="Calibri" pitchFamily="34" charset="0"/>
                <a:ea typeface="Calibri" pitchFamily="34" charset="-122"/>
                <a:cs typeface="Calibri" pitchFamily="34" charset="-120"/>
              </a:rPr>
              <a:t>No automatic update to inventory when material is consumed by the cutting machine.</a:t>
            </a:r>
            <a:endParaRPr lang="en-US" sz="1300" dirty="0"/>
          </a:p>
          <a:p>
            <a:pPr marL="342900" indent="-342900">
              <a:spcAft>
                <a:spcPts val="1400"/>
              </a:spcAft>
              <a:buSzPct val="100000"/>
              <a:buChar char="•"/>
            </a:pPr>
            <a:r>
              <a:rPr lang="en-US" sz="1300" dirty="0">
                <a:solidFill>
                  <a:srgbClr val="1A252F"/>
                </a:solidFill>
                <a:latin typeface="Calibri" pitchFamily="34" charset="0"/>
                <a:ea typeface="Calibri" pitchFamily="34" charset="-122"/>
                <a:cs typeface="Calibri" pitchFamily="34" charset="-120"/>
              </a:rPr>
              <a:t>Offcuts / scrap generated during cutting is not automatically recorded for reuse tracking.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2A2C0A3B-2B6B-DCAF-6C58-64D14F8AF1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A5FFE6-AC5C-6663-857A-348896091536}"/>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FBDE2A78-CC7C-889C-D60F-3B14F574F3A9}"/>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820D98E5-C278-FE27-BE29-71656EFF769E}"/>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Pain Points &amp; Challenges</a:t>
            </a:r>
            <a:endParaRPr lang="en-US" sz="2200" dirty="0"/>
          </a:p>
        </p:txBody>
      </p:sp>
      <p:sp>
        <p:nvSpPr>
          <p:cNvPr id="5" name="Shape 3">
            <a:extLst>
              <a:ext uri="{FF2B5EF4-FFF2-40B4-BE49-F238E27FC236}">
                <a16:creationId xmlns:a16="http://schemas.microsoft.com/office/drawing/2014/main" id="{AF0E5512-41F1-42F1-AD86-3AE67CE7D820}"/>
              </a:ext>
            </a:extLst>
          </p:cNvPr>
          <p:cNvSpPr/>
          <p:nvPr/>
        </p:nvSpPr>
        <p:spPr>
          <a:xfrm>
            <a:off x="320040" y="777240"/>
            <a:ext cx="8503920" cy="457200"/>
          </a:xfrm>
          <a:prstGeom prst="rect">
            <a:avLst/>
          </a:prstGeom>
          <a:solidFill>
            <a:srgbClr val="D35400"/>
          </a:solidFill>
          <a:ln w="12700">
            <a:solidFill>
              <a:srgbClr val="D3540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a:extLst>
              <a:ext uri="{FF2B5EF4-FFF2-40B4-BE49-F238E27FC236}">
                <a16:creationId xmlns:a16="http://schemas.microsoft.com/office/drawing/2014/main" id="{C945BE3D-17F2-CF11-F4EF-DF79C0E093C2}"/>
              </a:ext>
            </a:extLst>
          </p:cNvPr>
          <p:cNvSpPr/>
          <p:nvPr/>
        </p:nvSpPr>
        <p:spPr>
          <a:xfrm>
            <a:off x="457200" y="777240"/>
            <a:ext cx="832104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Quality Management &amp; Traceability</a:t>
            </a:r>
            <a:endParaRPr lang="en-US" sz="1500" dirty="0"/>
          </a:p>
        </p:txBody>
      </p:sp>
      <p:sp>
        <p:nvSpPr>
          <p:cNvPr id="7" name="Shape 5">
            <a:extLst>
              <a:ext uri="{FF2B5EF4-FFF2-40B4-BE49-F238E27FC236}">
                <a16:creationId xmlns:a16="http://schemas.microsoft.com/office/drawing/2014/main" id="{EBEC6271-FB45-2ED3-7178-29C097F71837}"/>
              </a:ext>
            </a:extLst>
          </p:cNvPr>
          <p:cNvSpPr/>
          <p:nvPr/>
        </p:nvSpPr>
        <p:spPr>
          <a:xfrm>
            <a:off x="320040" y="1325880"/>
            <a:ext cx="8503920" cy="2711428"/>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a:extLst>
              <a:ext uri="{FF2B5EF4-FFF2-40B4-BE49-F238E27FC236}">
                <a16:creationId xmlns:a16="http://schemas.microsoft.com/office/drawing/2014/main" id="{BC93F35B-436A-8B9F-9EAD-720C0EA40A84}"/>
              </a:ext>
            </a:extLst>
          </p:cNvPr>
          <p:cNvSpPr/>
          <p:nvPr/>
        </p:nvSpPr>
        <p:spPr>
          <a:xfrm>
            <a:off x="457200" y="1417320"/>
            <a:ext cx="8229600" cy="2565744"/>
          </a:xfrm>
          <a:prstGeom prst="rect">
            <a:avLst/>
          </a:prstGeom>
          <a:noFill/>
          <a:ln/>
        </p:spPr>
        <p:txBody>
          <a:bodyPr wrap="square" rtlCol="0" anchor="t"/>
          <a:lstStyle/>
          <a:p>
            <a:pPr marL="342900" indent="-342900">
              <a:spcAft>
                <a:spcPts val="1400"/>
              </a:spcAft>
              <a:buSzPct val="100000"/>
              <a:buChar char="•"/>
            </a:pPr>
            <a:r>
              <a:rPr lang="en-US" sz="1300" dirty="0">
                <a:solidFill>
                  <a:srgbClr val="1A252F"/>
                </a:solidFill>
                <a:latin typeface="Calibri" pitchFamily="34" charset="0"/>
                <a:ea typeface="Calibri" pitchFamily="34" charset="-122"/>
                <a:cs typeface="Calibri" pitchFamily="34" charset="-120"/>
              </a:rPr>
              <a:t>The operations are conducted with a quality as a target outcome. However, the quality measurements are either not recorded or even if recorded it is paper based and filed physically making it difficult to trace it later</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There is no consolidated view of quality status of the organization. The trend analysis is not possible. No data-based efforts are directed for quality improvements</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Most of customers want traceability, batch management for tracing back to the origin process for quality defects detected at fields or usage level. Such documents are now physically managed and filed physically. Hence recalling the process aspects later is extremely difficult</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Many customers, particularly from defense industry and EU regions need Quality &amp; ESG certifications as proof of compliance to their dictated standards. Without any such online availability of certification of process, products and other compliance needs it becomes difficult to get customer orders</a:t>
            </a:r>
            <a:endParaRPr lang="en-US" sz="1300" dirty="0"/>
          </a:p>
        </p:txBody>
      </p:sp>
    </p:spTree>
    <p:extLst>
      <p:ext uri="{BB962C8B-B14F-4D97-AF65-F5344CB8AC3E}">
        <p14:creationId xmlns:p14="http://schemas.microsoft.com/office/powerpoint/2010/main" val="461492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CBECE3C-3E1D-89FB-13A9-43E3A72B96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7561AB-0F8A-8D87-EE01-301B0A5875D0}"/>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86792085-7371-012E-EBC9-2541AE45D521}"/>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2B95858F-5D6F-C0F2-64D1-D61E4B042FCD}"/>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 Pain Points &amp; Challenges</a:t>
            </a:r>
            <a:endParaRPr lang="en-US" sz="2200" dirty="0"/>
          </a:p>
        </p:txBody>
      </p:sp>
      <p:sp>
        <p:nvSpPr>
          <p:cNvPr id="5" name="Shape 3">
            <a:extLst>
              <a:ext uri="{FF2B5EF4-FFF2-40B4-BE49-F238E27FC236}">
                <a16:creationId xmlns:a16="http://schemas.microsoft.com/office/drawing/2014/main" id="{857348C0-28AC-C4F1-9071-2C618E320453}"/>
              </a:ext>
            </a:extLst>
          </p:cNvPr>
          <p:cNvSpPr/>
          <p:nvPr/>
        </p:nvSpPr>
        <p:spPr>
          <a:xfrm>
            <a:off x="320040" y="777240"/>
            <a:ext cx="8503920" cy="457200"/>
          </a:xfrm>
          <a:prstGeom prst="rect">
            <a:avLst/>
          </a:prstGeom>
          <a:solidFill>
            <a:srgbClr val="D35400"/>
          </a:solidFill>
          <a:ln w="12700">
            <a:solidFill>
              <a:srgbClr val="D3540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a:extLst>
              <a:ext uri="{FF2B5EF4-FFF2-40B4-BE49-F238E27FC236}">
                <a16:creationId xmlns:a16="http://schemas.microsoft.com/office/drawing/2014/main" id="{7278238C-8AD1-AEDA-A4E4-A18FE91093E4}"/>
              </a:ext>
            </a:extLst>
          </p:cNvPr>
          <p:cNvSpPr/>
          <p:nvPr/>
        </p:nvSpPr>
        <p:spPr>
          <a:xfrm>
            <a:off x="457200" y="777240"/>
            <a:ext cx="832104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Plant Maintenance and Plant Uptime Management</a:t>
            </a:r>
            <a:endParaRPr lang="en-US" sz="1500" dirty="0"/>
          </a:p>
        </p:txBody>
      </p:sp>
      <p:sp>
        <p:nvSpPr>
          <p:cNvPr id="7" name="Shape 5">
            <a:extLst>
              <a:ext uri="{FF2B5EF4-FFF2-40B4-BE49-F238E27FC236}">
                <a16:creationId xmlns:a16="http://schemas.microsoft.com/office/drawing/2014/main" id="{BB620402-2934-208A-9448-53CF004826F2}"/>
              </a:ext>
            </a:extLst>
          </p:cNvPr>
          <p:cNvSpPr/>
          <p:nvPr/>
        </p:nvSpPr>
        <p:spPr>
          <a:xfrm>
            <a:off x="320040" y="1325880"/>
            <a:ext cx="8503920" cy="2711428"/>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a:extLst>
              <a:ext uri="{FF2B5EF4-FFF2-40B4-BE49-F238E27FC236}">
                <a16:creationId xmlns:a16="http://schemas.microsoft.com/office/drawing/2014/main" id="{96DBFD01-8DCC-3FEA-1A0A-D71230A3FA51}"/>
              </a:ext>
            </a:extLst>
          </p:cNvPr>
          <p:cNvSpPr/>
          <p:nvPr/>
        </p:nvSpPr>
        <p:spPr>
          <a:xfrm>
            <a:off x="457200" y="1417320"/>
            <a:ext cx="8229600" cy="2565744"/>
          </a:xfrm>
          <a:prstGeom prst="rect">
            <a:avLst/>
          </a:prstGeom>
          <a:noFill/>
          <a:ln/>
        </p:spPr>
        <p:txBody>
          <a:bodyPr wrap="square" rtlCol="0" anchor="t"/>
          <a:lstStyle/>
          <a:p>
            <a:pPr marL="342900" indent="-342900">
              <a:spcAft>
                <a:spcPts val="1400"/>
              </a:spcAft>
              <a:buSzPct val="100000"/>
              <a:buChar char="•"/>
            </a:pPr>
            <a:r>
              <a:rPr lang="en-US" sz="1300" dirty="0">
                <a:solidFill>
                  <a:srgbClr val="1A252F"/>
                </a:solidFill>
                <a:latin typeface="Calibri" pitchFamily="34" charset="0"/>
                <a:ea typeface="Calibri" pitchFamily="34" charset="-122"/>
                <a:cs typeface="Calibri" pitchFamily="34" charset="-120"/>
              </a:rPr>
              <a:t>The machines undergo breakdown impacting the production. However, there is no control on frequency of break down, the repair time needed, cost of repair </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Without any data on machine and its health , organization is not capable of taking decision on continuing with the equipment or replacing it. It needs the data as mentioned in above point</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There is no disciplined approach to preventive maintenance. The periodic time-based maintenance is needed for a good health of the equipment. Currently it is done on personalized approach without any system-based schedule, and check sheets. Hence organization falls mostly into breakdown maintenance process</a:t>
            </a:r>
          </a:p>
          <a:p>
            <a:pPr marL="342900" indent="-342900">
              <a:spcAft>
                <a:spcPts val="1400"/>
              </a:spcAft>
              <a:buSzPct val="100000"/>
              <a:buChar char="•"/>
            </a:pPr>
            <a:r>
              <a:rPr lang="en-US" sz="1300" dirty="0">
                <a:solidFill>
                  <a:srgbClr val="1A252F"/>
                </a:solidFill>
                <a:latin typeface="Calibri" pitchFamily="34" charset="0"/>
                <a:cs typeface="Calibri" pitchFamily="34" charset="-120"/>
              </a:rPr>
              <a:t>The spares are planned in ad hoc manner , mostly falling short of availability at the time of repair; thereby needing more waiting time and increasing the time to repair very high cascading to delayed delivery situations</a:t>
            </a:r>
            <a:endParaRPr lang="en-US" sz="1300" dirty="0"/>
          </a:p>
        </p:txBody>
      </p:sp>
    </p:spTree>
    <p:extLst>
      <p:ext uri="{BB962C8B-B14F-4D97-AF65-F5344CB8AC3E}">
        <p14:creationId xmlns:p14="http://schemas.microsoft.com/office/powerpoint/2010/main" val="313874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Proposed Solution Overview</a:t>
            </a:r>
            <a:endParaRPr lang="en-US" sz="2200" dirty="0"/>
          </a:p>
        </p:txBody>
      </p:sp>
      <p:sp>
        <p:nvSpPr>
          <p:cNvPr id="5" name="Shape 3"/>
          <p:cNvSpPr/>
          <p:nvPr/>
        </p:nvSpPr>
        <p:spPr>
          <a:xfrm>
            <a:off x="320040" y="804672"/>
            <a:ext cx="8503920" cy="16916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320040" y="804672"/>
            <a:ext cx="164592" cy="1691640"/>
          </a:xfrm>
          <a:prstGeom prst="rect">
            <a:avLst/>
          </a:prstGeom>
          <a:solidFill>
            <a:srgbClr val="D35400"/>
          </a:solidFill>
          <a:ln w="12700">
            <a:solidFill>
              <a:srgbClr val="D35400"/>
            </a:solidFill>
            <a:prstDash val="solid"/>
          </a:ln>
        </p:spPr>
        <p:txBody>
          <a:bodyPr/>
          <a:lstStyle/>
          <a:p>
            <a:endParaRPr lang="en-US" dirty="0"/>
          </a:p>
        </p:txBody>
      </p:sp>
      <p:sp>
        <p:nvSpPr>
          <p:cNvPr id="7" name="Text 5"/>
          <p:cNvSpPr/>
          <p:nvPr/>
        </p:nvSpPr>
        <p:spPr>
          <a:xfrm>
            <a:off x="594360" y="877824"/>
            <a:ext cx="8092440" cy="1481328"/>
          </a:xfrm>
          <a:prstGeom prst="rect">
            <a:avLst/>
          </a:prstGeom>
          <a:noFill/>
          <a:ln/>
        </p:spPr>
        <p:txBody>
          <a:bodyPr wrap="square" rtlCol="0" anchor="t"/>
          <a:lstStyle/>
          <a:p>
            <a:pPr marL="0" indent="0">
              <a:spcAft>
                <a:spcPts val="600"/>
              </a:spcAft>
              <a:buNone/>
            </a:pPr>
            <a:r>
              <a:rPr lang="en-US" sz="1300" b="1" dirty="0">
                <a:solidFill>
                  <a:srgbClr val="1A252F"/>
                </a:solidFill>
                <a:latin typeface="Calibri" pitchFamily="34" charset="0"/>
                <a:ea typeface="Calibri" pitchFamily="34" charset="-122"/>
                <a:cs typeface="Calibri" pitchFamily="34" charset="-120"/>
              </a:rPr>
              <a:t>The Proposal</a:t>
            </a:r>
            <a:endParaRPr lang="en-US" sz="1300" dirty="0"/>
          </a:p>
          <a:p>
            <a:pPr marL="0" indent="0">
              <a:spcAft>
                <a:spcPts val="600"/>
              </a:spcAft>
              <a:buNone/>
            </a:pPr>
            <a:r>
              <a:rPr lang="en-US" sz="1300" dirty="0">
                <a:solidFill>
                  <a:srgbClr val="1A252F"/>
                </a:solidFill>
                <a:latin typeface="Calibri" pitchFamily="34" charset="0"/>
                <a:ea typeface="Calibri" pitchFamily="34" charset="-122"/>
                <a:cs typeface="Calibri" pitchFamily="34" charset="-120"/>
              </a:rPr>
              <a:t>TransExcel Consulting along with Webteam propose a dedicated Inbound Automation System covering Store Management, Inventory Tracking, Procurement Management, and Scrap/Reusable Material Tracking.</a:t>
            </a:r>
            <a:endParaRPr lang="en-US" sz="1300" dirty="0"/>
          </a:p>
        </p:txBody>
      </p:sp>
      <p:sp>
        <p:nvSpPr>
          <p:cNvPr id="8" name="Shape 6"/>
          <p:cNvSpPr/>
          <p:nvPr/>
        </p:nvSpPr>
        <p:spPr>
          <a:xfrm>
            <a:off x="320040" y="2651760"/>
            <a:ext cx="8503920" cy="219456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9" name="Shape 7"/>
          <p:cNvSpPr/>
          <p:nvPr/>
        </p:nvSpPr>
        <p:spPr>
          <a:xfrm>
            <a:off x="320040" y="2651760"/>
            <a:ext cx="164592" cy="2194560"/>
          </a:xfrm>
          <a:prstGeom prst="rect">
            <a:avLst/>
          </a:prstGeom>
          <a:solidFill>
            <a:srgbClr val="0E7490"/>
          </a:solidFill>
          <a:ln w="12700">
            <a:solidFill>
              <a:srgbClr val="0E7490"/>
            </a:solidFill>
            <a:prstDash val="solid"/>
          </a:ln>
        </p:spPr>
        <p:txBody>
          <a:bodyPr/>
          <a:lstStyle/>
          <a:p>
            <a:endParaRPr lang="en-US" dirty="0"/>
          </a:p>
        </p:txBody>
      </p:sp>
      <p:sp>
        <p:nvSpPr>
          <p:cNvPr id="10" name="Text 8"/>
          <p:cNvSpPr/>
          <p:nvPr/>
        </p:nvSpPr>
        <p:spPr>
          <a:xfrm>
            <a:off x="594360" y="2724912"/>
            <a:ext cx="8092440" cy="1993392"/>
          </a:xfrm>
          <a:prstGeom prst="rect">
            <a:avLst/>
          </a:prstGeom>
          <a:noFill/>
          <a:ln/>
        </p:spPr>
        <p:txBody>
          <a:bodyPr wrap="square" rtlCol="0" anchor="t"/>
          <a:lstStyle/>
          <a:p>
            <a:pPr marL="0" indent="0">
              <a:spcAft>
                <a:spcPts val="600"/>
              </a:spcAft>
              <a:buNone/>
            </a:pPr>
            <a:r>
              <a:rPr lang="en-US" sz="1300" b="1" dirty="0">
                <a:solidFill>
                  <a:srgbClr val="1A252F"/>
                </a:solidFill>
                <a:latin typeface="Calibri" pitchFamily="34" charset="0"/>
                <a:ea typeface="Calibri" pitchFamily="34" charset="-122"/>
                <a:cs typeface="Calibri" pitchFamily="34" charset="-120"/>
              </a:rPr>
              <a:t>Integration Scope</a:t>
            </a:r>
            <a:endParaRPr lang="en-US" sz="1300" dirty="0"/>
          </a:p>
          <a:p>
            <a:pPr marL="0" indent="0">
              <a:spcAft>
                <a:spcPts val="600"/>
              </a:spcAft>
              <a:buNone/>
            </a:pPr>
            <a:r>
              <a:rPr lang="en-US" sz="1300" dirty="0">
                <a:solidFill>
                  <a:srgbClr val="1A252F"/>
                </a:solidFill>
                <a:latin typeface="Calibri" pitchFamily="34" charset="0"/>
                <a:ea typeface="Calibri" pitchFamily="34" charset="-122"/>
                <a:cs typeface="Calibri" pitchFamily="34" charset="-120"/>
              </a:rPr>
              <a:t>The system will feature bidirectional integration to Tally and read/import integration from the existing cutting machine software. This enables end-to-end visibility from material procurement to scrap reuse, replacing manual registers and WhatsApp-based workflows with a structured, auditable digital process.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Solution Architecture (High Level)</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56877615"/>
              </p:ext>
            </p:extLst>
          </p:nvPr>
        </p:nvGraphicFramePr>
        <p:xfrm>
          <a:off x="320040" y="804672"/>
          <a:ext cx="8503920" cy="3840480"/>
        </p:xfrm>
        <a:graphic>
          <a:graphicData uri="http://schemas.openxmlformats.org/drawingml/2006/table">
            <a:tbl>
              <a:tblPr/>
              <a:tblGrid>
                <a:gridCol w="292608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tblGrid>
              <a:tr h="193901">
                <a:tc>
                  <a:txBody>
                    <a:bodyPr/>
                    <a:lstStyle/>
                    <a:p>
                      <a:pPr marL="0" indent="0">
                        <a:buNone/>
                      </a:pPr>
                      <a:r>
                        <a:rPr lang="en-US" sz="1200" b="1" dirty="0">
                          <a:solidFill>
                            <a:srgbClr val="FFFFFF"/>
                          </a:solidFill>
                        </a:rPr>
                        <a:t>Module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Core Functionality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193901">
                <a:tc>
                  <a:txBody>
                    <a:bodyPr/>
                    <a:lstStyle/>
                    <a:p>
                      <a:pPr marL="0" indent="0">
                        <a:buNone/>
                      </a:pPr>
                      <a:r>
                        <a:rPr lang="en-US" sz="1200" b="1" dirty="0">
                          <a:solidFill>
                            <a:srgbClr val="1A252F"/>
                          </a:solidFill>
                        </a:rPr>
                        <a:t>Material Inward (GRN)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Digital goods receipt, PO matching, inspection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3901">
                <a:tc>
                  <a:txBody>
                    <a:bodyPr/>
                    <a:lstStyle/>
                    <a:p>
                      <a:pPr marL="0" indent="0">
                        <a:buNone/>
                      </a:pPr>
                      <a:r>
                        <a:rPr lang="en-US" sz="1200" b="1" dirty="0">
                          <a:solidFill>
                            <a:srgbClr val="1A252F"/>
                          </a:solidFill>
                        </a:rPr>
                        <a:t>Inventory Management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200" dirty="0">
                          <a:solidFill>
                            <a:srgbClr val="4A5568"/>
                          </a:solidFill>
                        </a:rPr>
                        <a:t>Real-time stock ledger, item master, location-wise stock</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193901">
                <a:tc>
                  <a:txBody>
                    <a:bodyPr/>
                    <a:lstStyle/>
                    <a:p>
                      <a:pPr marL="0" indent="0">
                        <a:buNone/>
                      </a:pPr>
                      <a:r>
                        <a:rPr lang="en-US" sz="1200" b="1" dirty="0">
                          <a:solidFill>
                            <a:srgbClr val="1A252F"/>
                          </a:solidFill>
                        </a:rPr>
                        <a:t>Scrap / Offcut Tracking</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Auto-capture from cutting machine, reuse queue, valuation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3901">
                <a:tc>
                  <a:txBody>
                    <a:bodyPr/>
                    <a:lstStyle/>
                    <a:p>
                      <a:pPr marL="0" indent="0">
                        <a:buNone/>
                      </a:pPr>
                      <a:r>
                        <a:rPr lang="en-US" sz="1200" b="1" dirty="0">
                          <a:solidFill>
                            <a:srgbClr val="1A252F"/>
                          </a:solidFill>
                        </a:rPr>
                        <a:t>Material Issuance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200" dirty="0">
                          <a:solidFill>
                            <a:srgbClr val="4A5568"/>
                          </a:solidFill>
                        </a:rPr>
                        <a:t>Issue against production order / job, digital gate pass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193901">
                <a:tc>
                  <a:txBody>
                    <a:bodyPr/>
                    <a:lstStyle/>
                    <a:p>
                      <a:pPr marL="0" indent="0">
                        <a:buNone/>
                      </a:pPr>
                      <a:r>
                        <a:rPr lang="en-US" sz="1200" b="1" dirty="0">
                          <a:solidFill>
                            <a:srgbClr val="1A252F"/>
                          </a:solidFill>
                        </a:rPr>
                        <a:t>Procurement Management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PR - PO - GRN workflow, vendor master, approval matrix</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3901">
                <a:tc>
                  <a:txBody>
                    <a:bodyPr/>
                    <a:lstStyle/>
                    <a:p>
                      <a:pPr marL="0" indent="0">
                        <a:buNone/>
                      </a:pPr>
                      <a:r>
                        <a:rPr lang="en-US" sz="1200" b="1" dirty="0">
                          <a:solidFill>
                            <a:srgbClr val="1A252F"/>
                          </a:solidFill>
                        </a:rPr>
                        <a:t>Cutting Machine Integration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200" dirty="0">
                          <a:solidFill>
                            <a:srgbClr val="4A5568"/>
                          </a:solidFill>
                        </a:rPr>
                        <a:t>Import job data, auto-deduct material, record offcuts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452436">
                <a:tc>
                  <a:txBody>
                    <a:bodyPr/>
                    <a:lstStyle/>
                    <a:p>
                      <a:pPr marL="0" indent="0">
                        <a:buNone/>
                      </a:pPr>
                      <a:r>
                        <a:rPr lang="en-US" sz="1200" b="1" kern="1200" dirty="0">
                          <a:solidFill>
                            <a:srgbClr val="1A252F"/>
                          </a:solidFill>
                          <a:latin typeface="+mn-lt"/>
                          <a:ea typeface="+mn-ea"/>
                          <a:cs typeface="+mn-cs"/>
                        </a:rPr>
                        <a:t>Production and Quality Management</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200" dirty="0"/>
                        <a:t>BoM, Semifinished and Finished Items, Work Center, Cost center, Routing , Stage wise production confirmation &amp; Input Consumption via BoM, Quality Data capturing, Rejection Capturing, Rejection stock Accounting</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2799522774"/>
                  </a:ext>
                </a:extLst>
              </a:tr>
              <a:tr h="710971">
                <a:tc>
                  <a:txBody>
                    <a:bodyPr/>
                    <a:lstStyle/>
                    <a:p>
                      <a:pPr marL="0" indent="0">
                        <a:buNone/>
                      </a:pPr>
                      <a:r>
                        <a:rPr lang="en-US" sz="1200" b="1" kern="1200" dirty="0">
                          <a:solidFill>
                            <a:srgbClr val="1A252F"/>
                          </a:solidFill>
                          <a:latin typeface="+mn-lt"/>
                          <a:ea typeface="+mn-ea"/>
                          <a:cs typeface="+mn-cs"/>
                        </a:rPr>
                        <a:t>Plant Maintenance</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tc>
                  <a:txBody>
                    <a:bodyPr/>
                    <a:lstStyle/>
                    <a:p>
                      <a:pPr marL="0" indent="0">
                        <a:buNone/>
                      </a:pPr>
                      <a:r>
                        <a:rPr lang="en-US" sz="1200" dirty="0"/>
                        <a:t>Equipment Number creation, Location Number Creation, Equipment and location matching, Equipment shifting, Equipment Break Down Maintenance management, Preventive Maintenance Management, Maintenance cost tracking, Equipment BoM, Equipment spares procurement, stocking and issue to maintenance order, </a:t>
                      </a:r>
                      <a:r>
                        <a:rPr lang="en-US" sz="1200" dirty="0" err="1"/>
                        <a:t>labour</a:t>
                      </a:r>
                      <a:r>
                        <a:rPr lang="en-US" sz="1200" dirty="0"/>
                        <a:t> allocation</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438558673"/>
                  </a:ext>
                </a:extLst>
              </a:tr>
              <a:tr h="193901">
                <a:tc>
                  <a:txBody>
                    <a:bodyPr/>
                    <a:lstStyle/>
                    <a:p>
                      <a:pPr marL="0" indent="0">
                        <a:buNone/>
                      </a:pPr>
                      <a:r>
                        <a:rPr lang="en-US" sz="1200" b="1" dirty="0">
                          <a:solidFill>
                            <a:srgbClr val="1A252F"/>
                          </a:solidFill>
                        </a:rPr>
                        <a:t>Reports &amp; Dashboard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200" dirty="0">
                          <a:solidFill>
                            <a:srgbClr val="4A5568"/>
                          </a:solidFill>
                        </a:rPr>
                        <a:t>Real-time stock, procurement status, scrap utilization, cost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5D9DA98-04A3-3CFD-BE9D-C12DB8B698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3554C8-32D1-060C-F6A1-82BFD2DAF50C}"/>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C884B013-750C-43BB-F6E7-39B88751D7A8}"/>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FF917FBD-01F9-46A7-DE8E-2FE65CA63791}"/>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Process Architecture (High Level)</a:t>
            </a:r>
            <a:endParaRPr lang="en-US" sz="2200" dirty="0"/>
          </a:p>
        </p:txBody>
      </p:sp>
      <p:graphicFrame>
        <p:nvGraphicFramePr>
          <p:cNvPr id="5" name="Diagram 4">
            <a:extLst>
              <a:ext uri="{FF2B5EF4-FFF2-40B4-BE49-F238E27FC236}">
                <a16:creationId xmlns:a16="http://schemas.microsoft.com/office/drawing/2014/main" id="{D403C3DD-DB06-BE45-DA77-6A71BD7D6D1A}"/>
              </a:ext>
            </a:extLst>
          </p:cNvPr>
          <p:cNvGraphicFramePr/>
          <p:nvPr>
            <p:extLst>
              <p:ext uri="{D42A27DB-BD31-4B8C-83A1-F6EECF244321}">
                <p14:modId xmlns:p14="http://schemas.microsoft.com/office/powerpoint/2010/main" val="3973783153"/>
              </p:ext>
            </p:extLst>
          </p:nvPr>
        </p:nvGraphicFramePr>
        <p:xfrm>
          <a:off x="1613807" y="9398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7828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solidFill>
                <a:schemeClr val="bg1"/>
              </a:solidFill>
            </a:endParaRPr>
          </a:p>
        </p:txBody>
      </p:sp>
      <p:sp>
        <p:nvSpPr>
          <p:cNvPr id="6" name="Text 4"/>
          <p:cNvSpPr/>
          <p:nvPr/>
        </p:nvSpPr>
        <p:spPr>
          <a:xfrm>
            <a:off x="457200" y="777240"/>
            <a:ext cx="8321040" cy="502920"/>
          </a:xfrm>
          <a:prstGeom prst="rect">
            <a:avLst/>
          </a:prstGeom>
          <a:noFill/>
          <a:ln/>
        </p:spPr>
        <p:txBody>
          <a:bodyPr wrap="square" rtlCol="0" anchor="ctr"/>
          <a:lstStyle/>
          <a:p>
            <a:pPr lvl="0"/>
            <a:r>
              <a:rPr lang="en-US" sz="1600" b="1" dirty="0">
                <a:solidFill>
                  <a:schemeClr val="bg1"/>
                </a:solidFill>
              </a:rPr>
              <a:t>Unique Item Code Creation Module</a:t>
            </a:r>
            <a:endParaRPr lang="en-US" sz="1600" dirty="0">
              <a:solidFill>
                <a:schemeClr val="bg1"/>
              </a:solidFill>
            </a:endParaRPr>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r>
              <a:rPr lang="en-US" sz="1300" i="1" dirty="0">
                <a:solidFill>
                  <a:srgbClr val="0C4A6E"/>
                </a:solidFill>
                <a:latin typeface="Calibri" pitchFamily="34" charset="0"/>
                <a:cs typeface="Calibri" pitchFamily="34" charset="-120"/>
              </a:rPr>
              <a:t>This module enables to create an item code that uniquely defines a material and deduplicates it.</a:t>
            </a:r>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The software features takes in put at multiple hierarchical levels. </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It distinguishes service vs goods.</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At goods level it distinguishes RM from SFG from FG</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Within each of above drilled down categories it further defines the class and characteristics there within the class. For example, in RM category it can take Steel with a grade as Clas and within the class it will take various compositions as characteristics that define the material uniquely and theses are publicly available specifications</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The algorithm prevents any duplication of material irrespective of the sourcing.</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It is typically alpha numeric and bound by a specified number of characters / digits so as to intelligently define and gets perceived for its identity and uniqueness</a:t>
            </a:r>
          </a:p>
          <a:p>
            <a:pPr marL="285750" lvl="0" indent="-285750">
              <a:buFont typeface="Arial" panose="020B0604020202020204" pitchFamily="34" charset="0"/>
              <a:buChar char="•"/>
            </a:pPr>
            <a:r>
              <a:rPr lang="en-US" sz="1250" dirty="0">
                <a:solidFill>
                  <a:srgbClr val="1A252F"/>
                </a:solidFill>
                <a:latin typeface="Calibri" pitchFamily="34" charset="0"/>
                <a:cs typeface="Calibri" pitchFamily="34" charset="-120"/>
              </a:rPr>
              <a:t>The description part is different for understanding the material better</a:t>
            </a:r>
          </a:p>
          <a:p>
            <a:pPr>
              <a:spcAft>
                <a:spcPts val="400"/>
              </a:spcAft>
              <a:buSzPct val="100000"/>
            </a:pP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37601F9-B567-753B-E673-6034CAF0DA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65CA15-CCB4-EB39-3725-48483AF1742E}"/>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B25B93D1-7DF0-5985-0E4F-A56405B23728}"/>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9678ABA4-2F9A-25AD-DA86-ABB59F786761}"/>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a:extLst>
              <a:ext uri="{FF2B5EF4-FFF2-40B4-BE49-F238E27FC236}">
                <a16:creationId xmlns:a16="http://schemas.microsoft.com/office/drawing/2014/main" id="{952F3B8E-4668-1357-6000-A1E15BD2578A}"/>
              </a:ext>
            </a:extLst>
          </p:cNvPr>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a:extLst>
              <a:ext uri="{FF2B5EF4-FFF2-40B4-BE49-F238E27FC236}">
                <a16:creationId xmlns:a16="http://schemas.microsoft.com/office/drawing/2014/main" id="{6EDF5E7A-E4EB-028C-62FA-486D0B507C2E}"/>
              </a:ext>
            </a:extLst>
          </p:cNvPr>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Material Inward &amp; GRN Module</a:t>
            </a:r>
            <a:endParaRPr lang="en-US" sz="1600" dirty="0"/>
          </a:p>
        </p:txBody>
      </p:sp>
      <p:sp>
        <p:nvSpPr>
          <p:cNvPr id="7" name="Shape 5">
            <a:extLst>
              <a:ext uri="{FF2B5EF4-FFF2-40B4-BE49-F238E27FC236}">
                <a16:creationId xmlns:a16="http://schemas.microsoft.com/office/drawing/2014/main" id="{CD6C4622-C5F4-C4D7-A007-E6D49BC066C4}"/>
              </a:ext>
            </a:extLst>
          </p:cNvPr>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a:extLst>
              <a:ext uri="{FF2B5EF4-FFF2-40B4-BE49-F238E27FC236}">
                <a16:creationId xmlns:a16="http://schemas.microsoft.com/office/drawing/2014/main" id="{E45892EB-DF7A-56B4-EE66-282D03A87723}"/>
              </a:ext>
            </a:extLst>
          </p:cNvPr>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This module digitalizes the entire goods receipt process from vendor delivery to store acceptance.</a:t>
            </a:r>
            <a:endParaRPr lang="en-US" sz="1300" dirty="0"/>
          </a:p>
        </p:txBody>
      </p:sp>
      <p:sp>
        <p:nvSpPr>
          <p:cNvPr id="9" name="Shape 7">
            <a:extLst>
              <a:ext uri="{FF2B5EF4-FFF2-40B4-BE49-F238E27FC236}">
                <a16:creationId xmlns:a16="http://schemas.microsoft.com/office/drawing/2014/main" id="{43341897-3C74-C8CC-254A-16DA72A4DF44}"/>
              </a:ext>
            </a:extLst>
          </p:cNvPr>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a:extLst>
              <a:ext uri="{FF2B5EF4-FFF2-40B4-BE49-F238E27FC236}">
                <a16:creationId xmlns:a16="http://schemas.microsoft.com/office/drawing/2014/main" id="{EC3F6A92-5E09-6AD3-D2BE-257B0CF81862}"/>
              </a:ext>
            </a:extLst>
          </p:cNvPr>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a:extLst>
              <a:ext uri="{FF2B5EF4-FFF2-40B4-BE49-F238E27FC236}">
                <a16:creationId xmlns:a16="http://schemas.microsoft.com/office/drawing/2014/main" id="{D11DB2BC-4D86-FCEB-48BF-D57B8E7F0880}"/>
              </a:ext>
            </a:extLst>
          </p:cNvPr>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Receive materials against open Purchase Orders with auto-matching.</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QC / Inspection checklist before acceptance into inventory.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Partial delivery handling - track pending quantities.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Multi-document support: Challan, Invoice, E-way Bill capture.</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Auto-update of inventory upon GRN confirmation.</a:t>
            </a:r>
          </a:p>
          <a:p>
            <a:pPr marL="342900" indent="-342900">
              <a:spcAft>
                <a:spcPts val="400"/>
              </a:spcAft>
              <a:buSzPct val="100000"/>
              <a:buChar char="•"/>
            </a:pPr>
            <a:r>
              <a:rPr lang="en-US" sz="1250" dirty="0">
                <a:solidFill>
                  <a:srgbClr val="1A252F"/>
                </a:solidFill>
                <a:latin typeface="Calibri" pitchFamily="34" charset="0"/>
                <a:cs typeface="Calibri" pitchFamily="34" charset="-120"/>
              </a:rPr>
              <a:t>Download data from New system and upload to tally for financial treatment</a:t>
            </a:r>
            <a:endParaRPr lang="en-US" sz="1250" dirty="0"/>
          </a:p>
          <a:p>
            <a:pPr>
              <a:spcAft>
                <a:spcPts val="400"/>
              </a:spcAft>
              <a:buSzPct val="100000"/>
            </a:pPr>
            <a:endParaRPr lang="en-US" sz="1250" dirty="0"/>
          </a:p>
        </p:txBody>
      </p:sp>
    </p:spTree>
    <p:extLst>
      <p:ext uri="{BB962C8B-B14F-4D97-AF65-F5344CB8AC3E}">
        <p14:creationId xmlns:p14="http://schemas.microsoft.com/office/powerpoint/2010/main" val="224396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Inventory Management Module</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A real-time, accurate ledger of all materials in the store.</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Item master with category, unit of measure, HSN code, minimum stock level.</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Bin / location-wise storage tracking within the store.</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Real-time stock balance with inward, outward, and adjustment history.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Low stock alerts and reorder point notifications.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Batch / heat number tracking for metals and corrosion materials.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Stock aging reports to identify slow-moving or dead inventory.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Physical stock audit support with variance capture.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Scrap &amp; Reusable Material Tracking</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A critical module: currently scrap and offcuts from the cutting machine are not tracked, resulting in potential material waste and financial leakage.</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Automatic scrap creation entry from cutting machine job data import.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Categories scrap: Reusable Offcut, Saleable Scrap, Disposable Waste.</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Assign a calculated or estimated value to each scrap category.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Reuse queue: Before a new PO is raised, the system checks if reusable offcuts can fulfil the requirement.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Scrap issue to job - track utilization of reused material.</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Scrap disposal / sale entry with financial impact.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Dashboard showing total scrap generated vs. reused vs. sold vs. disposed.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Material Outward / Issuance Module</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Tracks every material movement out of the store to production or external parties.</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Issue material against Job Order / Production Order / Department request.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Material Requisition Slip (MRS) digital workflow with approvals.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Return material to store entry (excess material returned from production).</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Digital Gate Pass generation for material leaving premises.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Outward entries auto-updated in Tally inventory.</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Procurement Management Module</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Brings structure and visibility to the entire purchase cycle.</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Purchase Requisition (PR) raised digitally by store or production.</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Approval workflow for PRs based on value and category.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Request for Quotation (RFQ) sent to multiple vendors; comparative chart.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Purchase Order (PO) creation with terms, delivery date, and quantity.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PO status tracking: Open, Partially Received, Completed, Cancelled.</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Vendor master with performance history, credit terms, and contact details.</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PO auto-linked to GRN for three-way matching: PO - GRN - Invoice.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Cutting Machine Integration</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Integration with the existing cutting machine software to eliminate manual data entry between production and store.</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Import job data from cutting machine software (CSV / API / database access - to be assessed).</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Map job output to: Material consumed (auto-deduct from inventory), Finished pieces (update production records), Offcuts / Scrap generated (auto-create scrap entry).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One-click sync or scheduled automatic import.</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Exception handling for data mismatches with manual override.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0ECD6E5-3D57-A0D3-9000-C6B778D80C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4B6107-11BD-B60A-F012-323347A351BA}"/>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853054C1-AAB6-AAD5-231B-C002F4503BF3}"/>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4DDA2102-A09E-D562-8078-75FAAFD04DA8}"/>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a:extLst>
              <a:ext uri="{FF2B5EF4-FFF2-40B4-BE49-F238E27FC236}">
                <a16:creationId xmlns:a16="http://schemas.microsoft.com/office/drawing/2014/main" id="{0F8E210A-7DA7-AB13-397D-1E5A1E2C0CC3}"/>
              </a:ext>
            </a:extLst>
          </p:cNvPr>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a:extLst>
              <a:ext uri="{FF2B5EF4-FFF2-40B4-BE49-F238E27FC236}">
                <a16:creationId xmlns:a16="http://schemas.microsoft.com/office/drawing/2014/main" id="{90DAE89B-B30A-00DF-5298-A374722CC73F}"/>
              </a:ext>
            </a:extLst>
          </p:cNvPr>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Production and Quality Management Module</a:t>
            </a:r>
            <a:endParaRPr lang="en-US" sz="1600" dirty="0"/>
          </a:p>
        </p:txBody>
      </p:sp>
      <p:sp>
        <p:nvSpPr>
          <p:cNvPr id="7" name="Shape 5">
            <a:extLst>
              <a:ext uri="{FF2B5EF4-FFF2-40B4-BE49-F238E27FC236}">
                <a16:creationId xmlns:a16="http://schemas.microsoft.com/office/drawing/2014/main" id="{7CA713BB-5601-9937-906A-B044799E8222}"/>
              </a:ext>
            </a:extLst>
          </p:cNvPr>
          <p:cNvSpPr/>
          <p:nvPr/>
        </p:nvSpPr>
        <p:spPr>
          <a:xfrm>
            <a:off x="320040" y="1371600"/>
            <a:ext cx="8503920" cy="365759"/>
          </a:xfrm>
          <a:prstGeom prst="rect">
            <a:avLst/>
          </a:prstGeom>
          <a:solidFill>
            <a:srgbClr val="E0F2FE"/>
          </a:solidFill>
          <a:ln w="12700">
            <a:solidFill>
              <a:srgbClr val="BAE6FD"/>
            </a:solidFill>
            <a:prstDash val="solid"/>
          </a:ln>
        </p:spPr>
        <p:txBody>
          <a:bodyPr/>
          <a:lstStyle/>
          <a:p>
            <a:endParaRPr lang="en-US" dirty="0"/>
          </a:p>
        </p:txBody>
      </p:sp>
      <p:sp>
        <p:nvSpPr>
          <p:cNvPr id="8" name="Text 6">
            <a:extLst>
              <a:ext uri="{FF2B5EF4-FFF2-40B4-BE49-F238E27FC236}">
                <a16:creationId xmlns:a16="http://schemas.microsoft.com/office/drawing/2014/main" id="{487A8D53-8C0A-25B2-4D71-04740D067F16}"/>
              </a:ext>
            </a:extLst>
          </p:cNvPr>
          <p:cNvSpPr/>
          <p:nvPr/>
        </p:nvSpPr>
        <p:spPr>
          <a:xfrm>
            <a:off x="457200" y="1323092"/>
            <a:ext cx="8321040" cy="426203"/>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Brings visibility to quality status at every level from inbound to outbound to field performance</a:t>
            </a:r>
            <a:endParaRPr lang="en-US" sz="1300" dirty="0"/>
          </a:p>
        </p:txBody>
      </p:sp>
      <p:sp>
        <p:nvSpPr>
          <p:cNvPr id="9" name="Shape 7">
            <a:extLst>
              <a:ext uri="{FF2B5EF4-FFF2-40B4-BE49-F238E27FC236}">
                <a16:creationId xmlns:a16="http://schemas.microsoft.com/office/drawing/2014/main" id="{DE275928-43B9-0B7D-C8F6-4E87A477115B}"/>
              </a:ext>
            </a:extLst>
          </p:cNvPr>
          <p:cNvSpPr/>
          <p:nvPr/>
        </p:nvSpPr>
        <p:spPr>
          <a:xfrm>
            <a:off x="320040" y="1749295"/>
            <a:ext cx="8503920" cy="426203"/>
          </a:xfrm>
          <a:prstGeom prst="rect">
            <a:avLst/>
          </a:prstGeom>
          <a:solidFill>
            <a:srgbClr val="1B4F72"/>
          </a:solidFill>
          <a:ln w="12700">
            <a:solidFill>
              <a:srgbClr val="1B4F72"/>
            </a:solidFill>
            <a:prstDash val="solid"/>
          </a:ln>
        </p:spPr>
        <p:txBody>
          <a:bodyPr/>
          <a:lstStyle/>
          <a:p>
            <a:endParaRPr lang="en-US" dirty="0"/>
          </a:p>
        </p:txBody>
      </p:sp>
      <p:sp>
        <p:nvSpPr>
          <p:cNvPr id="10" name="Text 8">
            <a:extLst>
              <a:ext uri="{FF2B5EF4-FFF2-40B4-BE49-F238E27FC236}">
                <a16:creationId xmlns:a16="http://schemas.microsoft.com/office/drawing/2014/main" id="{9BD0C12F-F1CC-D235-3105-8D21ACC390DF}"/>
              </a:ext>
            </a:extLst>
          </p:cNvPr>
          <p:cNvSpPr/>
          <p:nvPr/>
        </p:nvSpPr>
        <p:spPr>
          <a:xfrm>
            <a:off x="457200" y="1785867"/>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a:extLst>
              <a:ext uri="{FF2B5EF4-FFF2-40B4-BE49-F238E27FC236}">
                <a16:creationId xmlns:a16="http://schemas.microsoft.com/office/drawing/2014/main" id="{37075C73-688B-068F-92D0-D07807089452}"/>
              </a:ext>
            </a:extLst>
          </p:cNvPr>
          <p:cNvSpPr/>
          <p:nvPr/>
        </p:nvSpPr>
        <p:spPr>
          <a:xfrm>
            <a:off x="320040" y="2175498"/>
            <a:ext cx="8458200" cy="2803021"/>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allows recording of sample inspection data at Inbound. Whether it confirms as per the certified quality certificate accompanying the batch</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allows batch management for traceability</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allows to record defects which are standardised and updated</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allows to record quality parameters as measured</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enables sample inspection in inter stage operations for certification purposes</a:t>
            </a:r>
            <a:endParaRPr lang="en-US" sz="1250" dirty="0"/>
          </a:p>
          <a:p>
            <a:pPr marL="342900" indent="-342900">
              <a:spcAft>
                <a:spcPts val="400"/>
              </a:spcAft>
              <a:buSzPct val="100000"/>
              <a:buFontTx/>
              <a:buChar char="•"/>
            </a:pPr>
            <a:r>
              <a:rPr lang="en-US" sz="1250" dirty="0">
                <a:solidFill>
                  <a:srgbClr val="1A252F"/>
                </a:solidFill>
                <a:latin typeface="Calibri" pitchFamily="34" charset="0"/>
                <a:ea typeface="Calibri" pitchFamily="34" charset="-122"/>
                <a:cs typeface="Calibri" pitchFamily="34" charset="-120"/>
              </a:rPr>
              <a:t>It allows to record quality parameters and defects at various w.i.p. processes; operation stage wise. For this software gives master data creation of shops, process routings and stage wise recording of production with quality data. </a:t>
            </a:r>
          </a:p>
          <a:p>
            <a:pPr marL="342900" indent="-342900">
              <a:spcAft>
                <a:spcPts val="400"/>
              </a:spcAft>
              <a:buSzPct val="100000"/>
              <a:buFontTx/>
              <a:buChar char="•"/>
            </a:pPr>
            <a:r>
              <a:rPr lang="en-US" sz="1250" dirty="0">
                <a:solidFill>
                  <a:srgbClr val="1A252F"/>
                </a:solidFill>
                <a:latin typeface="Calibri" pitchFamily="34" charset="0"/>
                <a:cs typeface="Calibri" pitchFamily="34" charset="-120"/>
              </a:rPr>
              <a:t>The Materials and labors will be consumed against all maintenance orders. BoM will govern the consumption at every production stage</a:t>
            </a:r>
            <a:endParaRPr lang="en-US" sz="1250" dirty="0"/>
          </a:p>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It allows stock management as per the status of goods, in inspection, accepted or rejected at all defined production stages</a:t>
            </a:r>
          </a:p>
          <a:p>
            <a:pPr marL="342900" indent="-342900">
              <a:spcAft>
                <a:spcPts val="400"/>
              </a:spcAft>
              <a:buSzPct val="100000"/>
              <a:buChar char="•"/>
            </a:pPr>
            <a:r>
              <a:rPr lang="en-US" sz="1250" dirty="0">
                <a:solidFill>
                  <a:srgbClr val="1A252F"/>
                </a:solidFill>
                <a:latin typeface="Calibri" pitchFamily="34" charset="0"/>
                <a:cs typeface="Calibri" pitchFamily="34" charset="-120"/>
              </a:rPr>
              <a:t>It also allows to record rejection defects for customer return cases</a:t>
            </a:r>
            <a:endParaRPr lang="en-US" sz="1250" dirty="0"/>
          </a:p>
        </p:txBody>
      </p:sp>
    </p:spTree>
    <p:extLst>
      <p:ext uri="{BB962C8B-B14F-4D97-AF65-F5344CB8AC3E}">
        <p14:creationId xmlns:p14="http://schemas.microsoft.com/office/powerpoint/2010/main" val="4112992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50292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Plant maintenance Module</a:t>
            </a:r>
            <a:endParaRPr lang="en-US" sz="1600" dirty="0"/>
          </a:p>
        </p:txBody>
      </p:sp>
      <p:sp>
        <p:nvSpPr>
          <p:cNvPr id="7" name="Shape 5"/>
          <p:cNvSpPr/>
          <p:nvPr/>
        </p:nvSpPr>
        <p:spPr>
          <a:xfrm>
            <a:off x="320040" y="1371600"/>
            <a:ext cx="8503920" cy="566928"/>
          </a:xfrm>
          <a:prstGeom prst="rect">
            <a:avLst/>
          </a:prstGeom>
          <a:solidFill>
            <a:srgbClr val="E0F2FE"/>
          </a:solidFill>
          <a:ln w="12700">
            <a:solidFill>
              <a:srgbClr val="BAE6FD"/>
            </a:solidFill>
            <a:prstDash val="solid"/>
          </a:ln>
        </p:spPr>
        <p:txBody>
          <a:bodyPr/>
          <a:lstStyle/>
          <a:p>
            <a:endParaRPr lang="en-US" dirty="0"/>
          </a:p>
        </p:txBody>
      </p:sp>
      <p:sp>
        <p:nvSpPr>
          <p:cNvPr id="8" name="Text 6"/>
          <p:cNvSpPr/>
          <p:nvPr/>
        </p:nvSpPr>
        <p:spPr>
          <a:xfrm>
            <a:off x="457200" y="1371600"/>
            <a:ext cx="8321040" cy="566928"/>
          </a:xfrm>
          <a:prstGeom prst="rect">
            <a:avLst/>
          </a:prstGeom>
          <a:noFill/>
          <a:ln/>
        </p:spPr>
        <p:txBody>
          <a:bodyPr wrap="square" rtlCol="0" anchor="ctr"/>
          <a:lstStyle/>
          <a:p>
            <a:pPr marL="0" indent="0">
              <a:buNone/>
            </a:pPr>
            <a:r>
              <a:rPr lang="en-US" sz="1300" i="1" dirty="0">
                <a:solidFill>
                  <a:srgbClr val="0C4A6E"/>
                </a:solidFill>
                <a:latin typeface="Calibri" pitchFamily="34" charset="0"/>
                <a:ea typeface="Calibri" pitchFamily="34" charset="-122"/>
                <a:cs typeface="Calibri" pitchFamily="34" charset="-120"/>
              </a:rPr>
              <a:t>Tracks every critical equipment and its current health conditions in terms of breakdowns, and maintenance  </a:t>
            </a:r>
            <a:endParaRPr lang="en-US" sz="1300" dirty="0"/>
          </a:p>
        </p:txBody>
      </p:sp>
      <p:sp>
        <p:nvSpPr>
          <p:cNvPr id="9" name="Shape 7"/>
          <p:cNvSpPr/>
          <p:nvPr/>
        </p:nvSpPr>
        <p:spPr>
          <a:xfrm>
            <a:off x="320040" y="2029968"/>
            <a:ext cx="8503920" cy="365760"/>
          </a:xfrm>
          <a:prstGeom prst="rect">
            <a:avLst/>
          </a:prstGeom>
          <a:solidFill>
            <a:srgbClr val="1B4F72"/>
          </a:solidFill>
          <a:ln w="12700">
            <a:solidFill>
              <a:srgbClr val="1B4F72"/>
            </a:solidFill>
            <a:prstDash val="solid"/>
          </a:ln>
        </p:spPr>
        <p:txBody>
          <a:bodyPr/>
          <a:lstStyle/>
          <a:p>
            <a:endParaRPr lang="en-US" dirty="0"/>
          </a:p>
        </p:txBody>
      </p:sp>
      <p:sp>
        <p:nvSpPr>
          <p:cNvPr id="10" name="Text 8"/>
          <p:cNvSpPr/>
          <p:nvPr/>
        </p:nvSpPr>
        <p:spPr>
          <a:xfrm>
            <a:off x="457200" y="2029968"/>
            <a:ext cx="8321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Features:</a:t>
            </a:r>
            <a:endParaRPr lang="en-US" sz="1300" dirty="0"/>
          </a:p>
        </p:txBody>
      </p:sp>
      <p:sp>
        <p:nvSpPr>
          <p:cNvPr id="11" name="Text 9"/>
          <p:cNvSpPr/>
          <p:nvPr/>
        </p:nvSpPr>
        <p:spPr>
          <a:xfrm>
            <a:off x="411480" y="2487168"/>
            <a:ext cx="8366760" cy="2514600"/>
          </a:xfrm>
          <a:prstGeom prst="rect">
            <a:avLst/>
          </a:prstGeom>
          <a:noFill/>
          <a:ln/>
        </p:spPr>
        <p:txBody>
          <a:bodyPr wrap="square" rtlCol="0" anchor="t"/>
          <a:lstStyle/>
          <a:p>
            <a:pPr marL="342900" indent="-342900">
              <a:spcAft>
                <a:spcPts val="400"/>
              </a:spcAft>
              <a:buSzPct val="100000"/>
              <a:buChar char="•"/>
            </a:pPr>
            <a:r>
              <a:rPr lang="en-US" sz="1250" dirty="0">
                <a:solidFill>
                  <a:srgbClr val="1A252F"/>
                </a:solidFill>
                <a:latin typeface="Calibri" pitchFamily="34" charset="0"/>
                <a:ea typeface="Calibri" pitchFamily="34" charset="-122"/>
                <a:cs typeface="Calibri" pitchFamily="34" charset="-120"/>
              </a:rPr>
              <a:t>Software allows to uniquely define every equipment, category wise and type wise and specification wise</a:t>
            </a:r>
          </a:p>
          <a:p>
            <a:pPr marL="342900" indent="-342900">
              <a:spcAft>
                <a:spcPts val="400"/>
              </a:spcAft>
              <a:buSzPct val="100000"/>
              <a:buChar char="•"/>
            </a:pPr>
            <a:r>
              <a:rPr lang="en-US" sz="1250" dirty="0">
                <a:solidFill>
                  <a:srgbClr val="1A252F"/>
                </a:solidFill>
                <a:latin typeface="Calibri" pitchFamily="34" charset="0"/>
                <a:cs typeface="Calibri" pitchFamily="34" charset="-120"/>
              </a:rPr>
              <a:t>Equipment coding follows a defined method of creating the code in a given structure</a:t>
            </a:r>
          </a:p>
          <a:p>
            <a:pPr marL="342900" indent="-342900">
              <a:spcAft>
                <a:spcPts val="400"/>
              </a:spcAft>
              <a:buSzPct val="100000"/>
              <a:buChar char="•"/>
            </a:pPr>
            <a:r>
              <a:rPr lang="en-US" sz="1250" dirty="0">
                <a:solidFill>
                  <a:srgbClr val="1A252F"/>
                </a:solidFill>
                <a:latin typeface="Calibri" pitchFamily="34" charset="0"/>
                <a:cs typeface="Calibri" pitchFamily="34" charset="-120"/>
              </a:rPr>
              <a:t>Equipment locations are also defined in the system as location codes, uniquely defined through a defined methodology</a:t>
            </a:r>
          </a:p>
          <a:p>
            <a:pPr marL="342900" indent="-342900">
              <a:spcAft>
                <a:spcPts val="400"/>
              </a:spcAft>
              <a:buSzPct val="100000"/>
              <a:buChar char="•"/>
            </a:pPr>
            <a:r>
              <a:rPr lang="en-US" sz="1250" dirty="0">
                <a:solidFill>
                  <a:srgbClr val="1A252F"/>
                </a:solidFill>
                <a:latin typeface="Calibri" pitchFamily="34" charset="0"/>
                <a:cs typeface="Calibri" pitchFamily="34" charset="-120"/>
              </a:rPr>
              <a:t>Each equipment will have equipment BoM to define all critical materials (spares ) that go into it</a:t>
            </a:r>
          </a:p>
          <a:p>
            <a:pPr marL="342900" indent="-342900">
              <a:spcAft>
                <a:spcPts val="400"/>
              </a:spcAft>
              <a:buSzPct val="100000"/>
              <a:buChar char="•"/>
            </a:pPr>
            <a:r>
              <a:rPr lang="en-US" sz="1250" dirty="0">
                <a:solidFill>
                  <a:srgbClr val="1A252F"/>
                </a:solidFill>
                <a:latin typeface="Calibri" pitchFamily="34" charset="0"/>
                <a:cs typeface="Calibri" pitchFamily="34" charset="-120"/>
              </a:rPr>
              <a:t>The spares are categorized into A B C categories</a:t>
            </a:r>
          </a:p>
          <a:p>
            <a:pPr marL="342900" indent="-342900">
              <a:spcAft>
                <a:spcPts val="400"/>
              </a:spcAft>
              <a:buSzPct val="100000"/>
              <a:buChar char="•"/>
            </a:pPr>
            <a:r>
              <a:rPr lang="en-US" sz="1250" dirty="0">
                <a:solidFill>
                  <a:srgbClr val="1A252F"/>
                </a:solidFill>
                <a:latin typeface="Calibri" pitchFamily="34" charset="0"/>
                <a:cs typeface="Calibri" pitchFamily="34" charset="-120"/>
              </a:rPr>
              <a:t>The spares are planned in advance for storing. Some high value materials are planned to be procured on need basis</a:t>
            </a:r>
          </a:p>
          <a:p>
            <a:pPr marL="342900" indent="-342900">
              <a:spcAft>
                <a:spcPts val="400"/>
              </a:spcAft>
              <a:buSzPct val="100000"/>
              <a:buChar char="•"/>
            </a:pPr>
            <a:r>
              <a:rPr lang="en-US" sz="1250" dirty="0">
                <a:solidFill>
                  <a:srgbClr val="1A252F"/>
                </a:solidFill>
                <a:latin typeface="Calibri" pitchFamily="34" charset="0"/>
                <a:cs typeface="Calibri" pitchFamily="34" charset="-120"/>
              </a:rPr>
              <a:t>The frequency of time based maintenance can be defined in the system in the frequencies of daily, weekly, monthly, quarterly and yearly categories</a:t>
            </a:r>
          </a:p>
          <a:p>
            <a:pPr marL="342900" indent="-342900">
              <a:spcAft>
                <a:spcPts val="400"/>
              </a:spcAft>
              <a:buSzPct val="100000"/>
              <a:buChar char="•"/>
            </a:pPr>
            <a:r>
              <a:rPr lang="en-US" sz="1250" dirty="0">
                <a:solidFill>
                  <a:srgbClr val="1A252F"/>
                </a:solidFill>
                <a:latin typeface="Calibri" pitchFamily="34" charset="0"/>
                <a:cs typeface="Calibri" pitchFamily="34" charset="-120"/>
              </a:rPr>
              <a:t>The check sheets will be available in the system for adherence to the required practice</a:t>
            </a:r>
          </a:p>
          <a:p>
            <a:pPr marL="342900" indent="-342900">
              <a:spcAft>
                <a:spcPts val="400"/>
              </a:spcAft>
              <a:buSzPct val="100000"/>
              <a:buChar char="•"/>
            </a:pPr>
            <a:r>
              <a:rPr lang="en-US" sz="1250" dirty="0">
                <a:solidFill>
                  <a:srgbClr val="1A252F"/>
                </a:solidFill>
                <a:latin typeface="Calibri" pitchFamily="34" charset="0"/>
                <a:cs typeface="Calibri" pitchFamily="34" charset="-120"/>
              </a:rPr>
              <a:t>The spares and labors will be consumed against all maintenance orders</a:t>
            </a:r>
          </a:p>
          <a:p>
            <a:pPr marL="342900" indent="-342900">
              <a:spcAft>
                <a:spcPts val="400"/>
              </a:spcAft>
              <a:buSzPct val="100000"/>
              <a:buChar char="•"/>
            </a:pP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Detailed Module Breakdown</a:t>
            </a:r>
            <a:endParaRPr lang="en-US" sz="2200" dirty="0"/>
          </a:p>
        </p:txBody>
      </p:sp>
      <p:sp>
        <p:nvSpPr>
          <p:cNvPr id="5" name="Shape 3"/>
          <p:cNvSpPr/>
          <p:nvPr/>
        </p:nvSpPr>
        <p:spPr>
          <a:xfrm>
            <a:off x="320040" y="777240"/>
            <a:ext cx="8503920" cy="457200"/>
          </a:xfrm>
          <a:prstGeom prst="rect">
            <a:avLst/>
          </a:prstGeom>
          <a:solidFill>
            <a:srgbClr val="0E7490"/>
          </a:solidFill>
          <a:ln w="12700">
            <a:solidFill>
              <a:srgbClr val="0E749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Text 4"/>
          <p:cNvSpPr/>
          <p:nvPr/>
        </p:nvSpPr>
        <p:spPr>
          <a:xfrm>
            <a:off x="457200" y="777240"/>
            <a:ext cx="832104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Reports &amp; Dashboard</a:t>
            </a:r>
            <a:endParaRPr lang="en-US" sz="1600" dirty="0"/>
          </a:p>
        </p:txBody>
      </p:sp>
      <p:sp>
        <p:nvSpPr>
          <p:cNvPr id="7" name="Shape 5"/>
          <p:cNvSpPr/>
          <p:nvPr/>
        </p:nvSpPr>
        <p:spPr>
          <a:xfrm>
            <a:off x="320040" y="1325880"/>
            <a:ext cx="4160520" cy="3639312"/>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Shape 6"/>
          <p:cNvSpPr/>
          <p:nvPr/>
        </p:nvSpPr>
        <p:spPr>
          <a:xfrm>
            <a:off x="320040" y="1325880"/>
            <a:ext cx="4160520" cy="384048"/>
          </a:xfrm>
          <a:prstGeom prst="rect">
            <a:avLst/>
          </a:prstGeom>
          <a:solidFill>
            <a:srgbClr val="1B4F72"/>
          </a:solidFill>
          <a:ln w="12700">
            <a:solidFill>
              <a:srgbClr val="1B4F72"/>
            </a:solidFill>
            <a:prstDash val="solid"/>
          </a:ln>
        </p:spPr>
        <p:txBody>
          <a:bodyPr/>
          <a:lstStyle/>
          <a:p>
            <a:endParaRPr lang="en-US" dirty="0"/>
          </a:p>
        </p:txBody>
      </p:sp>
      <p:sp>
        <p:nvSpPr>
          <p:cNvPr id="9" name="Text 7"/>
          <p:cNvSpPr/>
          <p:nvPr/>
        </p:nvSpPr>
        <p:spPr>
          <a:xfrm>
            <a:off x="457200" y="1325880"/>
            <a:ext cx="388620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Operational Reports</a:t>
            </a:r>
            <a:endParaRPr lang="en-US" sz="1300" dirty="0"/>
          </a:p>
        </p:txBody>
      </p:sp>
      <p:sp>
        <p:nvSpPr>
          <p:cNvPr id="10" name="Text 8"/>
          <p:cNvSpPr/>
          <p:nvPr/>
        </p:nvSpPr>
        <p:spPr>
          <a:xfrm>
            <a:off x="457200" y="1783080"/>
            <a:ext cx="3886200" cy="3063240"/>
          </a:xfrm>
          <a:prstGeom prst="rect">
            <a:avLst/>
          </a:prstGeom>
          <a:noFill/>
          <a:ln/>
        </p:spPr>
        <p:txBody>
          <a:bodyPr wrap="square" rtlCol="0" anchor="t"/>
          <a:lstStyle/>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Real-time Stock Register</a:t>
            </a:r>
            <a:endParaRPr lang="en-US" sz="1250" dirty="0"/>
          </a:p>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Pending POs and Deliveries</a:t>
            </a:r>
            <a:endParaRPr lang="en-US" sz="1250" dirty="0"/>
          </a:p>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Scrap Generated vs. Reused vs. Disposed</a:t>
            </a:r>
            <a:endParaRPr lang="en-US" sz="1250" dirty="0"/>
          </a:p>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Material Consumption per Job / Project</a:t>
            </a:r>
            <a:endParaRPr lang="en-US" sz="1250" dirty="0"/>
          </a:p>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GRN Tracking Report</a:t>
            </a:r>
            <a:endParaRPr lang="en-US" sz="1250" dirty="0"/>
          </a:p>
          <a:p>
            <a:pPr marL="342900" indent="-342900">
              <a:spcAft>
                <a:spcPts val="600"/>
              </a:spcAft>
              <a:buSzPct val="100000"/>
              <a:buChar char="•"/>
            </a:pPr>
            <a:r>
              <a:rPr lang="en-US" sz="1250" dirty="0">
                <a:solidFill>
                  <a:srgbClr val="1A252F"/>
                </a:solidFill>
                <a:latin typeface="Calibri" pitchFamily="34" charset="0"/>
                <a:ea typeface="Calibri" pitchFamily="34" charset="-122"/>
                <a:cs typeface="Calibri" pitchFamily="34" charset="-120"/>
              </a:rPr>
              <a:t>Slow-Moving / Dead Stock Report</a:t>
            </a:r>
            <a:endParaRPr lang="en-US" sz="1250" dirty="0"/>
          </a:p>
        </p:txBody>
      </p:sp>
      <p:sp>
        <p:nvSpPr>
          <p:cNvPr id="11" name="Shape 9"/>
          <p:cNvSpPr/>
          <p:nvPr/>
        </p:nvSpPr>
        <p:spPr>
          <a:xfrm>
            <a:off x="4663440" y="1325880"/>
            <a:ext cx="4160520" cy="3639312"/>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12" name="Shape 10"/>
          <p:cNvSpPr/>
          <p:nvPr/>
        </p:nvSpPr>
        <p:spPr>
          <a:xfrm>
            <a:off x="4663440" y="1325880"/>
            <a:ext cx="4160520" cy="384048"/>
          </a:xfrm>
          <a:prstGeom prst="rect">
            <a:avLst/>
          </a:prstGeom>
          <a:solidFill>
            <a:srgbClr val="0B2545"/>
          </a:solidFill>
          <a:ln w="12700">
            <a:solidFill>
              <a:srgbClr val="0B2545"/>
            </a:solidFill>
            <a:prstDash val="solid"/>
          </a:ln>
        </p:spPr>
        <p:txBody>
          <a:bodyPr/>
          <a:lstStyle/>
          <a:p>
            <a:endParaRPr lang="en-US" dirty="0"/>
          </a:p>
        </p:txBody>
      </p:sp>
      <p:sp>
        <p:nvSpPr>
          <p:cNvPr id="13" name="Text 11"/>
          <p:cNvSpPr/>
          <p:nvPr/>
        </p:nvSpPr>
        <p:spPr>
          <a:xfrm>
            <a:off x="4800600" y="1325880"/>
            <a:ext cx="388620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Management Dashboard</a:t>
            </a:r>
            <a:endParaRPr lang="en-US" sz="1300" dirty="0"/>
          </a:p>
        </p:txBody>
      </p:sp>
      <p:sp>
        <p:nvSpPr>
          <p:cNvPr id="14" name="Text 12"/>
          <p:cNvSpPr/>
          <p:nvPr/>
        </p:nvSpPr>
        <p:spPr>
          <a:xfrm>
            <a:off x="4800600" y="1783080"/>
            <a:ext cx="3886200" cy="3063240"/>
          </a:xfrm>
          <a:prstGeom prst="rect">
            <a:avLst/>
          </a:prstGeom>
          <a:noFill/>
          <a:ln/>
        </p:spPr>
        <p:txBody>
          <a:bodyPr wrap="square" rtlCol="0" anchor="t"/>
          <a:lstStyle/>
          <a:p>
            <a:pPr marL="342900" indent="-342900">
              <a:spcAft>
                <a:spcPts val="800"/>
              </a:spcAft>
              <a:buSzPct val="100000"/>
              <a:buChar char="•"/>
            </a:pPr>
            <a:r>
              <a:rPr lang="en-US" sz="1250" dirty="0">
                <a:solidFill>
                  <a:srgbClr val="1A252F"/>
                </a:solidFill>
                <a:latin typeface="Calibri" pitchFamily="34" charset="0"/>
                <a:ea typeface="Calibri" pitchFamily="34" charset="-122"/>
                <a:cs typeface="Calibri" pitchFamily="34" charset="-120"/>
              </a:rPr>
              <a:t>Live Inventory Value</a:t>
            </a:r>
            <a:endParaRPr lang="en-US" sz="1250" dirty="0"/>
          </a:p>
          <a:p>
            <a:pPr marL="342900" indent="-342900">
              <a:spcAft>
                <a:spcPts val="800"/>
              </a:spcAft>
              <a:buSzPct val="100000"/>
              <a:buChar char="•"/>
            </a:pPr>
            <a:r>
              <a:rPr lang="en-US" sz="1250" dirty="0">
                <a:solidFill>
                  <a:srgbClr val="1A252F"/>
                </a:solidFill>
                <a:latin typeface="Calibri" pitchFamily="34" charset="0"/>
                <a:ea typeface="Calibri" pitchFamily="34" charset="-122"/>
                <a:cs typeface="Calibri" pitchFamily="34" charset="-120"/>
              </a:rPr>
              <a:t>Procurement Spend vs. Budget</a:t>
            </a:r>
            <a:endParaRPr lang="en-US" sz="1250" dirty="0"/>
          </a:p>
          <a:p>
            <a:pPr marL="342900" indent="-342900">
              <a:spcAft>
                <a:spcPts val="800"/>
              </a:spcAft>
              <a:buSzPct val="100000"/>
              <a:buChar char="•"/>
            </a:pPr>
            <a:r>
              <a:rPr lang="en-US" sz="1250" dirty="0">
                <a:solidFill>
                  <a:srgbClr val="1A252F"/>
                </a:solidFill>
                <a:latin typeface="Calibri" pitchFamily="34" charset="0"/>
                <a:ea typeface="Calibri" pitchFamily="34" charset="-122"/>
                <a:cs typeface="Calibri" pitchFamily="34" charset="-120"/>
              </a:rPr>
              <a:t>Scrap Recovery Value (Month-wise)</a:t>
            </a:r>
            <a:endParaRPr lang="en-US" sz="1250" dirty="0"/>
          </a:p>
          <a:p>
            <a:pPr marL="342900" indent="-342900">
              <a:spcAft>
                <a:spcPts val="800"/>
              </a:spcAft>
              <a:buSzPct val="100000"/>
              <a:buChar char="•"/>
            </a:pPr>
            <a:r>
              <a:rPr lang="en-US" sz="1250" dirty="0">
                <a:solidFill>
                  <a:srgbClr val="1A252F"/>
                </a:solidFill>
                <a:latin typeface="Calibri" pitchFamily="34" charset="0"/>
                <a:ea typeface="Calibri" pitchFamily="34" charset="-122"/>
                <a:cs typeface="Calibri" pitchFamily="34" charset="-120"/>
              </a:rPr>
              <a:t>Vendor Performance Summary</a:t>
            </a:r>
            <a:endParaRPr lang="en-US" sz="1250" dirty="0"/>
          </a:p>
          <a:p>
            <a:pPr marL="342900" indent="-342900">
              <a:spcAft>
                <a:spcPts val="800"/>
              </a:spcAft>
              <a:buSzPct val="100000"/>
              <a:buChar char="•"/>
            </a:pPr>
            <a:r>
              <a:rPr lang="en-US" sz="1250" dirty="0">
                <a:solidFill>
                  <a:srgbClr val="1A252F"/>
                </a:solidFill>
                <a:latin typeface="Calibri" pitchFamily="34" charset="0"/>
                <a:ea typeface="Calibri" pitchFamily="34" charset="-122"/>
                <a:cs typeface="Calibri" pitchFamily="34" charset="-120"/>
              </a:rPr>
              <a:t>Critical Stock Alerts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End-to-End Process Flow</a:t>
            </a:r>
            <a:endParaRPr lang="en-US" sz="2200" dirty="0"/>
          </a:p>
        </p:txBody>
      </p:sp>
      <p:sp>
        <p:nvSpPr>
          <p:cNvPr id="5" name="Shape 3"/>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Inbound Process Flow (Proposed)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243584"/>
          <a:ext cx="8503920" cy="3511296"/>
        </p:xfrm>
        <a:graphic>
          <a:graphicData uri="http://schemas.openxmlformats.org/drawingml/2006/table">
            <a:tbl>
              <a:tblPr/>
              <a:tblGrid>
                <a:gridCol w="9144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438912">
                <a:tc>
                  <a:txBody>
                    <a:bodyPr/>
                    <a:lstStyle/>
                    <a:p>
                      <a:pPr marL="0" indent="0" algn="ctr">
                        <a:buNone/>
                      </a:pPr>
                      <a:r>
                        <a:rPr lang="en-US" sz="1200" b="1" dirty="0">
                          <a:solidFill>
                            <a:srgbClr val="FFFFFF"/>
                          </a:solidFill>
                        </a:rPr>
                        <a:t>Step</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Process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38912">
                <a:tc>
                  <a:txBody>
                    <a:bodyPr/>
                    <a:lstStyle/>
                    <a:p>
                      <a:pPr marL="0" indent="0" algn="ctr">
                        <a:buNone/>
                      </a:pPr>
                      <a:r>
                        <a:rPr lang="en-US" sz="1200" b="1" dirty="0">
                          <a:solidFill>
                            <a:srgbClr val="FFFFFF"/>
                          </a:solidFill>
                        </a:rPr>
                        <a:t>1</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Purchase Requisition raised digitally by Store / Production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200" b="1" dirty="0">
                          <a:solidFill>
                            <a:srgbClr val="FFFFFF"/>
                          </a:solidFill>
                        </a:rPr>
                        <a:t>2</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PR approved by authorized person (configurable approval matrix)</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438912">
                <a:tc>
                  <a:txBody>
                    <a:bodyPr/>
                    <a:lstStyle/>
                    <a:p>
                      <a:pPr marL="0" indent="0" algn="ctr">
                        <a:buNone/>
                      </a:pPr>
                      <a:r>
                        <a:rPr lang="en-US" sz="1200" b="1" dirty="0">
                          <a:solidFill>
                            <a:srgbClr val="FFFFFF"/>
                          </a:solidFill>
                        </a:rPr>
                        <a:t>3</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RFQ sent to vendors; comparative quotes evaluated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lang="en-US" sz="1200" b="1" dirty="0">
                          <a:solidFill>
                            <a:srgbClr val="FFFFFF"/>
                          </a:solidFill>
                        </a:rPr>
                        <a:t>4</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Purchase Order issued to selected vendor</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438912">
                <a:tc>
                  <a:txBody>
                    <a:bodyPr/>
                    <a:lstStyle/>
                    <a:p>
                      <a:pPr marL="0" indent="0" algn="ctr">
                        <a:buNone/>
                      </a:pPr>
                      <a:r>
                        <a:rPr lang="en-US" sz="1200" b="1" dirty="0">
                          <a:solidFill>
                            <a:srgbClr val="FFFFFF"/>
                          </a:solidFill>
                        </a:rPr>
                        <a:t>5</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Vendor delivers material; Store team creates GRN in system</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ctr">
                        <a:buNone/>
                      </a:pPr>
                      <a:r>
                        <a:rPr lang="en-US" sz="1200" b="1" dirty="0">
                          <a:solidFill>
                            <a:srgbClr val="FFFFFF"/>
                          </a:solidFill>
                        </a:rPr>
                        <a:t>6</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QC inspection completed; GRN confirmed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438912">
                <a:tc>
                  <a:txBody>
                    <a:bodyPr/>
                    <a:lstStyle/>
                    <a:p>
                      <a:pPr marL="0" indent="0" algn="ctr">
                        <a:buNone/>
                      </a:pPr>
                      <a:r>
                        <a:rPr lang="en-US" sz="1200" b="1" dirty="0">
                          <a:solidFill>
                            <a:srgbClr val="FFFFFF"/>
                          </a:solidFill>
                        </a:rPr>
                        <a:t>7</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Inventory updated in real-time with new stock</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End-to-End Process Flow</a:t>
            </a:r>
            <a:endParaRPr lang="en-US" sz="2200" dirty="0"/>
          </a:p>
        </p:txBody>
      </p:sp>
      <p:sp>
        <p:nvSpPr>
          <p:cNvPr id="5" name="Shape 3"/>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Scrap / Offcut Process Flow</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243584"/>
          <a:ext cx="8503920" cy="3511296"/>
        </p:xfrm>
        <a:graphic>
          <a:graphicData uri="http://schemas.openxmlformats.org/drawingml/2006/table">
            <a:tbl>
              <a:tblPr/>
              <a:tblGrid>
                <a:gridCol w="9144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438912">
                <a:tc>
                  <a:txBody>
                    <a:bodyPr/>
                    <a:lstStyle/>
                    <a:p>
                      <a:pPr marL="0" indent="0" algn="ctr">
                        <a:buNone/>
                      </a:pPr>
                      <a:r>
                        <a:rPr lang="en-US" sz="1200" b="1" dirty="0">
                          <a:solidFill>
                            <a:srgbClr val="FFFFFF"/>
                          </a:solidFill>
                        </a:rPr>
                        <a:t>Step</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Process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38912">
                <a:tc>
                  <a:txBody>
                    <a:bodyPr/>
                    <a:lstStyle/>
                    <a:p>
                      <a:pPr marL="0" indent="0" algn="ctr">
                        <a:buNone/>
                      </a:pPr>
                      <a:r>
                        <a:rPr lang="en-US" sz="1200" b="1" dirty="0">
                          <a:solidFill>
                            <a:srgbClr val="FFFFFF"/>
                          </a:solidFill>
                        </a:rPr>
                        <a:t>1</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Cutting job executed; cutting machine software records output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200" b="1" dirty="0">
                          <a:solidFill>
                            <a:srgbClr val="FFFFFF"/>
                          </a:solidFill>
                        </a:rPr>
                        <a:t>2</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System imports cutting job data (material used, pieces, offcuts)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438912">
                <a:tc>
                  <a:txBody>
                    <a:bodyPr/>
                    <a:lstStyle/>
                    <a:p>
                      <a:pPr marL="0" indent="0" algn="ctr">
                        <a:buNone/>
                      </a:pPr>
                      <a:r>
                        <a:rPr lang="en-US" sz="1200" b="1" dirty="0">
                          <a:solidFill>
                            <a:srgbClr val="FFFFFF"/>
                          </a:solidFill>
                        </a:rPr>
                        <a:t>3</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Inventory auto-deducted for material consumed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lang="en-US" sz="1200" b="1" dirty="0">
                          <a:solidFill>
                            <a:srgbClr val="FFFFFF"/>
                          </a:solidFill>
                        </a:rPr>
                        <a:t>4</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Offcuts / scrap automatically created in scrap register</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438912">
                <a:tc>
                  <a:txBody>
                    <a:bodyPr/>
                    <a:lstStyle/>
                    <a:p>
                      <a:pPr marL="0" indent="0" algn="ctr">
                        <a:buNone/>
                      </a:pPr>
                      <a:r>
                        <a:rPr lang="en-US" sz="1200" b="1" dirty="0">
                          <a:solidFill>
                            <a:srgbClr val="FFFFFF"/>
                          </a:solidFill>
                        </a:rPr>
                        <a:t>5</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Scrap classified: Reusable / Saleable / Disposable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ctr">
                        <a:buNone/>
                      </a:pPr>
                      <a:r>
                        <a:rPr lang="en-US" sz="1200" b="1" dirty="0">
                          <a:solidFill>
                            <a:srgbClr val="FFFFFF"/>
                          </a:solidFill>
                        </a:rPr>
                        <a:t>6</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Before new purchase: System checks reusable scrap availability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438912">
                <a:tc>
                  <a:txBody>
                    <a:bodyPr/>
                    <a:lstStyle/>
                    <a:p>
                      <a:pPr marL="0" indent="0" algn="ctr">
                        <a:buNone/>
                      </a:pPr>
                      <a:r>
                        <a:rPr lang="en-US" sz="1200" b="1" dirty="0">
                          <a:solidFill>
                            <a:srgbClr val="FFFFFF"/>
                          </a:solidFill>
                        </a:rPr>
                        <a:t>7</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Scrap issued to job OR disposed / sold with financial entry.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26EBD0FF-F9AB-F026-0802-383797F821E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9A3150-AD13-E595-84A4-F3F3CAAA1601}"/>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C27402A3-3BA9-6E23-8EA1-D0D54164948C}"/>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B412FCC4-05FC-6966-91A6-144655070B96}"/>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End-to-End Process Flow</a:t>
            </a:r>
            <a:endParaRPr lang="en-US" sz="2200" dirty="0"/>
          </a:p>
        </p:txBody>
      </p:sp>
      <p:sp>
        <p:nvSpPr>
          <p:cNvPr id="5" name="Shape 3">
            <a:extLst>
              <a:ext uri="{FF2B5EF4-FFF2-40B4-BE49-F238E27FC236}">
                <a16:creationId xmlns:a16="http://schemas.microsoft.com/office/drawing/2014/main" id="{C8F9FF73-A00B-9B83-1CEC-0488018FE3FF}"/>
              </a:ext>
            </a:extLst>
          </p:cNvPr>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03A38136-6EE6-7D8C-4850-C77B59EFE69B}"/>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Production and Quality management Flow</a:t>
            </a:r>
            <a:endParaRPr lang="en-US" sz="1400" dirty="0"/>
          </a:p>
        </p:txBody>
      </p:sp>
      <p:graphicFrame>
        <p:nvGraphicFramePr>
          <p:cNvPr id="21" name="Table 0">
            <a:extLst>
              <a:ext uri="{FF2B5EF4-FFF2-40B4-BE49-F238E27FC236}">
                <a16:creationId xmlns:a16="http://schemas.microsoft.com/office/drawing/2014/main" id="{586206C2-52E4-D1AF-FFFC-8CBD9042B5A9}"/>
              </a:ext>
            </a:extLst>
          </p:cNvPr>
          <p:cNvGraphicFramePr>
            <a:graphicFrameLocks noGrp="1"/>
          </p:cNvGraphicFramePr>
          <p:nvPr>
            <p:extLst>
              <p:ext uri="{D42A27DB-BD31-4B8C-83A1-F6EECF244321}">
                <p14:modId xmlns:p14="http://schemas.microsoft.com/office/powerpoint/2010/main" val="3929046449"/>
              </p:ext>
            </p:extLst>
          </p:nvPr>
        </p:nvGraphicFramePr>
        <p:xfrm>
          <a:off x="320040" y="1243584"/>
          <a:ext cx="8503920" cy="3108960"/>
        </p:xfrm>
        <a:graphic>
          <a:graphicData uri="http://schemas.openxmlformats.org/drawingml/2006/table">
            <a:tbl>
              <a:tblPr/>
              <a:tblGrid>
                <a:gridCol w="9144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245089">
                <a:tc>
                  <a:txBody>
                    <a:bodyPr/>
                    <a:lstStyle/>
                    <a:p>
                      <a:pPr marL="0" indent="0" algn="ctr">
                        <a:buNone/>
                      </a:pPr>
                      <a:r>
                        <a:rPr lang="en-US" sz="1200" b="1" dirty="0">
                          <a:solidFill>
                            <a:srgbClr val="FFFFFF"/>
                          </a:solidFill>
                        </a:rPr>
                        <a:t>Step</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Process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45089">
                <a:tc>
                  <a:txBody>
                    <a:bodyPr/>
                    <a:lstStyle/>
                    <a:p>
                      <a:pPr marL="0" indent="0" algn="ctr">
                        <a:buNone/>
                      </a:pPr>
                      <a:r>
                        <a:rPr lang="en-US" sz="1200" b="1" dirty="0">
                          <a:solidFill>
                            <a:srgbClr val="FFFFFF"/>
                          </a:solidFill>
                        </a:rPr>
                        <a:t>1</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Inbound invoice will be attached to a sample inspection lot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5089">
                <a:tc>
                  <a:txBody>
                    <a:bodyPr/>
                    <a:lstStyle/>
                    <a:p>
                      <a:pPr marL="0" indent="0" algn="ctr">
                        <a:buNone/>
                      </a:pPr>
                      <a:r>
                        <a:rPr lang="en-US" sz="1200" b="1" dirty="0">
                          <a:solidFill>
                            <a:srgbClr val="FFFFFF"/>
                          </a:solidFill>
                        </a:rPr>
                        <a:t>2</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Against sample inspection lot, the quality characteristics of each part will be recorded for a sample of 5 parts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245089">
                <a:tc>
                  <a:txBody>
                    <a:bodyPr/>
                    <a:lstStyle/>
                    <a:p>
                      <a:pPr marL="0" indent="0" algn="ctr">
                        <a:buNone/>
                      </a:pPr>
                      <a:r>
                        <a:rPr lang="en-US" sz="1200" b="1" dirty="0">
                          <a:solidFill>
                            <a:srgbClr val="FFFFFF"/>
                          </a:solidFill>
                        </a:rPr>
                        <a:t>3</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In case of rejection , 100% inspection will be done and rejections will be recorded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5089">
                <a:tc>
                  <a:txBody>
                    <a:bodyPr/>
                    <a:lstStyle/>
                    <a:p>
                      <a:pPr marL="0" indent="0" algn="ctr">
                        <a:buNone/>
                      </a:pPr>
                      <a:r>
                        <a:rPr lang="en-US" sz="1200" b="1" dirty="0">
                          <a:solidFill>
                            <a:srgbClr val="FFFFFF"/>
                          </a:solidFill>
                        </a:rPr>
                        <a:t>4</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Rejected parts will be moved to rejection stores after GRN of the invoice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325948">
                <a:tc>
                  <a:txBody>
                    <a:bodyPr/>
                    <a:lstStyle/>
                    <a:p>
                      <a:pPr marL="0" indent="0" algn="ctr">
                        <a:buNone/>
                      </a:pPr>
                      <a:r>
                        <a:rPr lang="en-US" sz="1200" b="1" dirty="0">
                          <a:solidFill>
                            <a:srgbClr val="FFFFFF"/>
                          </a:solidFill>
                        </a:rPr>
                        <a:t>5</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The production order will be created for a batch with each order attached to a intermediate production stage in the routing ( previously defined )</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5948">
                <a:tc>
                  <a:txBody>
                    <a:bodyPr/>
                    <a:lstStyle/>
                    <a:p>
                      <a:pPr marL="0" indent="0" algn="ctr">
                        <a:buNone/>
                      </a:pPr>
                      <a:r>
                        <a:rPr lang="en-US" sz="1200" b="1" dirty="0">
                          <a:solidFill>
                            <a:srgbClr val="FFFFFF"/>
                          </a:solidFill>
                        </a:rPr>
                        <a:t>6</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System provided production order completion with quantity produced, quantity rejected with rejection details. BoM will be attached to the production order for consumption of materials. Routing will enable </a:t>
                      </a:r>
                      <a:r>
                        <a:rPr lang="en-US" sz="1200" dirty="0" err="1">
                          <a:solidFill>
                            <a:srgbClr val="1A252F"/>
                          </a:solidFill>
                        </a:rPr>
                        <a:t>labour</a:t>
                      </a:r>
                      <a:r>
                        <a:rPr lang="en-US" sz="1200" dirty="0">
                          <a:solidFill>
                            <a:srgbClr val="1A252F"/>
                          </a:solidFill>
                        </a:rPr>
                        <a:t> consumption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245089">
                <a:tc>
                  <a:txBody>
                    <a:bodyPr/>
                    <a:lstStyle/>
                    <a:p>
                      <a:pPr marL="0" indent="0" algn="ctr">
                        <a:buNone/>
                      </a:pPr>
                      <a:r>
                        <a:rPr lang="en-US" sz="1200" b="1" dirty="0">
                          <a:solidFill>
                            <a:srgbClr val="FFFFFF"/>
                          </a:solidFill>
                        </a:rPr>
                        <a:t>7</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Finished goods will be demarcated between accepted parts, rejected parts and parts under inspection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5089">
                <a:tc>
                  <a:txBody>
                    <a:bodyPr/>
                    <a:lstStyle/>
                    <a:p>
                      <a:pPr marL="0" indent="0" algn="ctr">
                        <a:buNone/>
                      </a:pPr>
                      <a:r>
                        <a:rPr lang="en-US" sz="1200" b="1" dirty="0">
                          <a:solidFill>
                            <a:schemeClr val="bg1"/>
                          </a:solidFill>
                        </a:rPr>
                        <a:t>8</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t>All returned items will be in-warded with rejection accounting into that</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4095456938"/>
                  </a:ext>
                </a:extLst>
              </a:tr>
              <a:tr h="2450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rPr>
                        <a:t>9</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t>Provide various production </a:t>
                      </a:r>
                      <a:r>
                        <a:rPr lang="en-US" sz="1200"/>
                        <a:t>and quality reports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4137249198"/>
                  </a:ext>
                </a:extLst>
              </a:tr>
            </a:tbl>
          </a:graphicData>
        </a:graphic>
      </p:graphicFrame>
    </p:spTree>
    <p:extLst>
      <p:ext uri="{BB962C8B-B14F-4D97-AF65-F5344CB8AC3E}">
        <p14:creationId xmlns:p14="http://schemas.microsoft.com/office/powerpoint/2010/main" val="364895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BD49708-22F2-C99E-D605-886343DBBE6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661EEF-BDA6-23B8-0D4D-A8E021E64481}"/>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a:extLst>
              <a:ext uri="{FF2B5EF4-FFF2-40B4-BE49-F238E27FC236}">
                <a16:creationId xmlns:a16="http://schemas.microsoft.com/office/drawing/2014/main" id="{0516923A-495D-B245-B243-323FDC75D493}"/>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a:extLst>
              <a:ext uri="{FF2B5EF4-FFF2-40B4-BE49-F238E27FC236}">
                <a16:creationId xmlns:a16="http://schemas.microsoft.com/office/drawing/2014/main" id="{6E2FC6E9-AC10-8095-9E33-7C7B1F833B8D}"/>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End-to-End Process Flow</a:t>
            </a:r>
            <a:endParaRPr lang="en-US" sz="2200" dirty="0"/>
          </a:p>
        </p:txBody>
      </p:sp>
      <p:sp>
        <p:nvSpPr>
          <p:cNvPr id="5" name="Shape 3">
            <a:extLst>
              <a:ext uri="{FF2B5EF4-FFF2-40B4-BE49-F238E27FC236}">
                <a16:creationId xmlns:a16="http://schemas.microsoft.com/office/drawing/2014/main" id="{6FCD74C8-BF80-6696-6E42-CB638D3023FD}"/>
              </a:ext>
            </a:extLst>
          </p:cNvPr>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A620949C-4024-844A-2237-F71D6ACC247B}"/>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Plant maintenance Process Flow</a:t>
            </a:r>
            <a:endParaRPr lang="en-US" sz="1400" dirty="0"/>
          </a:p>
        </p:txBody>
      </p:sp>
      <p:graphicFrame>
        <p:nvGraphicFramePr>
          <p:cNvPr id="21" name="Table 0">
            <a:extLst>
              <a:ext uri="{FF2B5EF4-FFF2-40B4-BE49-F238E27FC236}">
                <a16:creationId xmlns:a16="http://schemas.microsoft.com/office/drawing/2014/main" id="{90F96DB6-6F17-20E2-51FD-B51D9B95C755}"/>
              </a:ext>
            </a:extLst>
          </p:cNvPr>
          <p:cNvGraphicFramePr>
            <a:graphicFrameLocks noGrp="1"/>
          </p:cNvGraphicFramePr>
          <p:nvPr>
            <p:extLst>
              <p:ext uri="{D42A27DB-BD31-4B8C-83A1-F6EECF244321}">
                <p14:modId xmlns:p14="http://schemas.microsoft.com/office/powerpoint/2010/main" val="1393556229"/>
              </p:ext>
            </p:extLst>
          </p:nvPr>
        </p:nvGraphicFramePr>
        <p:xfrm>
          <a:off x="320040" y="1243584"/>
          <a:ext cx="8503920" cy="2476008"/>
        </p:xfrm>
        <a:graphic>
          <a:graphicData uri="http://schemas.openxmlformats.org/drawingml/2006/table">
            <a:tbl>
              <a:tblPr/>
              <a:tblGrid>
                <a:gridCol w="9144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275112">
                <a:tc>
                  <a:txBody>
                    <a:bodyPr/>
                    <a:lstStyle/>
                    <a:p>
                      <a:pPr marL="0" indent="0" algn="ctr">
                        <a:buNone/>
                      </a:pPr>
                      <a:r>
                        <a:rPr lang="en-US" sz="1200" b="1" dirty="0">
                          <a:solidFill>
                            <a:srgbClr val="FFFFFF"/>
                          </a:solidFill>
                        </a:rPr>
                        <a:t>Step</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Process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75112">
                <a:tc>
                  <a:txBody>
                    <a:bodyPr/>
                    <a:lstStyle/>
                    <a:p>
                      <a:pPr marL="0" indent="0" algn="ctr">
                        <a:buNone/>
                      </a:pPr>
                      <a:r>
                        <a:rPr lang="en-US" sz="1200" b="1" dirty="0">
                          <a:solidFill>
                            <a:srgbClr val="FFFFFF"/>
                          </a:solidFill>
                        </a:rPr>
                        <a:t>1</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Create Equipment number in the system</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5112">
                <a:tc>
                  <a:txBody>
                    <a:bodyPr/>
                    <a:lstStyle/>
                    <a:p>
                      <a:pPr marL="0" indent="0" algn="ctr">
                        <a:buNone/>
                      </a:pPr>
                      <a:r>
                        <a:rPr lang="en-US" sz="1200" b="1" dirty="0">
                          <a:solidFill>
                            <a:srgbClr val="FFFFFF"/>
                          </a:solidFill>
                        </a:rPr>
                        <a:t>2</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Create Location number in the system</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275112">
                <a:tc>
                  <a:txBody>
                    <a:bodyPr/>
                    <a:lstStyle/>
                    <a:p>
                      <a:pPr marL="0" indent="0" algn="ctr">
                        <a:buNone/>
                      </a:pPr>
                      <a:r>
                        <a:rPr lang="en-US" sz="1200" b="1" dirty="0">
                          <a:solidFill>
                            <a:srgbClr val="FFFFFF"/>
                          </a:solidFill>
                        </a:rPr>
                        <a:t>3</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t>Attach equipment to location</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5112">
                <a:tc>
                  <a:txBody>
                    <a:bodyPr/>
                    <a:lstStyle/>
                    <a:p>
                      <a:pPr marL="0" indent="0" algn="ctr">
                        <a:buNone/>
                      </a:pPr>
                      <a:r>
                        <a:rPr lang="en-US" sz="1200" b="1" dirty="0">
                          <a:solidFill>
                            <a:srgbClr val="FFFFFF"/>
                          </a:solidFill>
                        </a:rPr>
                        <a:t>4</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Create Equipment BoM with spares (material code created earlier )</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275112">
                <a:tc>
                  <a:txBody>
                    <a:bodyPr/>
                    <a:lstStyle/>
                    <a:p>
                      <a:pPr marL="0" indent="0" algn="ctr">
                        <a:buNone/>
                      </a:pPr>
                      <a:r>
                        <a:rPr lang="en-US" sz="1200" b="1" dirty="0">
                          <a:solidFill>
                            <a:srgbClr val="FFFFFF"/>
                          </a:solidFill>
                        </a:rPr>
                        <a:t>5</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Enable Breakdown Maintenance order and Preventive Maintenance order creation in the system</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5112">
                <a:tc>
                  <a:txBody>
                    <a:bodyPr/>
                    <a:lstStyle/>
                    <a:p>
                      <a:pPr marL="0" indent="0" algn="ctr">
                        <a:buNone/>
                      </a:pPr>
                      <a:r>
                        <a:rPr lang="en-US" sz="1200" b="1" dirty="0">
                          <a:solidFill>
                            <a:srgbClr val="FFFFFF"/>
                          </a:solidFill>
                        </a:rPr>
                        <a:t>6</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Enable closure of orders with allocation of materials and </a:t>
                      </a:r>
                      <a:r>
                        <a:rPr lang="en-US" sz="1200" dirty="0" err="1">
                          <a:solidFill>
                            <a:srgbClr val="1A252F"/>
                          </a:solidFill>
                        </a:rPr>
                        <a:t>labour</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275112">
                <a:tc>
                  <a:txBody>
                    <a:bodyPr/>
                    <a:lstStyle/>
                    <a:p>
                      <a:pPr marL="0" indent="0" algn="ctr">
                        <a:buNone/>
                      </a:pPr>
                      <a:r>
                        <a:rPr lang="en-US" sz="1200" b="1" dirty="0">
                          <a:solidFill>
                            <a:srgbClr val="FFFFFF"/>
                          </a:solidFill>
                        </a:rPr>
                        <a:t>7</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Attach maintenance check sheet each type of preventive maintenance and provide transactions for fulfillment of that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5112">
                <a:tc>
                  <a:txBody>
                    <a:bodyPr/>
                    <a:lstStyle/>
                    <a:p>
                      <a:pPr marL="0" indent="0" algn="ctr">
                        <a:buNone/>
                      </a:pPr>
                      <a:r>
                        <a:rPr lang="en-US" sz="1200" b="1" dirty="0">
                          <a:solidFill>
                            <a:schemeClr val="bg1"/>
                          </a:solidFill>
                        </a:rPr>
                        <a:t>8</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t>Provide various maintenance reports</a:t>
                      </a: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3381615810"/>
                  </a:ext>
                </a:extLst>
              </a:tr>
            </a:tbl>
          </a:graphicData>
        </a:graphic>
      </p:graphicFrame>
    </p:spTree>
    <p:extLst>
      <p:ext uri="{BB962C8B-B14F-4D97-AF65-F5344CB8AC3E}">
        <p14:creationId xmlns:p14="http://schemas.microsoft.com/office/powerpoint/2010/main" val="2793364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Expected Benefits</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804672"/>
          <a:ext cx="8503920" cy="3657600"/>
        </p:xfrm>
        <a:graphic>
          <a:graphicData uri="http://schemas.openxmlformats.org/drawingml/2006/table">
            <a:tbl>
              <a:tblPr/>
              <a:tblGrid>
                <a:gridCol w="22860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rPr>
                        <a:t>Area</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Expected Benefit</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FFFFFF"/>
                          </a:solidFill>
                        </a:rPr>
                        <a:t>Inventory Accuracy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Real-time stock data; eliminate manual register errors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FFFFFF"/>
                          </a:solidFill>
                        </a:rPr>
                        <a:t>Scrap Recovery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Track and reuse offcuts before procuring fresh material - cost savings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FFFFFF"/>
                          </a:solidFill>
                        </a:rPr>
                        <a:t>Procurement Efficiency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Structured PR-PO-GRN cycle; reduce maverick buying</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FFFFFF"/>
                          </a:solidFill>
                        </a:rPr>
                        <a:t>Cost Visibility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Material cost per job / project becomes trackable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FFFFFF"/>
                          </a:solidFill>
                        </a:rPr>
                        <a:t>Compliance &amp; Audit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Complete digital trail for every material movement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FFFFFF"/>
                          </a:solidFill>
                        </a:rPr>
                        <a:t>Management Reporting</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Real-time dashboards replacing manual Excel reports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457200">
                <a:tc>
                  <a:txBody>
                    <a:bodyPr/>
                    <a:lstStyle/>
                    <a:p>
                      <a:pPr marL="0" indent="0">
                        <a:buNone/>
                      </a:pPr>
                      <a:r>
                        <a:rPr lang="en-US" sz="1200" b="1" dirty="0">
                          <a:solidFill>
                            <a:srgbClr val="FFFFFF"/>
                          </a:solidFill>
                        </a:rPr>
                        <a:t>Vendor Management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Centralized vendor performance and PO tracking</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Assumptions &amp; Prerequisites</a:t>
            </a:r>
            <a:endParaRPr lang="en-US" sz="2200" dirty="0"/>
          </a:p>
        </p:txBody>
      </p:sp>
      <p:sp>
        <p:nvSpPr>
          <p:cNvPr id="5" name="Shape 3"/>
          <p:cNvSpPr/>
          <p:nvPr/>
        </p:nvSpPr>
        <p:spPr>
          <a:xfrm>
            <a:off x="320040" y="777240"/>
            <a:ext cx="8503920" cy="4206240"/>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475488" y="1014984"/>
            <a:ext cx="384048" cy="384048"/>
          </a:xfrm>
          <a:prstGeom prst="ellipse">
            <a:avLst/>
          </a:prstGeom>
          <a:solidFill>
            <a:srgbClr val="D35400"/>
          </a:solidFill>
          <a:ln w="12700">
            <a:solidFill>
              <a:srgbClr val="D35400"/>
            </a:solidFill>
            <a:prstDash val="solid"/>
          </a:ln>
        </p:spPr>
        <p:txBody>
          <a:bodyPr/>
          <a:lstStyle/>
          <a:p>
            <a:endParaRPr lang="en-US" dirty="0"/>
          </a:p>
        </p:txBody>
      </p:sp>
      <p:sp>
        <p:nvSpPr>
          <p:cNvPr id="7" name="Text 5"/>
          <p:cNvSpPr/>
          <p:nvPr/>
        </p:nvSpPr>
        <p:spPr>
          <a:xfrm>
            <a:off x="475488" y="101498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05840" y="960120"/>
            <a:ext cx="7635240" cy="566928"/>
          </a:xfrm>
          <a:prstGeom prst="rect">
            <a:avLst/>
          </a:prstGeom>
          <a:noFill/>
          <a:ln/>
        </p:spPr>
        <p:txBody>
          <a:bodyPr wrap="square" rtlCol="0" anchor="ctr"/>
          <a:lstStyle/>
          <a:p>
            <a:pPr marL="0" indent="0">
              <a:buNone/>
            </a:pPr>
            <a:r>
              <a:rPr lang="en-US" sz="1300" dirty="0">
                <a:solidFill>
                  <a:srgbClr val="1A252F"/>
                </a:solidFill>
                <a:latin typeface="Calibri" pitchFamily="34" charset="0"/>
                <a:ea typeface="Calibri" pitchFamily="34" charset="-122"/>
                <a:cs typeface="Calibri" pitchFamily="34" charset="-120"/>
              </a:rPr>
              <a:t>CPPL will continue using Tally for accounting; the system will integrate but not replace Tally.</a:t>
            </a:r>
            <a:endParaRPr lang="en-US" sz="1300" dirty="0"/>
          </a:p>
        </p:txBody>
      </p:sp>
      <p:sp>
        <p:nvSpPr>
          <p:cNvPr id="9" name="Shape 7"/>
          <p:cNvSpPr/>
          <p:nvPr/>
        </p:nvSpPr>
        <p:spPr>
          <a:xfrm>
            <a:off x="475488" y="1764792"/>
            <a:ext cx="384048" cy="384048"/>
          </a:xfrm>
          <a:prstGeom prst="ellipse">
            <a:avLst/>
          </a:prstGeom>
          <a:solidFill>
            <a:srgbClr val="D35400"/>
          </a:solidFill>
          <a:ln w="12700">
            <a:solidFill>
              <a:srgbClr val="D35400"/>
            </a:solidFill>
            <a:prstDash val="solid"/>
          </a:ln>
        </p:spPr>
        <p:txBody>
          <a:bodyPr/>
          <a:lstStyle/>
          <a:p>
            <a:endParaRPr lang="en-US" dirty="0"/>
          </a:p>
        </p:txBody>
      </p:sp>
      <p:sp>
        <p:nvSpPr>
          <p:cNvPr id="10" name="Text 8"/>
          <p:cNvSpPr/>
          <p:nvPr/>
        </p:nvSpPr>
        <p:spPr>
          <a:xfrm>
            <a:off x="475488" y="176479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05840" y="1709928"/>
            <a:ext cx="7635240" cy="566928"/>
          </a:xfrm>
          <a:prstGeom prst="rect">
            <a:avLst/>
          </a:prstGeom>
          <a:noFill/>
          <a:ln/>
        </p:spPr>
        <p:txBody>
          <a:bodyPr wrap="square" rtlCol="0" anchor="ctr"/>
          <a:lstStyle/>
          <a:p>
            <a:pPr marL="0" indent="0">
              <a:buNone/>
            </a:pPr>
            <a:r>
              <a:rPr lang="en-US" sz="1300" dirty="0">
                <a:solidFill>
                  <a:srgbClr val="1A252F"/>
                </a:solidFill>
                <a:latin typeface="Calibri" pitchFamily="34" charset="0"/>
                <a:ea typeface="Calibri" pitchFamily="34" charset="-122"/>
                <a:cs typeface="Calibri" pitchFamily="34" charset="-120"/>
              </a:rPr>
              <a:t>The cutting machine software has an export capability (CSV, Excel, or API) - technical assessment required.</a:t>
            </a:r>
            <a:endParaRPr lang="en-US" sz="1300" dirty="0"/>
          </a:p>
        </p:txBody>
      </p:sp>
      <p:sp>
        <p:nvSpPr>
          <p:cNvPr id="12" name="Shape 10"/>
          <p:cNvSpPr/>
          <p:nvPr/>
        </p:nvSpPr>
        <p:spPr>
          <a:xfrm>
            <a:off x="475488" y="2514600"/>
            <a:ext cx="384048" cy="384048"/>
          </a:xfrm>
          <a:prstGeom prst="ellipse">
            <a:avLst/>
          </a:prstGeom>
          <a:solidFill>
            <a:srgbClr val="D35400"/>
          </a:solidFill>
          <a:ln w="12700">
            <a:solidFill>
              <a:srgbClr val="D35400"/>
            </a:solidFill>
            <a:prstDash val="solid"/>
          </a:ln>
        </p:spPr>
        <p:txBody>
          <a:bodyPr/>
          <a:lstStyle/>
          <a:p>
            <a:endParaRPr lang="en-US" dirty="0"/>
          </a:p>
        </p:txBody>
      </p:sp>
      <p:sp>
        <p:nvSpPr>
          <p:cNvPr id="13" name="Text 11"/>
          <p:cNvSpPr/>
          <p:nvPr/>
        </p:nvSpPr>
        <p:spPr>
          <a:xfrm>
            <a:off x="475488" y="25146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05840" y="2459736"/>
            <a:ext cx="7635240" cy="566928"/>
          </a:xfrm>
          <a:prstGeom prst="rect">
            <a:avLst/>
          </a:prstGeom>
          <a:noFill/>
          <a:ln/>
        </p:spPr>
        <p:txBody>
          <a:bodyPr wrap="square" rtlCol="0" anchor="ctr"/>
          <a:lstStyle/>
          <a:p>
            <a:pPr marL="0" indent="0">
              <a:buNone/>
            </a:pPr>
            <a:r>
              <a:rPr lang="en-US" sz="1300" dirty="0">
                <a:solidFill>
                  <a:srgbClr val="1A252F"/>
                </a:solidFill>
                <a:latin typeface="Calibri" pitchFamily="34" charset="0"/>
                <a:ea typeface="Calibri" pitchFamily="34" charset="-122"/>
                <a:cs typeface="Calibri" pitchFamily="34" charset="-120"/>
              </a:rPr>
              <a:t>Item master and vendor master data will be provided by CPPL for migration / setup.</a:t>
            </a:r>
            <a:endParaRPr lang="en-US" sz="1300" dirty="0"/>
          </a:p>
        </p:txBody>
      </p:sp>
      <p:sp>
        <p:nvSpPr>
          <p:cNvPr id="15" name="Shape 13"/>
          <p:cNvSpPr/>
          <p:nvPr/>
        </p:nvSpPr>
        <p:spPr>
          <a:xfrm>
            <a:off x="475488" y="3264408"/>
            <a:ext cx="384048" cy="384048"/>
          </a:xfrm>
          <a:prstGeom prst="ellipse">
            <a:avLst/>
          </a:prstGeom>
          <a:solidFill>
            <a:srgbClr val="D35400"/>
          </a:solidFill>
          <a:ln w="12700">
            <a:solidFill>
              <a:srgbClr val="D35400"/>
            </a:solidFill>
            <a:prstDash val="solid"/>
          </a:ln>
        </p:spPr>
        <p:txBody>
          <a:bodyPr/>
          <a:lstStyle/>
          <a:p>
            <a:endParaRPr lang="en-US" dirty="0"/>
          </a:p>
        </p:txBody>
      </p:sp>
      <p:sp>
        <p:nvSpPr>
          <p:cNvPr id="16" name="Text 14"/>
          <p:cNvSpPr/>
          <p:nvPr/>
        </p:nvSpPr>
        <p:spPr>
          <a:xfrm>
            <a:off x="475488" y="326440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005840" y="3209544"/>
            <a:ext cx="7635240" cy="566928"/>
          </a:xfrm>
          <a:prstGeom prst="rect">
            <a:avLst/>
          </a:prstGeom>
          <a:noFill/>
          <a:ln/>
        </p:spPr>
        <p:txBody>
          <a:bodyPr wrap="square" rtlCol="0" anchor="ctr"/>
          <a:lstStyle/>
          <a:p>
            <a:pPr marL="0" indent="0">
              <a:buNone/>
            </a:pPr>
            <a:r>
              <a:rPr lang="en-US" sz="1300" dirty="0">
                <a:solidFill>
                  <a:srgbClr val="1A252F"/>
                </a:solidFill>
                <a:latin typeface="Calibri" pitchFamily="34" charset="0"/>
                <a:ea typeface="Calibri" pitchFamily="34" charset="-122"/>
                <a:cs typeface="Calibri" pitchFamily="34" charset="-120"/>
              </a:rPr>
              <a:t>Internet connectivity is available at CPPL's store and office for web-based access.</a:t>
            </a:r>
            <a:endParaRPr lang="en-US" sz="1300" dirty="0"/>
          </a:p>
        </p:txBody>
      </p:sp>
      <p:sp>
        <p:nvSpPr>
          <p:cNvPr id="18" name="Shape 16"/>
          <p:cNvSpPr/>
          <p:nvPr/>
        </p:nvSpPr>
        <p:spPr>
          <a:xfrm>
            <a:off x="475488" y="4014216"/>
            <a:ext cx="384048" cy="384048"/>
          </a:xfrm>
          <a:prstGeom prst="ellipse">
            <a:avLst/>
          </a:prstGeom>
          <a:solidFill>
            <a:srgbClr val="D35400"/>
          </a:solidFill>
          <a:ln w="12700">
            <a:solidFill>
              <a:srgbClr val="D35400"/>
            </a:solidFill>
            <a:prstDash val="solid"/>
          </a:ln>
        </p:spPr>
        <p:txBody>
          <a:bodyPr/>
          <a:lstStyle/>
          <a:p>
            <a:endParaRPr lang="en-US" dirty="0"/>
          </a:p>
        </p:txBody>
      </p:sp>
      <p:sp>
        <p:nvSpPr>
          <p:cNvPr id="19" name="Text 17"/>
          <p:cNvSpPr/>
          <p:nvPr/>
        </p:nvSpPr>
        <p:spPr>
          <a:xfrm>
            <a:off x="475488" y="401421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005840" y="3959352"/>
            <a:ext cx="7635240" cy="566928"/>
          </a:xfrm>
          <a:prstGeom prst="rect">
            <a:avLst/>
          </a:prstGeom>
          <a:noFill/>
          <a:ln/>
        </p:spPr>
        <p:txBody>
          <a:bodyPr wrap="square" rtlCol="0" anchor="ctr"/>
          <a:lstStyle/>
          <a:p>
            <a:pPr marL="0" indent="0">
              <a:buNone/>
            </a:pPr>
            <a:r>
              <a:rPr lang="en-US" sz="1300" dirty="0">
                <a:solidFill>
                  <a:srgbClr val="1A252F"/>
                </a:solidFill>
                <a:latin typeface="Calibri" pitchFamily="34" charset="0"/>
                <a:ea typeface="Calibri" pitchFamily="34" charset="-122"/>
                <a:cs typeface="Calibri" pitchFamily="34" charset="-120"/>
              </a:rPr>
              <a:t>A dedicated point-of-contact from CPPL will be available for UAT (User Acceptance Testing).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Stages</a:t>
            </a:r>
            <a:endParaRPr lang="en-US" sz="2200" dirty="0"/>
          </a:p>
        </p:txBody>
      </p:sp>
      <p:sp>
        <p:nvSpPr>
          <p:cNvPr id="5" name="Shape 3"/>
          <p:cNvSpPr/>
          <p:nvPr/>
        </p:nvSpPr>
        <p:spPr>
          <a:xfrm>
            <a:off x="320040" y="804672"/>
            <a:ext cx="4160520" cy="4133088"/>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6" name="Shape 4"/>
          <p:cNvSpPr/>
          <p:nvPr/>
        </p:nvSpPr>
        <p:spPr>
          <a:xfrm>
            <a:off x="320040" y="804672"/>
            <a:ext cx="4160520" cy="384048"/>
          </a:xfrm>
          <a:prstGeom prst="rect">
            <a:avLst/>
          </a:prstGeom>
          <a:solidFill>
            <a:srgbClr val="1B4F72"/>
          </a:solidFill>
          <a:ln w="12700">
            <a:solidFill>
              <a:srgbClr val="1B4F72"/>
            </a:solidFill>
            <a:prstDash val="solid"/>
          </a:ln>
        </p:spPr>
        <p:txBody>
          <a:bodyPr/>
          <a:lstStyle/>
          <a:p>
            <a:endParaRPr lang="en-US" dirty="0"/>
          </a:p>
        </p:txBody>
      </p:sp>
      <p:sp>
        <p:nvSpPr>
          <p:cNvPr id="7" name="Text 5"/>
          <p:cNvSpPr/>
          <p:nvPr/>
        </p:nvSpPr>
        <p:spPr>
          <a:xfrm>
            <a:off x="457200" y="804672"/>
            <a:ext cx="388620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Pre-Engagement</a:t>
            </a:r>
            <a:endParaRPr lang="en-US" sz="1300" dirty="0"/>
          </a:p>
        </p:txBody>
      </p:sp>
      <p:sp>
        <p:nvSpPr>
          <p:cNvPr id="8" name="Shape 6"/>
          <p:cNvSpPr/>
          <p:nvPr/>
        </p:nvSpPr>
        <p:spPr>
          <a:xfrm>
            <a:off x="475488" y="1280160"/>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9" name="Text 7"/>
          <p:cNvSpPr/>
          <p:nvPr/>
        </p:nvSpPr>
        <p:spPr>
          <a:xfrm>
            <a:off x="475488" y="1280160"/>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868680" y="1280160"/>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Presentation on approach</a:t>
            </a:r>
            <a:endParaRPr lang="en-US" sz="1250" dirty="0"/>
          </a:p>
        </p:txBody>
      </p:sp>
      <p:sp>
        <p:nvSpPr>
          <p:cNvPr id="11" name="Shape 9"/>
          <p:cNvSpPr/>
          <p:nvPr/>
        </p:nvSpPr>
        <p:spPr>
          <a:xfrm>
            <a:off x="475488" y="1755648"/>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12" name="Text 10"/>
          <p:cNvSpPr/>
          <p:nvPr/>
        </p:nvSpPr>
        <p:spPr>
          <a:xfrm>
            <a:off x="475488" y="1755648"/>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868680" y="1755648"/>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Agreed SOW</a:t>
            </a:r>
            <a:endParaRPr lang="en-US" sz="1250" dirty="0"/>
          </a:p>
        </p:txBody>
      </p:sp>
      <p:sp>
        <p:nvSpPr>
          <p:cNvPr id="14" name="Shape 12"/>
          <p:cNvSpPr/>
          <p:nvPr/>
        </p:nvSpPr>
        <p:spPr>
          <a:xfrm>
            <a:off x="475488" y="2231136"/>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15" name="Text 13"/>
          <p:cNvSpPr/>
          <p:nvPr/>
        </p:nvSpPr>
        <p:spPr>
          <a:xfrm>
            <a:off x="475488" y="2231136"/>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68680" y="2231136"/>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Proposal from TransExcel &amp; Web Team</a:t>
            </a:r>
            <a:endParaRPr lang="en-US" sz="1250" dirty="0"/>
          </a:p>
        </p:txBody>
      </p:sp>
      <p:sp>
        <p:nvSpPr>
          <p:cNvPr id="17" name="Shape 15"/>
          <p:cNvSpPr/>
          <p:nvPr/>
        </p:nvSpPr>
        <p:spPr>
          <a:xfrm>
            <a:off x="475488" y="2706624"/>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18" name="Text 16"/>
          <p:cNvSpPr/>
          <p:nvPr/>
        </p:nvSpPr>
        <p:spPr>
          <a:xfrm>
            <a:off x="475488" y="2706624"/>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868680" y="2706624"/>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Vendor Onboarding &amp; NDA</a:t>
            </a:r>
            <a:endParaRPr lang="en-US" sz="1250" dirty="0"/>
          </a:p>
        </p:txBody>
      </p:sp>
      <p:sp>
        <p:nvSpPr>
          <p:cNvPr id="20" name="Shape 18"/>
          <p:cNvSpPr/>
          <p:nvPr/>
        </p:nvSpPr>
        <p:spPr>
          <a:xfrm>
            <a:off x="475488" y="3182112"/>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21" name="Text 19"/>
          <p:cNvSpPr/>
          <p:nvPr/>
        </p:nvSpPr>
        <p:spPr>
          <a:xfrm>
            <a:off x="475488" y="3182112"/>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868680" y="3182112"/>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PO release</a:t>
            </a:r>
            <a:endParaRPr lang="en-US" sz="1250" dirty="0"/>
          </a:p>
        </p:txBody>
      </p:sp>
      <p:sp>
        <p:nvSpPr>
          <p:cNvPr id="23" name="Shape 21"/>
          <p:cNvSpPr/>
          <p:nvPr/>
        </p:nvSpPr>
        <p:spPr>
          <a:xfrm>
            <a:off x="475488" y="3657600"/>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24" name="Text 22"/>
          <p:cNvSpPr/>
          <p:nvPr/>
        </p:nvSpPr>
        <p:spPr>
          <a:xfrm>
            <a:off x="475488" y="3657600"/>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5" name="Text 23"/>
          <p:cNvSpPr/>
          <p:nvPr/>
        </p:nvSpPr>
        <p:spPr>
          <a:xfrm>
            <a:off x="868680" y="3657600"/>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Discovery</a:t>
            </a:r>
            <a:endParaRPr lang="en-US" sz="1250" dirty="0"/>
          </a:p>
        </p:txBody>
      </p:sp>
      <p:sp>
        <p:nvSpPr>
          <p:cNvPr id="26" name="Shape 24"/>
          <p:cNvSpPr/>
          <p:nvPr/>
        </p:nvSpPr>
        <p:spPr>
          <a:xfrm>
            <a:off x="475488" y="4133088"/>
            <a:ext cx="274320" cy="292608"/>
          </a:xfrm>
          <a:prstGeom prst="rect">
            <a:avLst/>
          </a:prstGeom>
          <a:solidFill>
            <a:srgbClr val="D35400"/>
          </a:solidFill>
          <a:ln w="12700">
            <a:solidFill>
              <a:srgbClr val="D35400"/>
            </a:solidFill>
            <a:prstDash val="solid"/>
          </a:ln>
        </p:spPr>
        <p:txBody>
          <a:bodyPr/>
          <a:lstStyle/>
          <a:p>
            <a:endParaRPr lang="en-US" dirty="0"/>
          </a:p>
        </p:txBody>
      </p:sp>
      <p:sp>
        <p:nvSpPr>
          <p:cNvPr id="27" name="Text 25"/>
          <p:cNvSpPr/>
          <p:nvPr/>
        </p:nvSpPr>
        <p:spPr>
          <a:xfrm>
            <a:off x="475488" y="4133088"/>
            <a:ext cx="27432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8" name="Text 26"/>
          <p:cNvSpPr/>
          <p:nvPr/>
        </p:nvSpPr>
        <p:spPr>
          <a:xfrm>
            <a:off x="868680" y="4133088"/>
            <a:ext cx="3474720"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Design</a:t>
            </a:r>
            <a:endParaRPr lang="en-US" sz="1250" dirty="0"/>
          </a:p>
        </p:txBody>
      </p:sp>
      <p:sp>
        <p:nvSpPr>
          <p:cNvPr id="29" name="Shape 27"/>
          <p:cNvSpPr/>
          <p:nvPr/>
        </p:nvSpPr>
        <p:spPr>
          <a:xfrm>
            <a:off x="4663440" y="804672"/>
            <a:ext cx="4160520" cy="4133088"/>
          </a:xfrm>
          <a:prstGeom prst="rect">
            <a:avLst/>
          </a:prstGeom>
          <a:solidFill>
            <a:srgbClr val="FFFFFF"/>
          </a:solidFill>
          <a:ln w="12700">
            <a:solidFill>
              <a:srgbClr val="CBD5E0"/>
            </a:solidFill>
            <a:prstDash val="solid"/>
          </a:ln>
          <a:effectLst>
            <a:outerShdw blurRad="63500" dist="25400" dir="8100000" algn="bl" rotWithShape="0">
              <a:srgbClr val="000000">
                <a:alpha val="10000"/>
              </a:srgbClr>
            </a:outerShdw>
          </a:effectLst>
        </p:spPr>
        <p:txBody>
          <a:bodyPr/>
          <a:lstStyle/>
          <a:p>
            <a:endParaRPr lang="en-US" dirty="0"/>
          </a:p>
        </p:txBody>
      </p:sp>
      <p:sp>
        <p:nvSpPr>
          <p:cNvPr id="30" name="Shape 28"/>
          <p:cNvSpPr/>
          <p:nvPr/>
        </p:nvSpPr>
        <p:spPr>
          <a:xfrm>
            <a:off x="4663440" y="804672"/>
            <a:ext cx="4160520" cy="384048"/>
          </a:xfrm>
          <a:prstGeom prst="rect">
            <a:avLst/>
          </a:prstGeom>
          <a:solidFill>
            <a:srgbClr val="0B2545"/>
          </a:solidFill>
          <a:ln w="12700">
            <a:solidFill>
              <a:srgbClr val="0B2545"/>
            </a:solidFill>
            <a:prstDash val="solid"/>
          </a:ln>
        </p:spPr>
        <p:txBody>
          <a:bodyPr/>
          <a:lstStyle/>
          <a:p>
            <a:endParaRPr lang="en-US" dirty="0"/>
          </a:p>
        </p:txBody>
      </p:sp>
      <p:sp>
        <p:nvSpPr>
          <p:cNvPr id="31" name="Text 29"/>
          <p:cNvSpPr/>
          <p:nvPr/>
        </p:nvSpPr>
        <p:spPr>
          <a:xfrm>
            <a:off x="4800600" y="804672"/>
            <a:ext cx="388620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Engagement Phases</a:t>
            </a:r>
            <a:endParaRPr lang="en-US" sz="1300" dirty="0"/>
          </a:p>
        </p:txBody>
      </p:sp>
      <p:sp>
        <p:nvSpPr>
          <p:cNvPr id="32" name="Shape 30"/>
          <p:cNvSpPr/>
          <p:nvPr/>
        </p:nvSpPr>
        <p:spPr>
          <a:xfrm>
            <a:off x="4818888" y="1280160"/>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33" name="Text 31"/>
          <p:cNvSpPr/>
          <p:nvPr/>
        </p:nvSpPr>
        <p:spPr>
          <a:xfrm>
            <a:off x="4818888" y="1280160"/>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4" name="Text 32"/>
          <p:cNvSpPr/>
          <p:nvPr/>
        </p:nvSpPr>
        <p:spPr>
          <a:xfrm>
            <a:off x="5285232" y="1280160"/>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Build</a:t>
            </a:r>
            <a:endParaRPr lang="en-US" sz="1250" dirty="0"/>
          </a:p>
        </p:txBody>
      </p:sp>
      <p:sp>
        <p:nvSpPr>
          <p:cNvPr id="35" name="Shape 33"/>
          <p:cNvSpPr/>
          <p:nvPr/>
        </p:nvSpPr>
        <p:spPr>
          <a:xfrm>
            <a:off x="4818888" y="1792224"/>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36" name="Text 34"/>
          <p:cNvSpPr/>
          <p:nvPr/>
        </p:nvSpPr>
        <p:spPr>
          <a:xfrm>
            <a:off x="4818888" y="1792224"/>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37" name="Text 35"/>
          <p:cNvSpPr/>
          <p:nvPr/>
        </p:nvSpPr>
        <p:spPr>
          <a:xfrm>
            <a:off x="5285232" y="1792224"/>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Test</a:t>
            </a:r>
            <a:endParaRPr lang="en-US" sz="1250" dirty="0"/>
          </a:p>
        </p:txBody>
      </p:sp>
      <p:sp>
        <p:nvSpPr>
          <p:cNvPr id="38" name="Shape 36"/>
          <p:cNvSpPr/>
          <p:nvPr/>
        </p:nvSpPr>
        <p:spPr>
          <a:xfrm>
            <a:off x="4818888" y="2304288"/>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39" name="Text 37"/>
          <p:cNvSpPr/>
          <p:nvPr/>
        </p:nvSpPr>
        <p:spPr>
          <a:xfrm>
            <a:off x="4818888" y="2304288"/>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40" name="Text 38"/>
          <p:cNvSpPr/>
          <p:nvPr/>
        </p:nvSpPr>
        <p:spPr>
          <a:xfrm>
            <a:off x="5285232" y="2304288"/>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UAT</a:t>
            </a:r>
            <a:endParaRPr lang="en-US" sz="1250" dirty="0"/>
          </a:p>
        </p:txBody>
      </p:sp>
      <p:sp>
        <p:nvSpPr>
          <p:cNvPr id="41" name="Shape 39"/>
          <p:cNvSpPr/>
          <p:nvPr/>
        </p:nvSpPr>
        <p:spPr>
          <a:xfrm>
            <a:off x="4818888" y="2816352"/>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42" name="Text 40"/>
          <p:cNvSpPr/>
          <p:nvPr/>
        </p:nvSpPr>
        <p:spPr>
          <a:xfrm>
            <a:off x="4818888" y="2816352"/>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43" name="Text 41"/>
          <p:cNvSpPr/>
          <p:nvPr/>
        </p:nvSpPr>
        <p:spPr>
          <a:xfrm>
            <a:off x="5285232" y="2816352"/>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Go Live</a:t>
            </a:r>
            <a:endParaRPr lang="en-US" sz="1250" dirty="0"/>
          </a:p>
        </p:txBody>
      </p:sp>
      <p:sp>
        <p:nvSpPr>
          <p:cNvPr id="44" name="Shape 42"/>
          <p:cNvSpPr/>
          <p:nvPr/>
        </p:nvSpPr>
        <p:spPr>
          <a:xfrm>
            <a:off x="4818888" y="3328416"/>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45" name="Text 43"/>
          <p:cNvSpPr/>
          <p:nvPr/>
        </p:nvSpPr>
        <p:spPr>
          <a:xfrm>
            <a:off x="4818888" y="3328416"/>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46" name="Text 44"/>
          <p:cNvSpPr/>
          <p:nvPr/>
        </p:nvSpPr>
        <p:spPr>
          <a:xfrm>
            <a:off x="5285232" y="3328416"/>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Hypercare</a:t>
            </a:r>
            <a:endParaRPr lang="en-US" sz="1250" dirty="0"/>
          </a:p>
        </p:txBody>
      </p:sp>
      <p:sp>
        <p:nvSpPr>
          <p:cNvPr id="47" name="Shape 45"/>
          <p:cNvSpPr/>
          <p:nvPr/>
        </p:nvSpPr>
        <p:spPr>
          <a:xfrm>
            <a:off x="4818888" y="3840480"/>
            <a:ext cx="384048" cy="292608"/>
          </a:xfrm>
          <a:prstGeom prst="rect">
            <a:avLst/>
          </a:prstGeom>
          <a:solidFill>
            <a:srgbClr val="0E7490"/>
          </a:solidFill>
          <a:ln w="12700">
            <a:solidFill>
              <a:srgbClr val="0E7490"/>
            </a:solidFill>
            <a:prstDash val="solid"/>
          </a:ln>
        </p:spPr>
        <p:txBody>
          <a:bodyPr/>
          <a:lstStyle/>
          <a:p>
            <a:endParaRPr lang="en-US" dirty="0"/>
          </a:p>
        </p:txBody>
      </p:sp>
      <p:sp>
        <p:nvSpPr>
          <p:cNvPr id="48" name="Text 46"/>
          <p:cNvSpPr/>
          <p:nvPr/>
        </p:nvSpPr>
        <p:spPr>
          <a:xfrm>
            <a:off x="4818888" y="3840480"/>
            <a:ext cx="384048"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9" name="Text 47"/>
          <p:cNvSpPr/>
          <p:nvPr/>
        </p:nvSpPr>
        <p:spPr>
          <a:xfrm>
            <a:off x="5285232" y="3840480"/>
            <a:ext cx="3401568" cy="347472"/>
          </a:xfrm>
          <a:prstGeom prst="rect">
            <a:avLst/>
          </a:prstGeom>
          <a:noFill/>
          <a:ln/>
        </p:spPr>
        <p:txBody>
          <a:bodyPr wrap="square" rtlCol="0" anchor="ctr"/>
          <a:lstStyle/>
          <a:p>
            <a:pPr marL="0" indent="0">
              <a:buNone/>
            </a:pPr>
            <a:r>
              <a:rPr lang="en-US" sz="1250" dirty="0">
                <a:solidFill>
                  <a:srgbClr val="1A252F"/>
                </a:solidFill>
                <a:latin typeface="Calibri" pitchFamily="34" charset="0"/>
                <a:ea typeface="Calibri" pitchFamily="34" charset="-122"/>
                <a:cs typeface="Calibri" pitchFamily="34" charset="-120"/>
              </a:rPr>
              <a:t>On Going Support (AMC)</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3" name="Shape 1"/>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Timeline</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082178328"/>
              </p:ext>
            </p:extLst>
          </p:nvPr>
        </p:nvGraphicFramePr>
        <p:xfrm>
          <a:off x="320040" y="804672"/>
          <a:ext cx="5289305" cy="4114800"/>
        </p:xfrm>
        <a:graphic>
          <a:graphicData uri="http://schemas.openxmlformats.org/drawingml/2006/table">
            <a:tbl>
              <a:tblPr/>
              <a:tblGrid>
                <a:gridCol w="3475873">
                  <a:extLst>
                    <a:ext uri="{9D8B030D-6E8A-4147-A177-3AD203B41FA5}">
                      <a16:colId xmlns:a16="http://schemas.microsoft.com/office/drawing/2014/main" val="20000"/>
                    </a:ext>
                  </a:extLst>
                </a:gridCol>
                <a:gridCol w="1813432">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rPr>
                        <a:t>Phase</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Duration</a:t>
                      </a:r>
                      <a:endParaRPr lang="en-US" sz="13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FFFFFF"/>
                          </a:solidFill>
                        </a:rPr>
                        <a:t>Discovery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B2545"/>
                    </a:solidFill>
                  </a:tcPr>
                </a:tc>
                <a:tc>
                  <a:txBody>
                    <a:bodyPr/>
                    <a:lstStyle/>
                    <a:p>
                      <a:pPr marL="0" indent="0">
                        <a:buNone/>
                      </a:pPr>
                      <a:r>
                        <a:rPr lang="en-US" sz="1200" dirty="0">
                          <a:solidFill>
                            <a:srgbClr val="1A252F"/>
                          </a:solidFill>
                        </a:rPr>
                        <a:t>3 Weeks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FFFFFF"/>
                          </a:solidFill>
                        </a:rPr>
                        <a:t>Design</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4F72"/>
                    </a:solidFill>
                  </a:tcPr>
                </a:tc>
                <a:tc>
                  <a:txBody>
                    <a:bodyPr/>
                    <a:lstStyle/>
                    <a:p>
                      <a:pPr marL="0" indent="0">
                        <a:buNone/>
                      </a:pPr>
                      <a:r>
                        <a:rPr lang="en-US" sz="1200" dirty="0">
                          <a:solidFill>
                            <a:srgbClr val="1A252F"/>
                          </a:solidFill>
                        </a:rPr>
                        <a:t>4 Weeks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FFFFFF"/>
                          </a:solidFill>
                        </a:rPr>
                        <a:t>Build</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0E7490"/>
                    </a:solidFill>
                  </a:tcPr>
                </a:tc>
                <a:tc>
                  <a:txBody>
                    <a:bodyPr/>
                    <a:lstStyle/>
                    <a:p>
                      <a:pPr marL="0" indent="0">
                        <a:buNone/>
                      </a:pPr>
                      <a:r>
                        <a:rPr lang="en-US" sz="1200" dirty="0">
                          <a:solidFill>
                            <a:srgbClr val="1A252F"/>
                          </a:solidFill>
                        </a:rPr>
                        <a:t>6 Weeks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FFFFFF"/>
                          </a:solidFill>
                        </a:rPr>
                        <a:t>Test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2E86C1"/>
                    </a:solidFill>
                  </a:tcPr>
                </a:tc>
                <a:tc>
                  <a:txBody>
                    <a:bodyPr/>
                    <a:lstStyle/>
                    <a:p>
                      <a:pPr marL="0" indent="0">
                        <a:buNone/>
                      </a:pPr>
                      <a:r>
                        <a:rPr lang="en-US" sz="1200" dirty="0">
                          <a:solidFill>
                            <a:srgbClr val="1A252F"/>
                          </a:solidFill>
                        </a:rPr>
                        <a:t>2 Weeks</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FFFFFF"/>
                          </a:solidFill>
                        </a:rPr>
                        <a:t>UAT</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35400"/>
                    </a:solidFill>
                  </a:tcPr>
                </a:tc>
                <a:tc>
                  <a:txBody>
                    <a:bodyPr/>
                    <a:lstStyle/>
                    <a:p>
                      <a:pPr marL="0" indent="0">
                        <a:buNone/>
                      </a:pPr>
                      <a:r>
                        <a:rPr lang="en-US" sz="1200" dirty="0">
                          <a:solidFill>
                            <a:srgbClr val="1A252F"/>
                          </a:solidFill>
                        </a:rPr>
                        <a:t>1 Week</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FFFFFF"/>
                          </a:solidFill>
                        </a:rPr>
                        <a:t>Go Live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6B4A"/>
                    </a:solidFill>
                  </a:tcPr>
                </a:tc>
                <a:tc>
                  <a:txBody>
                    <a:bodyPr/>
                    <a:lstStyle/>
                    <a:p>
                      <a:pPr marL="0" indent="0">
                        <a:buNone/>
                      </a:pPr>
                      <a:r>
                        <a:rPr lang="en-US" sz="1200" dirty="0">
                          <a:solidFill>
                            <a:srgbClr val="1A252F"/>
                          </a:solidFill>
                        </a:rPr>
                        <a:t>1 Day</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457200">
                <a:tc>
                  <a:txBody>
                    <a:bodyPr/>
                    <a:lstStyle/>
                    <a:p>
                      <a:pPr marL="0" indent="0">
                        <a:buNone/>
                      </a:pPr>
                      <a:r>
                        <a:rPr lang="en-US" sz="1200" b="1" dirty="0">
                          <a:solidFill>
                            <a:srgbClr val="FFFFFF"/>
                          </a:solidFill>
                        </a:rPr>
                        <a:t>Hypercare</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A500"/>
                    </a:solidFill>
                  </a:tcPr>
                </a:tc>
                <a:tc>
                  <a:txBody>
                    <a:bodyPr/>
                    <a:lstStyle/>
                    <a:p>
                      <a:pPr marL="0" indent="0">
                        <a:buNone/>
                      </a:pPr>
                      <a:r>
                        <a:rPr lang="en-US" sz="1200" dirty="0">
                          <a:solidFill>
                            <a:srgbClr val="1A252F"/>
                          </a:solidFill>
                        </a:rPr>
                        <a:t>1 Month</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200" b="1" dirty="0">
                          <a:solidFill>
                            <a:srgbClr val="FFFFFF"/>
                          </a:solidFill>
                        </a:rPr>
                        <a:t>On Going Support (AMC)</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5D6D7E"/>
                    </a:solidFill>
                  </a:tcPr>
                </a:tc>
                <a:tc>
                  <a:txBody>
                    <a:bodyPr/>
                    <a:lstStyle/>
                    <a:p>
                      <a:pPr marL="0" indent="0">
                        <a:buNone/>
                      </a:pPr>
                      <a:r>
                        <a:rPr lang="en-US" sz="1200" dirty="0">
                          <a:solidFill>
                            <a:srgbClr val="1A252F"/>
                          </a:solidFill>
                        </a:rPr>
                        <a:t>Ongoing</a:t>
                      </a:r>
                      <a:endParaRPr lang="en-US" sz="1200" dirty="0"/>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EBF5FB"/>
                    </a:solidFill>
                  </a:tcPr>
                </a:tc>
                <a:extLst>
                  <a:ext uri="{0D108BD9-81ED-4DB2-BD59-A6C34878D82A}">
                    <a16:rowId xmlns:a16="http://schemas.microsoft.com/office/drawing/2014/main" val="10008"/>
                  </a:ext>
                </a:extLst>
              </a:tr>
            </a:tbl>
          </a:graphicData>
        </a:graphic>
      </p:graphicFrame>
      <p:sp>
        <p:nvSpPr>
          <p:cNvPr id="6" name="Shape 3"/>
          <p:cNvSpPr/>
          <p:nvPr/>
        </p:nvSpPr>
        <p:spPr>
          <a:xfrm>
            <a:off x="6217920" y="1828800"/>
            <a:ext cx="2606040" cy="1828800"/>
          </a:xfrm>
          <a:prstGeom prst="rect">
            <a:avLst/>
          </a:prstGeom>
          <a:solidFill>
            <a:srgbClr val="0B2545"/>
          </a:solidFill>
          <a:ln w="12700">
            <a:solidFill>
              <a:srgbClr val="0B2545"/>
            </a:solidFill>
            <a:prstDash val="solid"/>
          </a:ln>
          <a:effectLst>
            <a:outerShdw blurRad="63500" dist="25400" dir="8100000" algn="bl" rotWithShape="0">
              <a:srgbClr val="000000">
                <a:alpha val="10000"/>
              </a:srgbClr>
            </a:outerShdw>
          </a:effectLst>
        </p:spPr>
        <p:txBody>
          <a:bodyPr/>
          <a:lstStyle/>
          <a:p>
            <a:endParaRPr lang="en-US" dirty="0"/>
          </a:p>
        </p:txBody>
      </p:sp>
      <p:sp>
        <p:nvSpPr>
          <p:cNvPr id="7" name="Shape 4"/>
          <p:cNvSpPr/>
          <p:nvPr/>
        </p:nvSpPr>
        <p:spPr>
          <a:xfrm>
            <a:off x="6217920" y="1828800"/>
            <a:ext cx="2606040" cy="73152"/>
          </a:xfrm>
          <a:prstGeom prst="rect">
            <a:avLst/>
          </a:prstGeom>
          <a:solidFill>
            <a:srgbClr val="D35400"/>
          </a:solidFill>
          <a:ln w="12700">
            <a:solidFill>
              <a:srgbClr val="D35400"/>
            </a:solidFill>
            <a:prstDash val="solid"/>
          </a:ln>
        </p:spPr>
        <p:txBody>
          <a:bodyPr/>
          <a:lstStyle/>
          <a:p>
            <a:endParaRPr lang="en-US" dirty="0"/>
          </a:p>
        </p:txBody>
      </p:sp>
      <p:sp>
        <p:nvSpPr>
          <p:cNvPr id="8" name="Text 5"/>
          <p:cNvSpPr/>
          <p:nvPr/>
        </p:nvSpPr>
        <p:spPr>
          <a:xfrm>
            <a:off x="6217920" y="1901952"/>
            <a:ext cx="2606040" cy="1737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Total Duration</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
</a:t>
            </a:r>
            <a:r>
              <a:rPr lang="en-US" sz="2800" b="1" dirty="0">
                <a:solidFill>
                  <a:srgbClr val="F0A500"/>
                </a:solidFill>
                <a:latin typeface="Calibri" pitchFamily="34" charset="0"/>
                <a:ea typeface="Calibri" pitchFamily="34" charset="-122"/>
                <a:cs typeface="Calibri" pitchFamily="34" charset="-120"/>
              </a:rPr>
              <a:t>16 Weeks</a:t>
            </a:r>
            <a:endParaRPr lang="en-US" sz="1400" dirty="0"/>
          </a:p>
          <a:p>
            <a:pPr marL="0" indent="0" algn="ctr">
              <a:buNone/>
            </a:pPr>
            <a:r>
              <a:rPr lang="en-US" sz="1400" dirty="0">
                <a:solidFill>
                  <a:srgbClr val="A8C7E0"/>
                </a:solidFill>
                <a:latin typeface="Calibri" pitchFamily="34" charset="0"/>
                <a:ea typeface="Calibri" pitchFamily="34" charset="-122"/>
                <a:cs typeface="Calibri" pitchFamily="34" charset="-120"/>
              </a:rPr>
              <a:t>( 4 Months )</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23558-54D9-EA03-B3A4-7B7928585A19}"/>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9796A9E2-E224-BC78-12F8-C885973ADC2D}"/>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2F7AEFB9-8903-01EF-CD00-17395C40971A}"/>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2A34E9EF-C08E-8423-DDB1-7251CE77357A}"/>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5D444F7B-B88F-CDF8-A97D-57251C4EAE79}"/>
              </a:ext>
            </a:extLst>
          </p:cNvPr>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21EF1010-6F7A-64F0-0C4B-8E5E8C32E251}"/>
              </a:ext>
            </a:extLst>
          </p:cNvPr>
          <p:cNvSpPr/>
          <p:nvPr/>
        </p:nvSpPr>
        <p:spPr>
          <a:xfrm>
            <a:off x="457200" y="777240"/>
            <a:ext cx="8321040" cy="384048"/>
          </a:xfrm>
          <a:prstGeom prst="rect">
            <a:avLst/>
          </a:prstGeom>
          <a:noFill/>
          <a:ln/>
        </p:spPr>
        <p:txBody>
          <a:bodyPr wrap="square" rtlCol="0" anchor="ctr"/>
          <a:lstStyle/>
          <a:p>
            <a:r>
              <a:rPr lang="en-US" sz="1400" b="1" dirty="0">
                <a:solidFill>
                  <a:srgbClr val="FFFFFF"/>
                </a:solidFill>
                <a:latin typeface="Calibri" pitchFamily="34" charset="0"/>
                <a:ea typeface="Calibri" pitchFamily="34" charset="-122"/>
                <a:cs typeface="Calibri" pitchFamily="34" charset="-120"/>
              </a:rPr>
              <a:t>Infrastructure Cost ( On Boarding to Cloud; Inclusive of GST @18% )- Annual</a:t>
            </a:r>
            <a:endParaRPr lang="en-US" sz="1400" dirty="0"/>
          </a:p>
        </p:txBody>
      </p:sp>
      <p:graphicFrame>
        <p:nvGraphicFramePr>
          <p:cNvPr id="7" name="Table 6">
            <a:extLst>
              <a:ext uri="{FF2B5EF4-FFF2-40B4-BE49-F238E27FC236}">
                <a16:creationId xmlns:a16="http://schemas.microsoft.com/office/drawing/2014/main" id="{FA7A144A-7BD6-FDDA-6AD4-AE66A9D8FA23}"/>
              </a:ext>
            </a:extLst>
          </p:cNvPr>
          <p:cNvGraphicFramePr>
            <a:graphicFrameLocks noGrp="1"/>
          </p:cNvGraphicFramePr>
          <p:nvPr>
            <p:extLst>
              <p:ext uri="{D42A27DB-BD31-4B8C-83A1-F6EECF244321}">
                <p14:modId xmlns:p14="http://schemas.microsoft.com/office/powerpoint/2010/main" val="386452826"/>
              </p:ext>
            </p:extLst>
          </p:nvPr>
        </p:nvGraphicFramePr>
        <p:xfrm>
          <a:off x="692000" y="1280159"/>
          <a:ext cx="7095898" cy="2284453"/>
        </p:xfrm>
        <a:graphic>
          <a:graphicData uri="http://schemas.openxmlformats.org/drawingml/2006/table">
            <a:tbl>
              <a:tblPr>
                <a:tableStyleId>{5C22544A-7EE6-4342-B048-85BDC9FD1C3A}</a:tableStyleId>
              </a:tblPr>
              <a:tblGrid>
                <a:gridCol w="548853">
                  <a:extLst>
                    <a:ext uri="{9D8B030D-6E8A-4147-A177-3AD203B41FA5}">
                      <a16:colId xmlns:a16="http://schemas.microsoft.com/office/drawing/2014/main" val="507784854"/>
                    </a:ext>
                  </a:extLst>
                </a:gridCol>
                <a:gridCol w="3904584">
                  <a:extLst>
                    <a:ext uri="{9D8B030D-6E8A-4147-A177-3AD203B41FA5}">
                      <a16:colId xmlns:a16="http://schemas.microsoft.com/office/drawing/2014/main" val="856777833"/>
                    </a:ext>
                  </a:extLst>
                </a:gridCol>
                <a:gridCol w="951798">
                  <a:extLst>
                    <a:ext uri="{9D8B030D-6E8A-4147-A177-3AD203B41FA5}">
                      <a16:colId xmlns:a16="http://schemas.microsoft.com/office/drawing/2014/main" val="3619026629"/>
                    </a:ext>
                  </a:extLst>
                </a:gridCol>
                <a:gridCol w="1690663">
                  <a:extLst>
                    <a:ext uri="{9D8B030D-6E8A-4147-A177-3AD203B41FA5}">
                      <a16:colId xmlns:a16="http://schemas.microsoft.com/office/drawing/2014/main" val="901832905"/>
                    </a:ext>
                  </a:extLst>
                </a:gridCol>
              </a:tblGrid>
              <a:tr h="244760">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ctr" fontAlgn="b">
                        <a:buNone/>
                      </a:pPr>
                      <a:r>
                        <a:rPr lang="en-IN" sz="1400" b="1" u="none" strike="noStrike" dirty="0">
                          <a:effectLst/>
                        </a:rPr>
                        <a:t>Infrastructure Cost</a:t>
                      </a:r>
                      <a:endParaRPr lang="en-IN"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47954519"/>
                  </a:ext>
                </a:extLst>
              </a:tr>
              <a:tr h="209197">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buNone/>
                      </a:pPr>
                      <a:r>
                        <a:rPr lang="en-IN" sz="1050" b="1" u="none" strike="noStrike" dirty="0">
                          <a:effectLst/>
                        </a:rPr>
                        <a:t>LOG02</a:t>
                      </a:r>
                      <a:endParaRPr lang="en-IN" sz="105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ctr" fontAlgn="ctr">
                        <a:buNone/>
                      </a:pPr>
                      <a:r>
                        <a:rPr lang="en-IN" sz="1000" b="1" i="0" u="none" strike="noStrike" dirty="0">
                          <a:solidFill>
                            <a:srgbClr val="404040"/>
                          </a:solidFill>
                          <a:effectLst/>
                          <a:latin typeface="Arial" panose="020B0604020202020204" pitchFamily="34" charset="0"/>
                        </a:rPr>
                        <a:t>Total</a:t>
                      </a:r>
                    </a:p>
                  </a:txBody>
                  <a:tcPr marL="9525" marR="9525" marT="9525" marB="0" anchor="ctr">
                    <a:solidFill>
                      <a:srgbClr val="FFFF00"/>
                    </a:solidFill>
                  </a:tcPr>
                </a:tc>
                <a:tc>
                  <a:txBody>
                    <a:bodyPr/>
                    <a:lstStyle/>
                    <a:p>
                      <a:pPr algn="ctr" fontAlgn="ctr">
                        <a:buNone/>
                      </a:pPr>
                      <a:r>
                        <a:rPr lang="en-IN" sz="1000" b="1" i="0" u="none" strike="noStrike" dirty="0">
                          <a:solidFill>
                            <a:srgbClr val="404040"/>
                          </a:solidFill>
                          <a:effectLst/>
                          <a:latin typeface="Arial" panose="020B0604020202020204" pitchFamily="34" charset="0"/>
                        </a:rPr>
                        <a:t>Frequency</a:t>
                      </a:r>
                    </a:p>
                  </a:txBody>
                  <a:tcPr marL="9525" marR="9525" marT="9525" marB="0" anchor="ctr">
                    <a:solidFill>
                      <a:srgbClr val="FFFF00"/>
                    </a:solidFill>
                  </a:tcPr>
                </a:tc>
                <a:extLst>
                  <a:ext uri="{0D108BD9-81ED-4DB2-BD59-A6C34878D82A}">
                    <a16:rowId xmlns:a16="http://schemas.microsoft.com/office/drawing/2014/main" val="3148238820"/>
                  </a:ext>
                </a:extLst>
              </a:tr>
              <a:tr h="271984">
                <a:tc>
                  <a:txBody>
                    <a:bodyPr/>
                    <a:lstStyle/>
                    <a:p>
                      <a:pPr algn="l" fontAlgn="b">
                        <a:buNone/>
                      </a:pPr>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ctr">
                        <a:buNone/>
                      </a:pPr>
                      <a:r>
                        <a:rPr lang="en-IN" sz="1050" b="1" u="none" strike="noStrike" dirty="0">
                          <a:effectLst/>
                        </a:rPr>
                        <a:t>Cloud Hosting &amp; Infrastructure (Year 1)</a:t>
                      </a:r>
                      <a:endParaRPr lang="en-IN" sz="105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l" fontAlgn="ctr">
                        <a:buNone/>
                      </a:pPr>
                      <a:endParaRPr lang="en-IN" sz="1000" b="1" i="0" u="none" strike="noStrike" dirty="0">
                        <a:solidFill>
                          <a:srgbClr val="404040"/>
                        </a:solidFill>
                        <a:effectLst/>
                        <a:latin typeface="Arial" panose="020B0604020202020204" pitchFamily="34" charset="0"/>
                      </a:endParaRPr>
                    </a:p>
                  </a:txBody>
                  <a:tcPr marL="9525" marR="9525" marT="9525" marB="0" anchor="ctr"/>
                </a:tc>
                <a:tc>
                  <a:txBody>
                    <a:bodyPr/>
                    <a:lstStyle/>
                    <a:p>
                      <a:pPr algn="l" fontAlgn="ctr">
                        <a:buNone/>
                      </a:pPr>
                      <a:endParaRPr lang="en-IN" sz="1000" b="1" i="0" u="none" strike="noStrike" dirty="0">
                        <a:solidFill>
                          <a:srgbClr val="40404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4189981214"/>
                  </a:ext>
                </a:extLst>
              </a:tr>
              <a:tr h="1349315">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ctr">
                        <a:buNone/>
                      </a:pPr>
                      <a:r>
                        <a:rPr lang="en-IN" sz="1050" b="0" i="0" u="none" strike="noStrike" dirty="0">
                          <a:solidFill>
                            <a:srgbClr val="404040"/>
                          </a:solidFill>
                          <a:effectLst/>
                          <a:latin typeface="Arial" panose="020B0604020202020204" pitchFamily="34" charset="0"/>
                        </a:rPr>
                        <a:t>Managed cloud server (AWS/Azure); SSL certificate; domain setup; daily automated backups; 99.5% uptime SLA; firewall &amp; security patching; includes 50 GB storage and up to 50 concurrent users</a:t>
                      </a:r>
                    </a:p>
                  </a:txBody>
                  <a:tcPr marL="9525" marR="9525" marT="9525" marB="0" anchor="ctr"/>
                </a:tc>
                <a:tc>
                  <a:txBody>
                    <a:bodyPr/>
                    <a:lstStyle/>
                    <a:p>
                      <a:pPr algn="l" fontAlgn="ctr">
                        <a:buNone/>
                      </a:pPr>
                      <a:endParaRPr lang="en-IN" sz="1000" b="0" i="0" u="none" strike="noStrike" kern="1200" dirty="0">
                        <a:solidFill>
                          <a:srgbClr val="404040"/>
                        </a:solidFill>
                        <a:effectLst/>
                        <a:latin typeface="Arial" panose="020B0604020202020204" pitchFamily="34" charset="0"/>
                        <a:ea typeface="+mn-ea"/>
                        <a:cs typeface="+mn-cs"/>
                      </a:endParaRPr>
                    </a:p>
                  </a:txBody>
                  <a:tcPr marL="9525" marR="9525" marT="9525" marB="0" anchor="ctr"/>
                </a:tc>
                <a:tc>
                  <a:txBody>
                    <a:bodyPr/>
                    <a:lstStyle/>
                    <a:p>
                      <a:pPr algn="l" fontAlgn="ctr">
                        <a:buNone/>
                      </a:pPr>
                      <a:endParaRPr lang="en-IN" sz="1000" b="0" i="0" u="none" strike="noStrike" kern="1200" dirty="0">
                        <a:solidFill>
                          <a:srgbClr val="404040"/>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3038950952"/>
                  </a:ext>
                </a:extLst>
              </a:tr>
              <a:tr h="209197">
                <a:tc>
                  <a:txBody>
                    <a:bodyPr/>
                    <a:lstStyle/>
                    <a:p>
                      <a:pPr algn="l" fontAlgn="b">
                        <a:buNone/>
                      </a:pPr>
                      <a:r>
                        <a:rPr lang="en-IN" sz="1100" b="1" u="none" strike="noStrike" dirty="0">
                          <a:effectLst/>
                        </a:rPr>
                        <a:t>I01</a:t>
                      </a:r>
                      <a:endParaRPr lang="en-IN" sz="1100" b="1" i="0" u="none" strike="noStrike" dirty="0">
                        <a:solidFill>
                          <a:srgbClr val="000000"/>
                        </a:solidFill>
                        <a:effectLst/>
                        <a:latin typeface="Calibri" panose="020F0502020204030204" pitchFamily="34" charset="0"/>
                      </a:endParaRPr>
                    </a:p>
                  </a:txBody>
                  <a:tcPr marL="9525" marR="9525" marT="9525" marB="0" anchor="b">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000000"/>
                          </a:solidFill>
                          <a:effectLst/>
                          <a:latin typeface="Calibri" panose="020F0502020204030204" pitchFamily="34" charset="0"/>
                          <a:ea typeface="+mn-ea"/>
                          <a:cs typeface="+mn-cs"/>
                        </a:rPr>
                        <a:t>₹1,45,000</a:t>
                      </a:r>
                    </a:p>
                  </a:txBody>
                  <a:tcPr marL="9525" marR="9525" marT="9525" marB="0" anchor="ctr"/>
                </a:tc>
                <a:tc>
                  <a:txBody>
                    <a:bodyPr/>
                    <a:lstStyle/>
                    <a:p>
                      <a:pPr marL="0" algn="ctr" defTabSz="914400" rtl="0" eaLnBrk="1" fontAlgn="b"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₹1,45,000</a:t>
                      </a:r>
                    </a:p>
                  </a:txBody>
                  <a:tcPr marL="9525" marR="9525" marT="9525" marB="0" anchor="ctr">
                    <a:solidFill>
                      <a:schemeClr val="accent1">
                        <a:lumMod val="40000"/>
                        <a:lumOff val="60000"/>
                      </a:schemeClr>
                    </a:solidFill>
                  </a:tcPr>
                </a:tc>
                <a:tc>
                  <a:txBody>
                    <a:bodyPr/>
                    <a:lstStyle/>
                    <a:p>
                      <a:pPr algn="ctr" fontAlgn="ctr">
                        <a:buNone/>
                      </a:pPr>
                      <a:r>
                        <a:rPr lang="en-IN" sz="1000" b="1" i="0" u="none" strike="noStrike" dirty="0">
                          <a:solidFill>
                            <a:srgbClr val="375623"/>
                          </a:solidFill>
                          <a:effectLst/>
                          <a:latin typeface="Arial" panose="020B0604020202020204" pitchFamily="34" charset="0"/>
                        </a:rPr>
                        <a:t>Annual</a:t>
                      </a:r>
                    </a:p>
                  </a:txBody>
                  <a:tcPr marL="9525" marR="9525" marT="9525" marB="0" anchor="ctr">
                    <a:solidFill>
                      <a:srgbClr val="FFFF00"/>
                    </a:solidFill>
                  </a:tcPr>
                </a:tc>
                <a:extLst>
                  <a:ext uri="{0D108BD9-81ED-4DB2-BD59-A6C34878D82A}">
                    <a16:rowId xmlns:a16="http://schemas.microsoft.com/office/drawing/2014/main" val="1583979859"/>
                  </a:ext>
                </a:extLst>
              </a:tr>
            </a:tbl>
          </a:graphicData>
        </a:graphic>
      </p:graphicFrame>
      <p:sp>
        <p:nvSpPr>
          <p:cNvPr id="8" name="TextBox 7">
            <a:extLst>
              <a:ext uri="{FF2B5EF4-FFF2-40B4-BE49-F238E27FC236}">
                <a16:creationId xmlns:a16="http://schemas.microsoft.com/office/drawing/2014/main" id="{D03BB366-39F9-2C66-BE17-EEA89284664F}"/>
              </a:ext>
            </a:extLst>
          </p:cNvPr>
          <p:cNvSpPr txBox="1"/>
          <p:nvPr/>
        </p:nvSpPr>
        <p:spPr>
          <a:xfrm>
            <a:off x="457200" y="3863341"/>
            <a:ext cx="8204029" cy="523220"/>
          </a:xfrm>
          <a:prstGeom prst="rect">
            <a:avLst/>
          </a:prstGeom>
          <a:noFill/>
        </p:spPr>
        <p:txBody>
          <a:bodyPr wrap="square" rtlCol="0">
            <a:spAutoFit/>
          </a:bodyPr>
          <a:lstStyle/>
          <a:p>
            <a:pPr marL="285750" indent="-285750">
              <a:buFont typeface="Wingdings" pitchFamily="2" charset="2"/>
              <a:buChar char="ü"/>
            </a:pPr>
            <a:r>
              <a:rPr lang="en-US" sz="1400" i="1" u="sng" dirty="0">
                <a:solidFill>
                  <a:schemeClr val="accent2">
                    <a:lumMod val="50000"/>
                  </a:schemeClr>
                </a:solidFill>
              </a:rPr>
              <a:t>Estimated; can vary up or down. </a:t>
            </a:r>
          </a:p>
          <a:p>
            <a:pPr marL="285750" indent="-285750">
              <a:buFont typeface="Wingdings" pitchFamily="2" charset="2"/>
              <a:buChar char="ü"/>
            </a:pPr>
            <a:r>
              <a:rPr lang="en-US" sz="1400" i="1" u="sng" dirty="0">
                <a:solidFill>
                  <a:schemeClr val="accent2">
                    <a:lumMod val="50000"/>
                  </a:schemeClr>
                </a:solidFill>
              </a:rPr>
              <a:t>CPPL can directly source, set up will be done by Web Team</a:t>
            </a:r>
          </a:p>
        </p:txBody>
      </p:sp>
    </p:spTree>
    <p:extLst>
      <p:ext uri="{BB962C8B-B14F-4D97-AF65-F5344CB8AC3E}">
        <p14:creationId xmlns:p14="http://schemas.microsoft.com/office/powerpoint/2010/main" val="1904217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67C07ED7-58B0-7FD0-AEAF-9EE260B5BAC2}"/>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2A5CC0A5-6E8A-AF37-51F6-08E92F8880C8}"/>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EC627291-D009-BC23-3B8E-8F4465521F31}"/>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E97913C1-E18F-EBF2-AFC0-F18E63493437}"/>
              </a:ext>
            </a:extLst>
          </p:cNvPr>
          <p:cNvSpPr/>
          <p:nvPr/>
        </p:nvSpPr>
        <p:spPr>
          <a:xfrm>
            <a:off x="320040" y="777240"/>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AA7EB53B-044C-9369-F54F-CDB30A44E62D}"/>
              </a:ext>
            </a:extLst>
          </p:cNvPr>
          <p:cNvSpPr/>
          <p:nvPr/>
        </p:nvSpPr>
        <p:spPr>
          <a:xfrm>
            <a:off x="457200" y="777240"/>
            <a:ext cx="8321040" cy="384048"/>
          </a:xfrm>
          <a:prstGeom prst="rect">
            <a:avLst/>
          </a:prstGeom>
          <a:noFill/>
          <a:ln/>
        </p:spPr>
        <p:txBody>
          <a:bodyPr wrap="square" rtlCol="0" anchor="ctr"/>
          <a:lstStyle/>
          <a:p>
            <a:r>
              <a:rPr lang="en-US" sz="1400" b="1" dirty="0">
                <a:solidFill>
                  <a:srgbClr val="FFFFFF"/>
                </a:solidFill>
                <a:latin typeface="Calibri" pitchFamily="34" charset="0"/>
                <a:ea typeface="Calibri" pitchFamily="34" charset="-122"/>
                <a:cs typeface="Calibri" pitchFamily="34" charset="-120"/>
              </a:rPr>
              <a:t>Infrastructure Setting up Cost ( On Boarding to Cloud; Inclusive of GST @18% ) – One Time</a:t>
            </a:r>
            <a:endParaRPr lang="en-US" sz="1400" dirty="0"/>
          </a:p>
        </p:txBody>
      </p:sp>
      <p:graphicFrame>
        <p:nvGraphicFramePr>
          <p:cNvPr id="7" name="Table 6">
            <a:extLst>
              <a:ext uri="{FF2B5EF4-FFF2-40B4-BE49-F238E27FC236}">
                <a16:creationId xmlns:a16="http://schemas.microsoft.com/office/drawing/2014/main" id="{B3410459-DE5F-7F15-769D-8F16FB5EC501}"/>
              </a:ext>
            </a:extLst>
          </p:cNvPr>
          <p:cNvGraphicFramePr>
            <a:graphicFrameLocks noGrp="1"/>
          </p:cNvGraphicFramePr>
          <p:nvPr>
            <p:extLst>
              <p:ext uri="{D42A27DB-BD31-4B8C-83A1-F6EECF244321}">
                <p14:modId xmlns:p14="http://schemas.microsoft.com/office/powerpoint/2010/main" val="3431389705"/>
              </p:ext>
            </p:extLst>
          </p:nvPr>
        </p:nvGraphicFramePr>
        <p:xfrm>
          <a:off x="691999" y="1280160"/>
          <a:ext cx="8086241" cy="2383349"/>
        </p:xfrm>
        <a:graphic>
          <a:graphicData uri="http://schemas.openxmlformats.org/drawingml/2006/table">
            <a:tbl>
              <a:tblPr>
                <a:tableStyleId>{5C22544A-7EE6-4342-B048-85BDC9FD1C3A}</a:tableStyleId>
              </a:tblPr>
              <a:tblGrid>
                <a:gridCol w="397684">
                  <a:extLst>
                    <a:ext uri="{9D8B030D-6E8A-4147-A177-3AD203B41FA5}">
                      <a16:colId xmlns:a16="http://schemas.microsoft.com/office/drawing/2014/main" val="507784854"/>
                    </a:ext>
                  </a:extLst>
                </a:gridCol>
                <a:gridCol w="1458174">
                  <a:extLst>
                    <a:ext uri="{9D8B030D-6E8A-4147-A177-3AD203B41FA5}">
                      <a16:colId xmlns:a16="http://schemas.microsoft.com/office/drawing/2014/main" val="1630844693"/>
                    </a:ext>
                  </a:extLst>
                </a:gridCol>
                <a:gridCol w="1999676">
                  <a:extLst>
                    <a:ext uri="{9D8B030D-6E8A-4147-A177-3AD203B41FA5}">
                      <a16:colId xmlns:a16="http://schemas.microsoft.com/office/drawing/2014/main" val="1827029317"/>
                    </a:ext>
                  </a:extLst>
                </a:gridCol>
                <a:gridCol w="1737839">
                  <a:extLst>
                    <a:ext uri="{9D8B030D-6E8A-4147-A177-3AD203B41FA5}">
                      <a16:colId xmlns:a16="http://schemas.microsoft.com/office/drawing/2014/main" val="987741751"/>
                    </a:ext>
                  </a:extLst>
                </a:gridCol>
                <a:gridCol w="1267858">
                  <a:extLst>
                    <a:ext uri="{9D8B030D-6E8A-4147-A177-3AD203B41FA5}">
                      <a16:colId xmlns:a16="http://schemas.microsoft.com/office/drawing/2014/main" val="3619026629"/>
                    </a:ext>
                  </a:extLst>
                </a:gridCol>
                <a:gridCol w="1225010">
                  <a:extLst>
                    <a:ext uri="{9D8B030D-6E8A-4147-A177-3AD203B41FA5}">
                      <a16:colId xmlns:a16="http://schemas.microsoft.com/office/drawing/2014/main" val="901832905"/>
                    </a:ext>
                  </a:extLst>
                </a:gridCol>
              </a:tblGrid>
              <a:tr h="190500">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9525" marR="9525" marT="9525" marB="0" anchor="b"/>
                </a:tc>
                <a:tc gridSpan="5">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47954519"/>
                  </a:ext>
                </a:extLst>
              </a:tr>
              <a:tr h="190500">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buNone/>
                      </a:pPr>
                      <a:r>
                        <a:rPr lang="en-IN" sz="1000" b="1" u="none" strike="noStrike" dirty="0">
                          <a:effectLst/>
                        </a:rPr>
                        <a:t>LOG03</a:t>
                      </a:r>
                      <a:endParaRPr lang="en-IN" sz="100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ctr" fontAlgn="ctr">
                        <a:buNone/>
                      </a:pPr>
                      <a:r>
                        <a:rPr lang="en-IN" sz="1000" b="1" u="none" strike="noStrike">
                          <a:effectLst/>
                        </a:rPr>
                        <a:t>CMP01</a:t>
                      </a:r>
                      <a:endParaRPr lang="en-IN" sz="1000" b="1" i="0" u="none" strike="noStrike">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ctr" fontAlgn="ctr">
                        <a:buNone/>
                      </a:pPr>
                      <a:r>
                        <a:rPr lang="en-IN" sz="1000" b="1" u="none" strike="noStrike">
                          <a:effectLst/>
                        </a:rPr>
                        <a:t>CMP02</a:t>
                      </a:r>
                      <a:endParaRPr lang="en-IN" sz="1000" b="1" i="0" u="none" strike="noStrike">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ctr" fontAlgn="ctr">
                        <a:buNone/>
                      </a:pPr>
                      <a:r>
                        <a:rPr lang="en-IN" sz="1000" b="1" i="0" u="none" strike="noStrike" dirty="0">
                          <a:solidFill>
                            <a:srgbClr val="404040"/>
                          </a:solidFill>
                          <a:effectLst/>
                          <a:latin typeface="Arial" panose="020B0604020202020204" pitchFamily="34" charset="0"/>
                        </a:rPr>
                        <a:t>Total</a:t>
                      </a:r>
                    </a:p>
                  </a:txBody>
                  <a:tcPr marL="9525" marR="9525" marT="9525" marB="0" anchor="ctr">
                    <a:solidFill>
                      <a:srgbClr val="FFFF00"/>
                    </a:solidFill>
                  </a:tcPr>
                </a:tc>
                <a:tc>
                  <a:txBody>
                    <a:bodyPr/>
                    <a:lstStyle/>
                    <a:p>
                      <a:pPr algn="ctr" fontAlgn="ctr">
                        <a:buNone/>
                      </a:pPr>
                      <a:r>
                        <a:rPr lang="en-IN" sz="1000" b="1" i="0" u="none" strike="noStrike" dirty="0">
                          <a:solidFill>
                            <a:srgbClr val="404040"/>
                          </a:solidFill>
                          <a:effectLst/>
                          <a:latin typeface="Arial" panose="020B0604020202020204" pitchFamily="34" charset="0"/>
                        </a:rPr>
                        <a:t>Frequency</a:t>
                      </a:r>
                    </a:p>
                  </a:txBody>
                  <a:tcPr marL="9525" marR="9525" marT="9525" marB="0" anchor="ctr">
                    <a:solidFill>
                      <a:srgbClr val="FFFF00"/>
                    </a:solidFill>
                  </a:tcPr>
                </a:tc>
                <a:extLst>
                  <a:ext uri="{0D108BD9-81ED-4DB2-BD59-A6C34878D82A}">
                    <a16:rowId xmlns:a16="http://schemas.microsoft.com/office/drawing/2014/main" val="3148238820"/>
                  </a:ext>
                </a:extLst>
              </a:tr>
              <a:tr h="407864">
                <a:tc>
                  <a:txBody>
                    <a:bodyPr/>
                    <a:lstStyle/>
                    <a:p>
                      <a:pPr algn="l" fontAlgn="b">
                        <a:buNone/>
                      </a:pPr>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ctr">
                        <a:buNone/>
                      </a:pPr>
                      <a:r>
                        <a:rPr lang="en-IN" sz="1000" b="1" u="none" strike="noStrike" dirty="0">
                          <a:effectLst/>
                        </a:rPr>
                        <a:t>Software Licences &amp;</a:t>
                      </a:r>
                      <a:br>
                        <a:rPr lang="en-IN" sz="1000" b="1" u="none" strike="noStrike" dirty="0">
                          <a:effectLst/>
                        </a:rPr>
                      </a:br>
                      <a:r>
                        <a:rPr lang="en-IN" sz="1000" b="1" u="none" strike="noStrike" dirty="0">
                          <a:effectLst/>
                        </a:rPr>
                        <a:t>Third-Party Tools</a:t>
                      </a:r>
                      <a:endParaRPr lang="en-IN" sz="100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l" fontAlgn="ctr">
                        <a:buNone/>
                      </a:pPr>
                      <a:r>
                        <a:rPr lang="en-IN" sz="1000" b="1" u="none" strike="noStrike" dirty="0">
                          <a:effectLst/>
                        </a:rPr>
                        <a:t>Security &amp; Compliance Setup</a:t>
                      </a:r>
                      <a:endParaRPr lang="en-IN" sz="100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l" fontAlgn="ctr">
                        <a:buNone/>
                      </a:pPr>
                      <a:r>
                        <a:rPr lang="en-IN" sz="1000" b="1" u="none" strike="noStrike" dirty="0">
                          <a:effectLst/>
                        </a:rPr>
                        <a:t>Disaster Recovery &amp;</a:t>
                      </a:r>
                      <a:br>
                        <a:rPr lang="en-IN" sz="1000" b="1" u="none" strike="noStrike" dirty="0">
                          <a:effectLst/>
                        </a:rPr>
                      </a:br>
                      <a:r>
                        <a:rPr lang="en-IN" sz="1000" b="1" u="none" strike="noStrike" dirty="0">
                          <a:effectLst/>
                        </a:rPr>
                        <a:t>BCP Setup</a:t>
                      </a:r>
                      <a:endParaRPr lang="en-IN" sz="1000" b="1" i="0" u="none" strike="noStrike" dirty="0">
                        <a:solidFill>
                          <a:srgbClr val="404040"/>
                        </a:solidFill>
                        <a:effectLst/>
                        <a:latin typeface="Arial" panose="020B0604020202020204" pitchFamily="34" charset="0"/>
                      </a:endParaRPr>
                    </a:p>
                  </a:txBody>
                  <a:tcPr marL="9525" marR="9525" marT="9525" marB="0" anchor="ctr">
                    <a:solidFill>
                      <a:schemeClr val="bg1">
                        <a:lumMod val="75000"/>
                      </a:schemeClr>
                    </a:solidFill>
                  </a:tcPr>
                </a:tc>
                <a:tc>
                  <a:txBody>
                    <a:bodyPr/>
                    <a:lstStyle/>
                    <a:p>
                      <a:pPr algn="l" fontAlgn="ctr">
                        <a:buNone/>
                      </a:pPr>
                      <a:endParaRPr lang="en-IN" sz="1000" b="1" i="0" u="none" strike="noStrike" dirty="0">
                        <a:solidFill>
                          <a:srgbClr val="404040"/>
                        </a:solidFill>
                        <a:effectLst/>
                        <a:latin typeface="Arial" panose="020B0604020202020204" pitchFamily="34" charset="0"/>
                      </a:endParaRPr>
                    </a:p>
                  </a:txBody>
                  <a:tcPr marL="9525" marR="9525" marT="9525" marB="0" anchor="ctr"/>
                </a:tc>
                <a:tc>
                  <a:txBody>
                    <a:bodyPr/>
                    <a:lstStyle/>
                    <a:p>
                      <a:pPr algn="l" fontAlgn="ctr">
                        <a:buNone/>
                      </a:pPr>
                      <a:endParaRPr lang="en-IN" sz="1000" b="1" i="0" u="none" strike="noStrike" dirty="0">
                        <a:solidFill>
                          <a:srgbClr val="40404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4189981214"/>
                  </a:ext>
                </a:extLst>
              </a:tr>
              <a:tr h="1066800">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ctr">
                        <a:buNone/>
                      </a:pPr>
                      <a:r>
                        <a:rPr lang="en-IN" sz="1000" b="0" i="0" u="none" strike="noStrike" kern="1200" dirty="0">
                          <a:solidFill>
                            <a:srgbClr val="404040"/>
                          </a:solidFill>
                          <a:effectLst/>
                          <a:latin typeface="Arial" panose="020B0604020202020204" pitchFamily="34" charset="0"/>
                          <a:ea typeface="+mn-ea"/>
                          <a:cs typeface="+mn-cs"/>
                        </a:rPr>
                        <a:t>Reporting library licence; PDF generation tool; email/SMS notification gateway (up to 10,000 notifications/month); barcode/QR library; document management module licence</a:t>
                      </a:r>
                    </a:p>
                  </a:txBody>
                  <a:tcPr marL="9525" marR="9525" marT="9525" marB="0" anchor="ctr"/>
                </a:tc>
                <a:tc>
                  <a:txBody>
                    <a:bodyPr/>
                    <a:lstStyle/>
                    <a:p>
                      <a:pPr algn="l" fontAlgn="ctr">
                        <a:buNone/>
                      </a:pPr>
                      <a:r>
                        <a:rPr lang="en-IN" sz="1000" b="0" i="0" u="none" strike="noStrike" kern="1200" dirty="0">
                          <a:solidFill>
                            <a:srgbClr val="404040"/>
                          </a:solidFill>
                          <a:effectLst/>
                          <a:latin typeface="Arial" panose="020B0604020202020204" pitchFamily="34" charset="0"/>
                          <a:ea typeface="+mn-ea"/>
                          <a:cs typeface="+mn-cs"/>
                        </a:rPr>
                        <a:t>Role-based access control (RBAC) configuration; audit log enablement; data encryption at rest &amp; in transit; VAPT (Vulnerability Assessment &amp; Penetration Testing) — basic scan report</a:t>
                      </a:r>
                    </a:p>
                  </a:txBody>
                  <a:tcPr marL="9525" marR="9525" marT="9525" marB="0" anchor="ctr"/>
                </a:tc>
                <a:tc>
                  <a:txBody>
                    <a:bodyPr/>
                    <a:lstStyle/>
                    <a:p>
                      <a:pPr algn="l" fontAlgn="ctr">
                        <a:buNone/>
                      </a:pPr>
                      <a:r>
                        <a:rPr lang="en-IN" sz="1000" b="0" i="0" u="none" strike="noStrike" kern="1200" dirty="0">
                          <a:solidFill>
                            <a:srgbClr val="404040"/>
                          </a:solidFill>
                          <a:effectLst/>
                          <a:latin typeface="Arial" panose="020B0604020202020204" pitchFamily="34" charset="0"/>
                          <a:ea typeface="+mn-ea"/>
                          <a:cs typeface="+mn-cs"/>
                        </a:rPr>
                        <a:t>DR environment configuration; RTO/RPO definition; backup restoration drill; BCP documentation</a:t>
                      </a:r>
                    </a:p>
                  </a:txBody>
                  <a:tcPr marL="9525" marR="9525" marT="9525" marB="0" anchor="ctr"/>
                </a:tc>
                <a:tc>
                  <a:txBody>
                    <a:bodyPr/>
                    <a:lstStyle/>
                    <a:p>
                      <a:pPr algn="l" fontAlgn="ctr">
                        <a:buNone/>
                      </a:pPr>
                      <a:endParaRPr lang="en-IN" sz="1000" b="0" i="0" u="none" strike="noStrike" kern="1200" dirty="0">
                        <a:solidFill>
                          <a:srgbClr val="404040"/>
                        </a:solidFill>
                        <a:effectLst/>
                        <a:latin typeface="Arial" panose="020B0604020202020204" pitchFamily="34" charset="0"/>
                        <a:ea typeface="+mn-ea"/>
                        <a:cs typeface="+mn-cs"/>
                      </a:endParaRPr>
                    </a:p>
                  </a:txBody>
                  <a:tcPr marL="9525" marR="9525" marT="9525" marB="0" anchor="ctr"/>
                </a:tc>
                <a:tc>
                  <a:txBody>
                    <a:bodyPr/>
                    <a:lstStyle/>
                    <a:p>
                      <a:pPr algn="l" fontAlgn="ctr">
                        <a:buNone/>
                      </a:pPr>
                      <a:endParaRPr lang="en-IN" sz="1000" b="0" i="0" u="none" strike="noStrike" kern="1200" dirty="0">
                        <a:solidFill>
                          <a:srgbClr val="404040"/>
                        </a:solidFill>
                        <a:effectLst/>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3038950952"/>
                  </a:ext>
                </a:extLst>
              </a:tr>
              <a:tr h="190500">
                <a:tc>
                  <a:txBody>
                    <a:bodyPr/>
                    <a:lstStyle/>
                    <a:p>
                      <a:pPr algn="l" fontAlgn="b">
                        <a:buNone/>
                      </a:pPr>
                      <a:r>
                        <a:rPr lang="en-IN" sz="1100" u="none" strike="noStrike" dirty="0">
                          <a:effectLst/>
                        </a:rPr>
                        <a:t>I02</a:t>
                      </a:r>
                      <a:endParaRPr lang="en-IN" sz="1100" b="0" i="0" u="none" strike="noStrike" dirty="0">
                        <a:solidFill>
                          <a:srgbClr val="000000"/>
                        </a:solidFill>
                        <a:effectLst/>
                        <a:latin typeface="Calibri" panose="020F0502020204030204" pitchFamily="34" charset="0"/>
                      </a:endParaRPr>
                    </a:p>
                  </a:txBody>
                  <a:tcPr marL="9525" marR="9525" marT="9525" marB="0" anchor="b">
                    <a:solidFill>
                      <a:schemeClr val="bg1">
                        <a:lumMod val="75000"/>
                      </a:schemeClr>
                    </a:solidFill>
                  </a:tcPr>
                </a:tc>
                <a:tc>
                  <a:txBody>
                    <a:bodyPr/>
                    <a:lstStyle/>
                    <a:p>
                      <a:pPr algn="ctr" fontAlgn="ctr">
                        <a:buNone/>
                      </a:pPr>
                      <a:r>
                        <a:rPr lang="en-IN" sz="1000" b="1" u="none" strike="noStrike" dirty="0">
                          <a:effectLst/>
                        </a:rPr>
                        <a:t>₹18,000</a:t>
                      </a:r>
                      <a:endParaRPr lang="en-IN" sz="1000" b="1" i="0" u="none" strike="noStrike" dirty="0">
                        <a:solidFill>
                          <a:srgbClr val="375623"/>
                        </a:solidFill>
                        <a:effectLst/>
                        <a:latin typeface="Arial" panose="020B0604020202020204" pitchFamily="34" charset="0"/>
                      </a:endParaRPr>
                    </a:p>
                  </a:txBody>
                  <a:tcPr marL="9525" marR="9525" marT="9525" marB="0" anchor="ctr"/>
                </a:tc>
                <a:tc>
                  <a:txBody>
                    <a:bodyPr/>
                    <a:lstStyle/>
                    <a:p>
                      <a:pPr algn="ctr" fontAlgn="ctr">
                        <a:buNone/>
                      </a:pPr>
                      <a:r>
                        <a:rPr lang="en-IN" sz="1000" b="1" u="none" strike="noStrike" dirty="0">
                          <a:effectLst/>
                        </a:rPr>
                        <a:t>₹24,000</a:t>
                      </a:r>
                      <a:endParaRPr lang="en-IN" sz="1000" b="1" i="0" u="none" strike="noStrike" dirty="0">
                        <a:solidFill>
                          <a:srgbClr val="375623"/>
                        </a:solidFill>
                        <a:effectLst/>
                        <a:latin typeface="Arial" panose="020B0604020202020204" pitchFamily="34" charset="0"/>
                      </a:endParaRPr>
                    </a:p>
                  </a:txBody>
                  <a:tcPr marL="9525" marR="9525" marT="9525" marB="0" anchor="ctr"/>
                </a:tc>
                <a:tc>
                  <a:txBody>
                    <a:bodyPr/>
                    <a:lstStyle/>
                    <a:p>
                      <a:pPr algn="ctr" fontAlgn="ctr">
                        <a:buNone/>
                      </a:pPr>
                      <a:r>
                        <a:rPr lang="en-IN" sz="1000" b="1" u="none" strike="noStrike" dirty="0">
                          <a:effectLst/>
                        </a:rPr>
                        <a:t>₹18,000</a:t>
                      </a:r>
                      <a:endParaRPr lang="en-IN" sz="1000" b="1" i="0" u="none" strike="noStrike" dirty="0">
                        <a:solidFill>
                          <a:srgbClr val="375623"/>
                        </a:solidFill>
                        <a:effectLst/>
                        <a:latin typeface="Arial" panose="020B0604020202020204" pitchFamily="34" charset="0"/>
                      </a:endParaRPr>
                    </a:p>
                  </a:txBody>
                  <a:tcPr marL="9525" marR="9525" marT="9525" marB="0" anchor="ctr"/>
                </a:tc>
                <a:tc>
                  <a:txBody>
                    <a:bodyPr/>
                    <a:lstStyle/>
                    <a:p>
                      <a:pPr marL="0" algn="ctr" defTabSz="914400" rtl="0" eaLnBrk="1" fontAlgn="b"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₹60,000</a:t>
                      </a:r>
                    </a:p>
                  </a:txBody>
                  <a:tcPr marL="9525" marR="9525" marT="9525" marB="0" anchor="ctr">
                    <a:solidFill>
                      <a:schemeClr val="accent1">
                        <a:lumMod val="40000"/>
                        <a:lumOff val="60000"/>
                      </a:schemeClr>
                    </a:solidFill>
                  </a:tcPr>
                </a:tc>
                <a:tc>
                  <a:txBody>
                    <a:bodyPr/>
                    <a:lstStyle/>
                    <a:p>
                      <a:pPr algn="ctr" fontAlgn="ctr">
                        <a:buNone/>
                      </a:pPr>
                      <a:r>
                        <a:rPr lang="en-IN" sz="1000" b="1" i="0" u="none" strike="noStrike" dirty="0">
                          <a:solidFill>
                            <a:srgbClr val="375623"/>
                          </a:solidFill>
                          <a:effectLst/>
                          <a:latin typeface="Arial" panose="020B0604020202020204" pitchFamily="34" charset="0"/>
                        </a:rPr>
                        <a:t>One Time</a:t>
                      </a:r>
                    </a:p>
                  </a:txBody>
                  <a:tcPr marL="9525" marR="9525" marT="9525" marB="0" anchor="ctr">
                    <a:solidFill>
                      <a:srgbClr val="FFFF00"/>
                    </a:solidFill>
                  </a:tcPr>
                </a:tc>
                <a:extLst>
                  <a:ext uri="{0D108BD9-81ED-4DB2-BD59-A6C34878D82A}">
                    <a16:rowId xmlns:a16="http://schemas.microsoft.com/office/drawing/2014/main" val="1583979859"/>
                  </a:ext>
                </a:extLst>
              </a:tr>
            </a:tbl>
          </a:graphicData>
        </a:graphic>
      </p:graphicFrame>
      <p:sp>
        <p:nvSpPr>
          <p:cNvPr id="8" name="TextBox 7">
            <a:extLst>
              <a:ext uri="{FF2B5EF4-FFF2-40B4-BE49-F238E27FC236}">
                <a16:creationId xmlns:a16="http://schemas.microsoft.com/office/drawing/2014/main" id="{05990C44-F75A-312B-2A57-D4017E0067B4}"/>
              </a:ext>
            </a:extLst>
          </p:cNvPr>
          <p:cNvSpPr txBox="1"/>
          <p:nvPr/>
        </p:nvSpPr>
        <p:spPr>
          <a:xfrm>
            <a:off x="633104" y="4104650"/>
            <a:ext cx="8204029" cy="307777"/>
          </a:xfrm>
          <a:prstGeom prst="rect">
            <a:avLst/>
          </a:prstGeom>
          <a:noFill/>
        </p:spPr>
        <p:txBody>
          <a:bodyPr wrap="square" rtlCol="0">
            <a:spAutoFit/>
          </a:bodyPr>
          <a:lstStyle/>
          <a:p>
            <a:pPr marL="285750" indent="-285750">
              <a:buFont typeface="Wingdings" pitchFamily="2" charset="2"/>
              <a:buChar char="ü"/>
            </a:pPr>
            <a:r>
              <a:rPr lang="en-US" sz="1400" i="1" u="sng" dirty="0">
                <a:solidFill>
                  <a:schemeClr val="accent2">
                    <a:lumMod val="50000"/>
                  </a:schemeClr>
                </a:solidFill>
              </a:rPr>
              <a:t>Base level setting in Cloud by Web Team. </a:t>
            </a:r>
          </a:p>
        </p:txBody>
      </p:sp>
    </p:spTree>
    <p:extLst>
      <p:ext uri="{BB962C8B-B14F-4D97-AF65-F5344CB8AC3E}">
        <p14:creationId xmlns:p14="http://schemas.microsoft.com/office/powerpoint/2010/main" val="692556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00EB8-0307-4F18-35EE-623CD6547F8C}"/>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4EB73DAC-74F1-7BE9-3623-A08599F4E4EB}"/>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85D147FC-5A97-6F2D-EAAF-CE91D59B041C}"/>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27CA43BF-F334-E0FE-51F1-A5CDCF57D2D9}"/>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33C7AA56-801F-64CC-21AC-9E7BD0346DCE}"/>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D8A50114-99F5-82F4-B345-252E9FFAEA3F}"/>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Module Costs ( Inclusive of GST @18% - One Tine)</a:t>
            </a:r>
            <a:endParaRPr lang="en-US" sz="1400" dirty="0"/>
          </a:p>
        </p:txBody>
      </p:sp>
      <p:graphicFrame>
        <p:nvGraphicFramePr>
          <p:cNvPr id="9" name="Table 8">
            <a:extLst>
              <a:ext uri="{FF2B5EF4-FFF2-40B4-BE49-F238E27FC236}">
                <a16:creationId xmlns:a16="http://schemas.microsoft.com/office/drawing/2014/main" id="{1824A638-1ACA-E41F-691B-F3E7527DD919}"/>
              </a:ext>
            </a:extLst>
          </p:cNvPr>
          <p:cNvGraphicFramePr>
            <a:graphicFrameLocks noGrp="1"/>
          </p:cNvGraphicFramePr>
          <p:nvPr>
            <p:extLst>
              <p:ext uri="{D42A27DB-BD31-4B8C-83A1-F6EECF244321}">
                <p14:modId xmlns:p14="http://schemas.microsoft.com/office/powerpoint/2010/main" val="801484171"/>
              </p:ext>
            </p:extLst>
          </p:nvPr>
        </p:nvGraphicFramePr>
        <p:xfrm>
          <a:off x="302217" y="1161288"/>
          <a:ext cx="8494312" cy="3295025"/>
        </p:xfrm>
        <a:graphic>
          <a:graphicData uri="http://schemas.openxmlformats.org/drawingml/2006/table">
            <a:tbl>
              <a:tblPr>
                <a:tableStyleId>{5C22544A-7EE6-4342-B048-85BDC9FD1C3A}</a:tableStyleId>
              </a:tblPr>
              <a:tblGrid>
                <a:gridCol w="689675">
                  <a:extLst>
                    <a:ext uri="{9D8B030D-6E8A-4147-A177-3AD203B41FA5}">
                      <a16:colId xmlns:a16="http://schemas.microsoft.com/office/drawing/2014/main" val="4032174106"/>
                    </a:ext>
                  </a:extLst>
                </a:gridCol>
                <a:gridCol w="361723">
                  <a:extLst>
                    <a:ext uri="{9D8B030D-6E8A-4147-A177-3AD203B41FA5}">
                      <a16:colId xmlns:a16="http://schemas.microsoft.com/office/drawing/2014/main" val="79435743"/>
                    </a:ext>
                  </a:extLst>
                </a:gridCol>
                <a:gridCol w="2158701">
                  <a:extLst>
                    <a:ext uri="{9D8B030D-6E8A-4147-A177-3AD203B41FA5}">
                      <a16:colId xmlns:a16="http://schemas.microsoft.com/office/drawing/2014/main" val="3493393050"/>
                    </a:ext>
                  </a:extLst>
                </a:gridCol>
                <a:gridCol w="769996">
                  <a:extLst>
                    <a:ext uri="{9D8B030D-6E8A-4147-A177-3AD203B41FA5}">
                      <a16:colId xmlns:a16="http://schemas.microsoft.com/office/drawing/2014/main" val="2850336844"/>
                    </a:ext>
                  </a:extLst>
                </a:gridCol>
                <a:gridCol w="1504739">
                  <a:extLst>
                    <a:ext uri="{9D8B030D-6E8A-4147-A177-3AD203B41FA5}">
                      <a16:colId xmlns:a16="http://schemas.microsoft.com/office/drawing/2014/main" val="3688816378"/>
                    </a:ext>
                  </a:extLst>
                </a:gridCol>
                <a:gridCol w="1504739">
                  <a:extLst>
                    <a:ext uri="{9D8B030D-6E8A-4147-A177-3AD203B41FA5}">
                      <a16:colId xmlns:a16="http://schemas.microsoft.com/office/drawing/2014/main" val="1531620821"/>
                    </a:ext>
                  </a:extLst>
                </a:gridCol>
                <a:gridCol w="1504739">
                  <a:extLst>
                    <a:ext uri="{9D8B030D-6E8A-4147-A177-3AD203B41FA5}">
                      <a16:colId xmlns:a16="http://schemas.microsoft.com/office/drawing/2014/main" val="3507902081"/>
                    </a:ext>
                  </a:extLst>
                </a:gridCol>
              </a:tblGrid>
              <a:tr h="296408">
                <a:tc>
                  <a:txBody>
                    <a:bodyPr/>
                    <a:lstStyle/>
                    <a:p>
                      <a:pPr algn="ctr" fontAlgn="ctr">
                        <a:buNone/>
                      </a:pPr>
                      <a:r>
                        <a:rPr lang="en-IN" sz="1100" b="1" i="0" u="none" strike="noStrike" kern="1200" dirty="0">
                          <a:solidFill>
                            <a:srgbClr val="404040"/>
                          </a:solidFill>
                          <a:effectLst/>
                          <a:latin typeface="Arial" panose="020B0604020202020204" pitchFamily="34" charset="0"/>
                          <a:ea typeface="+mn-ea"/>
                          <a:cs typeface="+mn-cs"/>
                        </a:rPr>
                        <a:t>Projects</a:t>
                      </a:r>
                    </a:p>
                  </a:txBody>
                  <a:tcPr marL="6991" marR="6991" marT="6991" marB="0" anchor="ctr">
                    <a:solidFill>
                      <a:schemeClr val="bg2">
                        <a:lumMod val="90000"/>
                      </a:schemeClr>
                    </a:solidFill>
                  </a:tcPr>
                </a:tc>
                <a:tc>
                  <a:txBody>
                    <a:bodyPr/>
                    <a:lstStyle/>
                    <a:p>
                      <a:pPr algn="ctr" fontAlgn="ctr">
                        <a:buNone/>
                      </a:pPr>
                      <a:endParaRPr lang="en-IN" sz="105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i="0" u="none" strike="noStrike" dirty="0">
                          <a:solidFill>
                            <a:srgbClr val="404040"/>
                          </a:solidFill>
                          <a:effectLst/>
                          <a:latin typeface="Arial" panose="020B0604020202020204" pitchFamily="34" charset="0"/>
                        </a:rPr>
                        <a:t>Modules</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Efforts in Days</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Blended cost per day</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Total Cost</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Frequency</a:t>
                      </a:r>
                    </a:p>
                  </a:txBody>
                  <a:tcPr marL="6991" marR="6991" marT="6991" marB="0" anchor="ctr">
                    <a:solidFill>
                      <a:schemeClr val="bg1">
                        <a:lumMod val="75000"/>
                      </a:schemeClr>
                    </a:solidFill>
                  </a:tcPr>
                </a:tc>
                <a:extLst>
                  <a:ext uri="{0D108BD9-81ED-4DB2-BD59-A6C34878D82A}">
                    <a16:rowId xmlns:a16="http://schemas.microsoft.com/office/drawing/2014/main" val="2399852473"/>
                  </a:ext>
                </a:extLst>
              </a:tr>
              <a:tr h="203780">
                <a:tc rowSpan="9">
                  <a:txBody>
                    <a:bodyPr/>
                    <a:lstStyle/>
                    <a:p>
                      <a:pPr marL="0" algn="ctr" defTabSz="914400" rtl="0" eaLnBrk="1" fontAlgn="ctr" latinLnBrk="0" hangingPunct="1">
                        <a:buNone/>
                      </a:pPr>
                      <a:r>
                        <a:rPr lang="en-US" sz="1100" b="1" i="0" u="none" strike="noStrike" kern="1200" dirty="0">
                          <a:solidFill>
                            <a:srgbClr val="404040"/>
                          </a:solidFill>
                          <a:effectLst/>
                          <a:latin typeface="Arial" panose="020B0604020202020204" pitchFamily="34" charset="0"/>
                          <a:ea typeface="+mn-ea"/>
                          <a:cs typeface="+mn-cs"/>
                        </a:rPr>
                        <a:t>Phase I</a:t>
                      </a:r>
                    </a:p>
                  </a:txBody>
                  <a:tcPr anchor="ctr">
                    <a:solidFill>
                      <a:schemeClr val="accent4">
                        <a:lumMod val="40000"/>
                        <a:lumOff val="60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M01</a:t>
                      </a:r>
                    </a:p>
                  </a:txBody>
                  <a:tcPr marL="6991" marR="6991" marT="6991" marB="0" anchor="ctr">
                    <a:solidFill>
                      <a:schemeClr val="bg1">
                        <a:lumMod val="7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50" b="1" u="none" strike="noStrike" dirty="0">
                          <a:effectLst/>
                        </a:rPr>
                        <a:t>Unique Item Code Creation</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8</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28,000</a:t>
                      </a:r>
                    </a:p>
                  </a:txBody>
                  <a:tcPr marL="9525" marR="9525" marT="9525"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One Time</a:t>
                      </a:r>
                    </a:p>
                  </a:txBody>
                  <a:tcPr marL="9525" marR="9525" marT="9525" marB="0" anchor="ctr"/>
                </a:tc>
                <a:extLst>
                  <a:ext uri="{0D108BD9-81ED-4DB2-BD59-A6C34878D82A}">
                    <a16:rowId xmlns:a16="http://schemas.microsoft.com/office/drawing/2014/main" val="3233400333"/>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M02</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Material Inward&amp; GRN</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10</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35,000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900751928"/>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M03</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Inventory Management</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12</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42,000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4167483055"/>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M04</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Scrap &amp; Reusable Material Tracking</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12</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42,000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773479522"/>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M05</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Material Outward / Issuance</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15</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52,500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2714465814"/>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M06</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Procurement Management</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15</a:t>
                      </a:r>
                    </a:p>
                  </a:txBody>
                  <a:tcPr marL="6991" marR="6991" marT="699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050" b="0" i="0" u="none" strike="noStrike" dirty="0">
                          <a:solidFill>
                            <a:srgbClr val="000000"/>
                          </a:solidFill>
                          <a:effectLst/>
                          <a:latin typeface="Calibri" panose="020F0502020204030204" pitchFamily="34" charset="0"/>
                        </a:rPr>
                        <a:t>₹</a:t>
                      </a: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52,500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1850358464"/>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M07</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Cutting Machine Integration</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20</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4,000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80,000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441660979"/>
                  </a:ext>
                </a:extLst>
              </a:tr>
              <a:tr h="203780">
                <a:tc vMerge="1">
                  <a:txBody>
                    <a:bodyPr/>
                    <a:lstStyle/>
                    <a:p>
                      <a:pPr algn="ctr" fontAlgn="ctr">
                        <a:buNone/>
                      </a:pPr>
                      <a:endParaRPr lang="en-IN" sz="1000" b="1" i="0" u="none" strike="noStrike" dirty="0">
                        <a:solidFill>
                          <a:srgbClr val="404040"/>
                        </a:solidFill>
                        <a:effectLst/>
                        <a:latin typeface="Arial" panose="020B0604020202020204" pitchFamily="34" charset="0"/>
                      </a:endParaRPr>
                    </a:p>
                  </a:txBody>
                  <a:tcPr marL="6991" marR="6991" marT="6991" marB="0" anchor="ctr">
                    <a:solidFill>
                      <a:schemeClr val="accent4">
                        <a:lumMod val="40000"/>
                        <a:lumOff val="60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M10</a:t>
                      </a:r>
                    </a:p>
                  </a:txBody>
                  <a:tcPr marL="6991" marR="6991" marT="6991" marB="0" anchor="ctr">
                    <a:solidFill>
                      <a:schemeClr val="bg1">
                        <a:lumMod val="7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50" b="1" u="none" strike="noStrike" dirty="0">
                          <a:effectLst/>
                        </a:rPr>
                        <a:t>Reports &amp; Dashboard</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8</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chemeClr val="tx1"/>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chemeClr val="tx1"/>
                          </a:solidFill>
                          <a:effectLst/>
                          <a:latin typeface="Arial" panose="020B0604020202020204" pitchFamily="34" charset="0"/>
                          <a:ea typeface="+mn-ea"/>
                          <a:cs typeface="+mn-cs"/>
                        </a:rPr>
                        <a:t>28,000</a:t>
                      </a:r>
                    </a:p>
                  </a:txBody>
                  <a:tcPr marL="9525" marR="9525" marT="9525" marB="0" anchor="ctr">
                    <a:solidFill>
                      <a:schemeClr val="bg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One Time</a:t>
                      </a:r>
                    </a:p>
                  </a:txBody>
                  <a:tcPr marL="9525" marR="9525" marT="9525" marB="0" anchor="ctr">
                    <a:solidFill>
                      <a:schemeClr val="bg2"/>
                    </a:solidFill>
                  </a:tcPr>
                </a:tc>
                <a:extLst>
                  <a:ext uri="{0D108BD9-81ED-4DB2-BD59-A6C34878D82A}">
                    <a16:rowId xmlns:a16="http://schemas.microsoft.com/office/drawing/2014/main" val="1565690705"/>
                  </a:ext>
                </a:extLst>
              </a:tr>
              <a:tr h="242138">
                <a:tc vMerge="1">
                  <a:txBody>
                    <a:bodyPr/>
                    <a:lstStyle/>
                    <a:p>
                      <a:pPr algn="ctr" fontAlgn="ctr">
                        <a:buNone/>
                      </a:pPr>
                      <a:endParaRPr lang="en-IN" sz="1000" b="1" i="0" u="none" strike="noStrike" dirty="0">
                        <a:solidFill>
                          <a:srgbClr val="404040"/>
                        </a:solidFill>
                        <a:effectLst/>
                        <a:latin typeface="Arial" panose="020B0604020202020204" pitchFamily="34" charset="0"/>
                      </a:endParaRPr>
                    </a:p>
                  </a:txBody>
                  <a:tcPr marL="6991" marR="6991" marT="6991" marB="0" anchor="ctr">
                    <a:solidFill>
                      <a:schemeClr val="accent4">
                        <a:lumMod val="40000"/>
                        <a:lumOff val="60000"/>
                      </a:schemeClr>
                    </a:solidFill>
                  </a:tcPr>
                </a:tc>
                <a:tc>
                  <a:txBody>
                    <a:bodyPr/>
                    <a:lstStyle/>
                    <a:p>
                      <a:pPr algn="ctr" fontAlgn="ctr">
                        <a:buNone/>
                      </a:pPr>
                      <a:endParaRPr lang="en-IN" sz="90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i="1" u="none" strike="noStrike" dirty="0">
                          <a:solidFill>
                            <a:schemeClr val="accent2">
                              <a:lumMod val="50000"/>
                            </a:schemeClr>
                          </a:solidFill>
                          <a:effectLst/>
                          <a:latin typeface="Arial" panose="020B0604020202020204" pitchFamily="34" charset="0"/>
                        </a:rPr>
                        <a:t>Sub Total</a:t>
                      </a:r>
                    </a:p>
                  </a:txBody>
                  <a:tcPr marL="6991" marR="6991" marT="6991" marB="0" anchor="ctr">
                    <a:solidFill>
                      <a:srgbClr val="FFFF00"/>
                    </a:solidFill>
                  </a:tcP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100</a:t>
                      </a:r>
                    </a:p>
                  </a:txBody>
                  <a:tcPr marL="6991" marR="6991" marT="6991" marB="0" anchor="ctr"/>
                </a:tc>
                <a:tc>
                  <a:txBody>
                    <a:bodyPr/>
                    <a:lstStyle/>
                    <a:p>
                      <a:pPr marL="0" algn="ctr" defTabSz="914400" rtl="0" eaLnBrk="1" fontAlgn="ctr" latinLnBrk="0" hangingPunct="1">
                        <a:buNone/>
                      </a:pPr>
                      <a:endParaRPr lang="en-IN" sz="1100" b="1" i="0" u="none" strike="noStrike" kern="1200" dirty="0">
                        <a:solidFill>
                          <a:srgbClr val="404040"/>
                        </a:solidFill>
                        <a:effectLst/>
                        <a:latin typeface="Arial" panose="020B0604020202020204" pitchFamily="34" charset="0"/>
                        <a:ea typeface="+mn-ea"/>
                        <a:cs typeface="+mn-cs"/>
                      </a:endParaRPr>
                    </a:p>
                  </a:txBody>
                  <a:tcPr marL="6991" marR="6991" marT="6991" marB="0" anchor="ct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₹3,60,000</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200" b="1" i="1" u="none" strike="noStrike" kern="1200" dirty="0">
                          <a:solidFill>
                            <a:schemeClr val="accent2">
                              <a:lumMod val="50000"/>
                            </a:schemeClr>
                          </a:solidFill>
                          <a:effectLst/>
                          <a:latin typeface="Arial" panose="020B0604020202020204" pitchFamily="34" charset="0"/>
                          <a:ea typeface="+mn-ea"/>
                          <a:cs typeface="+mn-cs"/>
                        </a:rPr>
                        <a:t>One Time</a:t>
                      </a:r>
                    </a:p>
                  </a:txBody>
                  <a:tcPr marL="9525" marR="9525" marT="9525" marB="0" anchor="ctr">
                    <a:solidFill>
                      <a:srgbClr val="FFFF00"/>
                    </a:solidFill>
                  </a:tcPr>
                </a:tc>
                <a:extLst>
                  <a:ext uri="{0D108BD9-81ED-4DB2-BD59-A6C34878D82A}">
                    <a16:rowId xmlns:a16="http://schemas.microsoft.com/office/drawing/2014/main" val="2530888953"/>
                  </a:ext>
                </a:extLst>
              </a:tr>
              <a:tr h="203780">
                <a:tc rowSpan="4">
                  <a:txBody>
                    <a:bodyPr/>
                    <a:lstStyle/>
                    <a:p>
                      <a:pPr algn="ctr" fontAlgn="ctr">
                        <a:buNone/>
                      </a:pPr>
                      <a:r>
                        <a:rPr lang="en-IN" sz="1100" b="1" i="0" u="none" strike="noStrike" dirty="0">
                          <a:solidFill>
                            <a:srgbClr val="404040"/>
                          </a:solidFill>
                          <a:effectLst/>
                          <a:latin typeface="Arial" panose="020B0604020202020204" pitchFamily="34" charset="0"/>
                        </a:rPr>
                        <a:t>Phase II</a:t>
                      </a:r>
                    </a:p>
                  </a:txBody>
                  <a:tcPr marL="6991" marR="6991" marT="6991" marB="0" anchor="ctr">
                    <a:solidFill>
                      <a:schemeClr val="accent4">
                        <a:lumMod val="40000"/>
                        <a:lumOff val="60000"/>
                      </a:schemeClr>
                    </a:solidFill>
                  </a:tcPr>
                </a:tc>
                <a:tc>
                  <a:txBody>
                    <a:bodyPr/>
                    <a:lstStyle/>
                    <a:p>
                      <a:pPr algn="ctr" fontAlgn="ctr">
                        <a:buNone/>
                      </a:pPr>
                      <a:r>
                        <a:rPr lang="en-IN" sz="1050" b="1" u="none" strike="noStrike" dirty="0">
                          <a:effectLst/>
                        </a:rPr>
                        <a:t>M08</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Production &amp; Quality Management</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8</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4,000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32,000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3788408595"/>
                  </a:ext>
                </a:extLst>
              </a:tr>
              <a:tr h="203780">
                <a:tc vMerge="1">
                  <a:txBody>
                    <a:bodyPr/>
                    <a:lstStyle/>
                    <a:p>
                      <a:pPr algn="ctr" fontAlgn="ctr">
                        <a:buNone/>
                      </a:pPr>
                      <a:endParaRPr lang="en-IN" sz="700" b="0" i="0" u="none" strike="noStrike" dirty="0">
                        <a:solidFill>
                          <a:srgbClr val="404040"/>
                        </a:solidFill>
                        <a:effectLst/>
                        <a:latin typeface="Arial" panose="020B0604020202020204" pitchFamily="34" charset="0"/>
                      </a:endParaRPr>
                    </a:p>
                  </a:txBody>
                  <a:tcPr marL="6991" marR="6991" marT="6991" marB="0" anchor="ctr"/>
                </a:tc>
                <a:tc>
                  <a:txBody>
                    <a:bodyPr/>
                    <a:lstStyle/>
                    <a:p>
                      <a:pPr algn="ctr" fontAlgn="ctr">
                        <a:buNone/>
                      </a:pPr>
                      <a:r>
                        <a:rPr lang="en-IN" sz="1050" b="1" u="none" strike="noStrike" dirty="0">
                          <a:effectLst/>
                        </a:rPr>
                        <a:t>M09</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Plant Maintenance</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8</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4,000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32,000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404040"/>
                          </a:solidFill>
                          <a:effectLst/>
                          <a:uLnTx/>
                          <a:uFillTx/>
                          <a:latin typeface="Arial" panose="020B0604020202020204" pitchFamily="34" charset="0"/>
                          <a:ea typeface="+mn-ea"/>
                          <a:cs typeface="+mn-cs"/>
                        </a:rPr>
                        <a:t>One Time</a:t>
                      </a:r>
                      <a:endPar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endParaRPr>
                    </a:p>
                  </a:txBody>
                  <a:tcPr marL="9525" marR="9525" marT="9525" marB="0" anchor="ctr"/>
                </a:tc>
                <a:extLst>
                  <a:ext uri="{0D108BD9-81ED-4DB2-BD59-A6C34878D82A}">
                    <a16:rowId xmlns:a16="http://schemas.microsoft.com/office/drawing/2014/main" val="281242243"/>
                  </a:ext>
                </a:extLst>
              </a:tr>
              <a:tr h="203780">
                <a:tc vMerge="1">
                  <a:txBody>
                    <a:bodyPr/>
                    <a:lstStyle/>
                    <a:p>
                      <a:pPr algn="ctr" fontAlgn="ctr">
                        <a:buNone/>
                      </a:pPr>
                      <a:endParaRPr lang="en-IN" sz="1200" b="1" i="0" u="none" strike="noStrike" dirty="0">
                        <a:solidFill>
                          <a:srgbClr val="404040"/>
                        </a:solidFill>
                        <a:effectLst/>
                        <a:latin typeface="Arial" panose="020B0604020202020204" pitchFamily="34" charset="0"/>
                      </a:endParaRPr>
                    </a:p>
                  </a:txBody>
                  <a:tcPr marL="6991" marR="6991" marT="6991" marB="0" anchor="ctr">
                    <a:solidFill>
                      <a:schemeClr val="accent4">
                        <a:lumMod val="40000"/>
                        <a:lumOff val="60000"/>
                      </a:schemeClr>
                    </a:solidFill>
                  </a:tcPr>
                </a:tc>
                <a:tc>
                  <a:txBody>
                    <a:bodyPr/>
                    <a:lstStyle/>
                    <a:p>
                      <a:pPr algn="ctr" fontAlgn="ctr">
                        <a:buNone/>
                      </a:pPr>
                      <a:r>
                        <a:rPr lang="en-IN" sz="1050" b="1" u="none" strike="noStrike" dirty="0">
                          <a:effectLst/>
                        </a:rPr>
                        <a:t>M10</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050" b="1" u="none" strike="noStrike" dirty="0">
                          <a:effectLst/>
                        </a:rPr>
                        <a:t>Reports &amp; Dashboard</a:t>
                      </a: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6</a:t>
                      </a:r>
                    </a:p>
                  </a:txBody>
                  <a:tcPr marL="6991" marR="6991" marT="6991" marB="0" anchor="ctr"/>
                </a:tc>
                <a:tc>
                  <a:txBody>
                    <a:bodyPr/>
                    <a:lstStyle/>
                    <a:p>
                      <a:pPr marL="0" algn="ctr" defTabSz="914400" rtl="0" eaLnBrk="1" fontAlgn="ctr" latinLnBrk="0" hangingPunct="1">
                        <a:buNone/>
                      </a:pP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3,500</a:t>
                      </a:r>
                    </a:p>
                  </a:txBody>
                  <a:tcPr marL="6991" marR="6991" marT="6991" marB="0" anchor="ctr"/>
                </a:tc>
                <a:tc>
                  <a:txBody>
                    <a:bodyPr/>
                    <a:lstStyle/>
                    <a:p>
                      <a:pPr marL="0" algn="ctr" defTabSz="914400" rtl="0" eaLnBrk="1" fontAlgn="ctr" latinLnBrk="0" hangingPunct="1">
                        <a:buNone/>
                      </a:pPr>
                      <a:r>
                        <a:rPr lang="en-IN" sz="1050" b="1" i="0" u="none" strike="noStrike" kern="1200" dirty="0">
                          <a:solidFill>
                            <a:srgbClr val="404040"/>
                          </a:solidFill>
                          <a:effectLst/>
                          <a:latin typeface="Arial" panose="020B0604020202020204" pitchFamily="34" charset="0"/>
                          <a:ea typeface="+mn-ea"/>
                          <a:cs typeface="+mn-cs"/>
                        </a:rPr>
                        <a:t>   </a:t>
                      </a:r>
                      <a:r>
                        <a:rPr lang="en-IN" sz="1050" b="0" i="0" u="none" strike="noStrike" dirty="0">
                          <a:solidFill>
                            <a:srgbClr val="000000"/>
                          </a:solidFill>
                          <a:effectLst/>
                          <a:latin typeface="Calibri" panose="020F0502020204030204" pitchFamily="34" charset="0"/>
                        </a:rPr>
                        <a:t>₹</a:t>
                      </a:r>
                      <a:r>
                        <a:rPr lang="en-IN" sz="1050" b="1" i="0" u="none" strike="noStrike" kern="1200" dirty="0">
                          <a:solidFill>
                            <a:srgbClr val="404040"/>
                          </a:solidFill>
                          <a:effectLst/>
                          <a:latin typeface="Arial" panose="020B0604020202020204" pitchFamily="34" charset="0"/>
                          <a:ea typeface="+mn-ea"/>
                          <a:cs typeface="+mn-cs"/>
                        </a:rPr>
                        <a:t>21,000</a:t>
                      </a:r>
                    </a:p>
                  </a:txBody>
                  <a:tcPr marL="9525" marR="9525" marT="9525" marB="0" anchor="ctr">
                    <a:solidFill>
                      <a:schemeClr val="bg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404040"/>
                          </a:solidFill>
                          <a:effectLst/>
                          <a:uLnTx/>
                          <a:uFillTx/>
                          <a:latin typeface="Arial" panose="020B0604020202020204" pitchFamily="34" charset="0"/>
                          <a:ea typeface="+mn-ea"/>
                          <a:cs typeface="+mn-cs"/>
                        </a:rPr>
                        <a:t>One Time</a:t>
                      </a:r>
                    </a:p>
                  </a:txBody>
                  <a:tcPr marL="9525" marR="9525" marT="9525" marB="0" anchor="ctr">
                    <a:solidFill>
                      <a:schemeClr val="bg2"/>
                    </a:solidFill>
                  </a:tcPr>
                </a:tc>
                <a:extLst>
                  <a:ext uri="{0D108BD9-81ED-4DB2-BD59-A6C34878D82A}">
                    <a16:rowId xmlns:a16="http://schemas.microsoft.com/office/drawing/2014/main" val="1792027462"/>
                  </a:ext>
                </a:extLst>
              </a:tr>
              <a:tr h="242138">
                <a:tc vMerge="1">
                  <a:txBody>
                    <a:bodyPr/>
                    <a:lstStyle/>
                    <a:p>
                      <a:pPr algn="ctr" fontAlgn="ctr">
                        <a:buNone/>
                      </a:pPr>
                      <a:endParaRPr lang="en-IN" sz="1200" b="1" i="0" u="none" strike="noStrike" dirty="0">
                        <a:solidFill>
                          <a:srgbClr val="404040"/>
                        </a:solidFill>
                        <a:effectLst/>
                        <a:latin typeface="Arial" panose="020B0604020202020204" pitchFamily="34" charset="0"/>
                      </a:endParaRPr>
                    </a:p>
                  </a:txBody>
                  <a:tcPr marL="6991" marR="6991" marT="6991" marB="0" anchor="ctr">
                    <a:solidFill>
                      <a:schemeClr val="accent4">
                        <a:lumMod val="40000"/>
                        <a:lumOff val="60000"/>
                      </a:schemeClr>
                    </a:solidFill>
                  </a:tcPr>
                </a:tc>
                <a:tc>
                  <a:txBody>
                    <a:bodyPr/>
                    <a:lstStyle/>
                    <a:p>
                      <a:pPr algn="ctr" fontAlgn="ctr">
                        <a:buNone/>
                      </a:pPr>
                      <a:endParaRPr lang="en-IN" sz="90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50" b="1" i="1" u="none" strike="noStrike" dirty="0">
                          <a:solidFill>
                            <a:schemeClr val="accent2">
                              <a:lumMod val="50000"/>
                            </a:schemeClr>
                          </a:solidFill>
                          <a:effectLst/>
                          <a:latin typeface="Arial" panose="020B0604020202020204" pitchFamily="34" charset="0"/>
                        </a:rPr>
                        <a:t>Sub Total</a:t>
                      </a:r>
                    </a:p>
                  </a:txBody>
                  <a:tcPr marL="6991" marR="6991" marT="6991" marB="0" anchor="ctr">
                    <a:solidFill>
                      <a:srgbClr val="FFFF00"/>
                    </a:solidFill>
                  </a:tcP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20</a:t>
                      </a:r>
                    </a:p>
                  </a:txBody>
                  <a:tcPr marL="6991" marR="6991" marT="6991" marB="0" anchor="ctr"/>
                </a:tc>
                <a:tc>
                  <a:txBody>
                    <a:bodyPr/>
                    <a:lstStyle/>
                    <a:p>
                      <a:pPr marL="0" algn="ctr" defTabSz="914400" rtl="0" eaLnBrk="1" fontAlgn="ctr" latinLnBrk="0" hangingPunct="1">
                        <a:buNone/>
                      </a:pPr>
                      <a:endParaRPr lang="en-IN" sz="1100" b="1" i="0" u="none" strike="noStrike" kern="1200" dirty="0">
                        <a:solidFill>
                          <a:srgbClr val="404040"/>
                        </a:solidFill>
                        <a:effectLst/>
                        <a:latin typeface="Arial" panose="020B0604020202020204" pitchFamily="34" charset="0"/>
                        <a:ea typeface="+mn-ea"/>
                        <a:cs typeface="+mn-cs"/>
                      </a:endParaRPr>
                    </a:p>
                  </a:txBody>
                  <a:tcPr marL="6991" marR="6991" marT="6991" marB="0" anchor="ct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   ₹85,000</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200" b="1" i="1" u="none" strike="noStrike" kern="1200" dirty="0">
                          <a:solidFill>
                            <a:schemeClr val="accent2">
                              <a:lumMod val="50000"/>
                            </a:schemeClr>
                          </a:solidFill>
                          <a:effectLst/>
                          <a:latin typeface="Arial" panose="020B0604020202020204" pitchFamily="34" charset="0"/>
                          <a:ea typeface="+mn-ea"/>
                          <a:cs typeface="+mn-cs"/>
                        </a:rPr>
                        <a:t>One Time</a:t>
                      </a:r>
                    </a:p>
                  </a:txBody>
                  <a:tcPr marL="9525" marR="9525" marT="9525" marB="0" anchor="ctr">
                    <a:solidFill>
                      <a:srgbClr val="FFFF00"/>
                    </a:solidFill>
                  </a:tcPr>
                </a:tc>
                <a:extLst>
                  <a:ext uri="{0D108BD9-81ED-4DB2-BD59-A6C34878D82A}">
                    <a16:rowId xmlns:a16="http://schemas.microsoft.com/office/drawing/2014/main" val="1767967782"/>
                  </a:ext>
                </a:extLst>
              </a:tr>
              <a:tr h="242138">
                <a:tc>
                  <a:txBody>
                    <a:bodyPr/>
                    <a:lstStyle/>
                    <a:p>
                      <a:pPr algn="ctr" fontAlgn="ctr">
                        <a:buNone/>
                      </a:pPr>
                      <a:endParaRPr lang="en-IN" sz="1100" b="1" i="0" u="none" strike="noStrike" dirty="0">
                        <a:solidFill>
                          <a:srgbClr val="404040"/>
                        </a:solidFill>
                        <a:effectLst/>
                        <a:latin typeface="Arial" panose="020B0604020202020204" pitchFamily="34" charset="0"/>
                      </a:endParaRPr>
                    </a:p>
                  </a:txBody>
                  <a:tcPr marL="6991" marR="6991" marT="6991" marB="0" anchor="ctr">
                    <a:solidFill>
                      <a:schemeClr val="accent4">
                        <a:lumMod val="40000"/>
                        <a:lumOff val="60000"/>
                      </a:schemeClr>
                    </a:solidFill>
                  </a:tcPr>
                </a:tc>
                <a:tc>
                  <a:txBody>
                    <a:bodyPr/>
                    <a:lstStyle/>
                    <a:p>
                      <a:pPr algn="ctr" fontAlgn="ctr">
                        <a:buNone/>
                      </a:pPr>
                      <a:endParaRPr lang="en-IN" sz="90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l" fontAlgn="ctr">
                        <a:buNone/>
                      </a:pPr>
                      <a:r>
                        <a:rPr lang="en-IN" sz="1100" b="1" i="1" u="none" strike="noStrike" dirty="0">
                          <a:solidFill>
                            <a:schemeClr val="accent2">
                              <a:lumMod val="50000"/>
                            </a:schemeClr>
                          </a:solidFill>
                          <a:effectLst/>
                        </a:rPr>
                        <a:t>Grand Total (Both Phases )</a:t>
                      </a:r>
                      <a:endParaRPr lang="en-IN" sz="1100" b="1" i="1" u="none" strike="noStrike" dirty="0">
                        <a:solidFill>
                          <a:schemeClr val="accent2">
                            <a:lumMod val="50000"/>
                          </a:schemeClr>
                        </a:solidFill>
                        <a:effectLst/>
                        <a:latin typeface="Arial" panose="020B0604020202020204" pitchFamily="34" charset="0"/>
                      </a:endParaRPr>
                    </a:p>
                  </a:txBody>
                  <a:tcPr marL="6991" marR="6991" marT="6991" marB="0" anchor="ctr">
                    <a:solidFill>
                      <a:schemeClr val="accent1">
                        <a:lumMod val="40000"/>
                        <a:lumOff val="60000"/>
                      </a:schemeClr>
                    </a:solidFill>
                  </a:tcP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120</a:t>
                      </a:r>
                    </a:p>
                  </a:txBody>
                  <a:tcPr marL="6991" marR="6991" marT="6991" marB="0" anchor="ctr"/>
                </a:tc>
                <a:tc>
                  <a:txBody>
                    <a:bodyPr/>
                    <a:lstStyle/>
                    <a:p>
                      <a:pPr marL="0" algn="ctr" defTabSz="914400" rtl="0" eaLnBrk="1" fontAlgn="ctr" latinLnBrk="0" hangingPunct="1">
                        <a:buNone/>
                      </a:pPr>
                      <a:endParaRPr lang="en-IN" sz="1100" b="1" i="0" u="none" strike="noStrike" kern="1200" dirty="0">
                        <a:solidFill>
                          <a:srgbClr val="404040"/>
                        </a:solidFill>
                        <a:effectLst/>
                        <a:latin typeface="Arial" panose="020B0604020202020204" pitchFamily="34" charset="0"/>
                        <a:ea typeface="+mn-ea"/>
                        <a:cs typeface="+mn-cs"/>
                      </a:endParaRPr>
                    </a:p>
                  </a:txBody>
                  <a:tcPr marL="6991" marR="6991" marT="6991" marB="0" anchor="ctr"/>
                </a:tc>
                <a:tc>
                  <a:txBody>
                    <a:bodyPr/>
                    <a:lstStyle/>
                    <a:p>
                      <a:pPr marL="0" algn="ctr" defTabSz="914400" rtl="0" eaLnBrk="1" fontAlgn="ctr" latinLnBrk="0" hangingPunct="1">
                        <a:buNone/>
                      </a:pPr>
                      <a:r>
                        <a:rPr lang="en-IN" sz="1100" b="1" i="1" u="none" strike="noStrike" kern="1200" dirty="0">
                          <a:solidFill>
                            <a:schemeClr val="accent2">
                              <a:lumMod val="50000"/>
                            </a:schemeClr>
                          </a:solidFill>
                          <a:effectLst/>
                          <a:latin typeface="Arial" panose="020B0604020202020204" pitchFamily="34" charset="0"/>
                          <a:ea typeface="+mn-ea"/>
                          <a:cs typeface="+mn-cs"/>
                        </a:rPr>
                        <a:t> ₹4,45,000</a:t>
                      </a:r>
                    </a:p>
                  </a:txBody>
                  <a:tcPr marL="9525" marR="9525" marT="9525" marB="0" anchor="ctr">
                    <a:solidFill>
                      <a:schemeClr val="accent1">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200" b="1" i="1" u="none" strike="noStrike" kern="1200" dirty="0">
                          <a:solidFill>
                            <a:schemeClr val="accent2">
                              <a:lumMod val="50000"/>
                            </a:schemeClr>
                          </a:solidFill>
                          <a:effectLst/>
                          <a:latin typeface="Arial" panose="020B0604020202020204" pitchFamily="34" charset="0"/>
                          <a:ea typeface="+mn-ea"/>
                          <a:cs typeface="+mn-cs"/>
                        </a:rPr>
                        <a:t>One Time</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79548833"/>
                  </a:ext>
                </a:extLst>
              </a:tr>
            </a:tbl>
          </a:graphicData>
        </a:graphic>
      </p:graphicFrame>
      <p:sp>
        <p:nvSpPr>
          <p:cNvPr id="10" name="TextBox 9">
            <a:extLst>
              <a:ext uri="{FF2B5EF4-FFF2-40B4-BE49-F238E27FC236}">
                <a16:creationId xmlns:a16="http://schemas.microsoft.com/office/drawing/2014/main" id="{FEDD723A-ECD4-58F8-D87E-DE3515E43B88}"/>
              </a:ext>
            </a:extLst>
          </p:cNvPr>
          <p:cNvSpPr txBox="1"/>
          <p:nvPr/>
        </p:nvSpPr>
        <p:spPr>
          <a:xfrm>
            <a:off x="302217" y="4515749"/>
            <a:ext cx="8204029" cy="307777"/>
          </a:xfrm>
          <a:prstGeom prst="rect">
            <a:avLst/>
          </a:prstGeom>
          <a:noFill/>
        </p:spPr>
        <p:txBody>
          <a:bodyPr wrap="square" rtlCol="0">
            <a:spAutoFit/>
          </a:bodyPr>
          <a:lstStyle/>
          <a:p>
            <a:pPr marL="285750" indent="-285750">
              <a:buFont typeface="Wingdings" pitchFamily="2" charset="2"/>
              <a:buChar char="ü"/>
            </a:pPr>
            <a:r>
              <a:rPr lang="en-US" sz="1400" i="1" u="sng" dirty="0">
                <a:solidFill>
                  <a:schemeClr val="accent2">
                    <a:lumMod val="50000"/>
                  </a:schemeClr>
                </a:solidFill>
              </a:rPr>
              <a:t>Excluding Implementation, Governance &amp; Training Cost; submitted separately, Project wise &amp; Phase wise</a:t>
            </a:r>
          </a:p>
        </p:txBody>
      </p:sp>
    </p:spTree>
    <p:extLst>
      <p:ext uri="{BB962C8B-B14F-4D97-AF65-F5344CB8AC3E}">
        <p14:creationId xmlns:p14="http://schemas.microsoft.com/office/powerpoint/2010/main" val="2599715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23764-6283-9411-34D7-35D23421E068}"/>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E13D8807-933A-3840-8C10-898F6E816A37}"/>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77511106-FFCA-D84D-8846-33F692632AFC}"/>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96A04886-B2F2-9889-8D49-78500483ECEC}"/>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35537EF0-318D-5BD7-CC2C-498B5C094376}"/>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85C5645C-6775-82BE-8569-E77786A1E489}"/>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Functional Implementation Costs ( Inclusive of GST @18%)</a:t>
            </a:r>
            <a:endParaRPr lang="en-US" sz="1400" dirty="0"/>
          </a:p>
        </p:txBody>
      </p:sp>
      <p:graphicFrame>
        <p:nvGraphicFramePr>
          <p:cNvPr id="7" name="Table 6">
            <a:extLst>
              <a:ext uri="{FF2B5EF4-FFF2-40B4-BE49-F238E27FC236}">
                <a16:creationId xmlns:a16="http://schemas.microsoft.com/office/drawing/2014/main" id="{EE757E62-D379-108B-857D-EE819199F352}"/>
              </a:ext>
            </a:extLst>
          </p:cNvPr>
          <p:cNvGraphicFramePr>
            <a:graphicFrameLocks noGrp="1"/>
          </p:cNvGraphicFramePr>
          <p:nvPr>
            <p:extLst>
              <p:ext uri="{D42A27DB-BD31-4B8C-83A1-F6EECF244321}">
                <p14:modId xmlns:p14="http://schemas.microsoft.com/office/powerpoint/2010/main" val="641164901"/>
              </p:ext>
            </p:extLst>
          </p:nvPr>
        </p:nvGraphicFramePr>
        <p:xfrm>
          <a:off x="255719" y="1147929"/>
          <a:ext cx="8522521" cy="3745322"/>
        </p:xfrm>
        <a:graphic>
          <a:graphicData uri="http://schemas.openxmlformats.org/drawingml/2006/table">
            <a:tbl>
              <a:tblPr>
                <a:tableStyleId>{5C22544A-7EE6-4342-B048-85BDC9FD1C3A}</a:tableStyleId>
              </a:tblPr>
              <a:tblGrid>
                <a:gridCol w="237071">
                  <a:extLst>
                    <a:ext uri="{9D8B030D-6E8A-4147-A177-3AD203B41FA5}">
                      <a16:colId xmlns:a16="http://schemas.microsoft.com/office/drawing/2014/main" val="2491513096"/>
                    </a:ext>
                  </a:extLst>
                </a:gridCol>
                <a:gridCol w="413861">
                  <a:extLst>
                    <a:ext uri="{9D8B030D-6E8A-4147-A177-3AD203B41FA5}">
                      <a16:colId xmlns:a16="http://schemas.microsoft.com/office/drawing/2014/main" val="3974687198"/>
                    </a:ext>
                  </a:extLst>
                </a:gridCol>
                <a:gridCol w="542441">
                  <a:extLst>
                    <a:ext uri="{9D8B030D-6E8A-4147-A177-3AD203B41FA5}">
                      <a16:colId xmlns:a16="http://schemas.microsoft.com/office/drawing/2014/main" val="2855346004"/>
                    </a:ext>
                  </a:extLst>
                </a:gridCol>
                <a:gridCol w="526942">
                  <a:extLst>
                    <a:ext uri="{9D8B030D-6E8A-4147-A177-3AD203B41FA5}">
                      <a16:colId xmlns:a16="http://schemas.microsoft.com/office/drawing/2014/main" val="3242915259"/>
                    </a:ext>
                  </a:extLst>
                </a:gridCol>
                <a:gridCol w="449451">
                  <a:extLst>
                    <a:ext uri="{9D8B030D-6E8A-4147-A177-3AD203B41FA5}">
                      <a16:colId xmlns:a16="http://schemas.microsoft.com/office/drawing/2014/main" val="3177213845"/>
                    </a:ext>
                  </a:extLst>
                </a:gridCol>
                <a:gridCol w="2938911">
                  <a:extLst>
                    <a:ext uri="{9D8B030D-6E8A-4147-A177-3AD203B41FA5}">
                      <a16:colId xmlns:a16="http://schemas.microsoft.com/office/drawing/2014/main" val="1098422323"/>
                    </a:ext>
                  </a:extLst>
                </a:gridCol>
                <a:gridCol w="853461">
                  <a:extLst>
                    <a:ext uri="{9D8B030D-6E8A-4147-A177-3AD203B41FA5}">
                      <a16:colId xmlns:a16="http://schemas.microsoft.com/office/drawing/2014/main" val="376345701"/>
                    </a:ext>
                  </a:extLst>
                </a:gridCol>
                <a:gridCol w="853461">
                  <a:extLst>
                    <a:ext uri="{9D8B030D-6E8A-4147-A177-3AD203B41FA5}">
                      <a16:colId xmlns:a16="http://schemas.microsoft.com/office/drawing/2014/main" val="1898548743"/>
                    </a:ext>
                  </a:extLst>
                </a:gridCol>
                <a:gridCol w="853461">
                  <a:extLst>
                    <a:ext uri="{9D8B030D-6E8A-4147-A177-3AD203B41FA5}">
                      <a16:colId xmlns:a16="http://schemas.microsoft.com/office/drawing/2014/main" val="1933686431"/>
                    </a:ext>
                  </a:extLst>
                </a:gridCol>
                <a:gridCol w="853461">
                  <a:extLst>
                    <a:ext uri="{9D8B030D-6E8A-4147-A177-3AD203B41FA5}">
                      <a16:colId xmlns:a16="http://schemas.microsoft.com/office/drawing/2014/main" val="1049045358"/>
                    </a:ext>
                  </a:extLst>
                </a:gridCol>
              </a:tblGrid>
              <a:tr h="115812">
                <a:tc gridSpan="9">
                  <a:txBody>
                    <a:bodyPr/>
                    <a:lstStyle/>
                    <a:p>
                      <a:pPr algn="ctr" fontAlgn="ctr">
                        <a:buNone/>
                      </a:pPr>
                      <a:r>
                        <a:rPr lang="en-IN" sz="900" b="1" u="none" strike="noStrike" dirty="0">
                          <a:effectLst/>
                        </a:rPr>
                        <a:t>PROJECT PHASE-WISE CHARGES</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buNone/>
                      </a:pP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extLst>
                  <a:ext uri="{0D108BD9-81ED-4DB2-BD59-A6C34878D82A}">
                    <a16:rowId xmlns:a16="http://schemas.microsoft.com/office/drawing/2014/main" val="2170179118"/>
                  </a:ext>
                </a:extLst>
              </a:tr>
              <a:tr h="115812">
                <a:tc gridSpan="9">
                  <a:txBody>
                    <a:bodyPr/>
                    <a:lstStyle/>
                    <a:p>
                      <a:pPr algn="ctr" fontAlgn="ctr">
                        <a:buNone/>
                      </a:pPr>
                      <a:r>
                        <a:rPr lang="en-IN" sz="900" b="1" u="none" strike="noStrike" dirty="0">
                          <a:effectLst/>
                        </a:rPr>
                        <a:t>20+10-Weeks, Phase I &amp; Phase II Implementation Plan  |  Discovery → Go Live → </a:t>
                      </a:r>
                      <a:r>
                        <a:rPr lang="en-IN" sz="900" b="1" u="none" strike="noStrike">
                          <a:effectLst/>
                        </a:rPr>
                        <a:t>Hypercare</a:t>
                      </a:r>
                      <a:r>
                        <a:rPr lang="en-IN" sz="900" b="1" u="none" strike="noStrike">
                          <a:effectLst/>
                          <a:sym typeface="Wingdings" pitchFamily="2" charset="2"/>
                        </a:rPr>
                        <a:t></a:t>
                      </a:r>
                      <a:r>
                        <a:rPr lang="en-IN" sz="900" b="1" u="none" strike="noStrike">
                          <a:effectLst/>
                        </a:rPr>
                        <a:t>AMC</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buNone/>
                      </a:pP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extLst>
                  <a:ext uri="{0D108BD9-81ED-4DB2-BD59-A6C34878D82A}">
                    <a16:rowId xmlns:a16="http://schemas.microsoft.com/office/drawing/2014/main" val="2497464042"/>
                  </a:ext>
                </a:extLst>
              </a:tr>
              <a:tr h="339563">
                <a:tc>
                  <a:txBody>
                    <a:bodyPr/>
                    <a:lstStyle/>
                    <a:p>
                      <a:pPr algn="ctr" fontAlgn="ctr">
                        <a:buNone/>
                      </a:pPr>
                      <a:r>
                        <a:rPr lang="en-IN" sz="900" b="1" u="none" strike="noStrike" dirty="0">
                          <a:effectLst/>
                        </a:rPr>
                        <a:t>#</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b="1" u="none" strike="noStrike" dirty="0">
                          <a:effectLst/>
                        </a:rPr>
                        <a:t>Phase</a:t>
                      </a:r>
                      <a:br>
                        <a:rPr lang="en-IN" sz="900" b="1" u="none" strike="noStrike" dirty="0">
                          <a:effectLst/>
                        </a:rPr>
                      </a:br>
                      <a:r>
                        <a:rPr lang="en-IN" sz="900" b="1" u="none" strike="noStrike" dirty="0">
                          <a:effectLst/>
                        </a:rPr>
                        <a:t>Code</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b="1" u="none" strike="noStrike" dirty="0">
                          <a:effectLst/>
                        </a:rPr>
                        <a:t>Phase</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b="1" u="none" strike="noStrike" dirty="0">
                          <a:effectLst/>
                        </a:rPr>
                        <a:t>Phase 1 Duration</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marL="0" algn="ctr" defTabSz="914400" rtl="0" eaLnBrk="1" fontAlgn="ctr" latinLnBrk="0" hangingPunct="1">
                        <a:buNone/>
                      </a:pPr>
                      <a:r>
                        <a:rPr lang="en-IN" sz="900" b="1" u="none" strike="noStrike" kern="1200" dirty="0">
                          <a:solidFill>
                            <a:schemeClr val="dk1"/>
                          </a:solidFill>
                          <a:effectLst/>
                          <a:latin typeface="+mn-lt"/>
                          <a:ea typeface="+mn-ea"/>
                          <a:cs typeface="+mn-cs"/>
                        </a:rPr>
                        <a:t>Phase 2 Duration</a:t>
                      </a:r>
                    </a:p>
                  </a:txBody>
                  <a:tcPr marL="4826" marR="4826" marT="4826" marB="0" anchor="ctr">
                    <a:solidFill>
                      <a:schemeClr val="bg1">
                        <a:lumMod val="85000"/>
                      </a:schemeClr>
                    </a:solidFill>
                  </a:tcPr>
                </a:tc>
                <a:tc>
                  <a:txBody>
                    <a:bodyPr/>
                    <a:lstStyle/>
                    <a:p>
                      <a:pPr algn="ctr" fontAlgn="ctr">
                        <a:buNone/>
                      </a:pPr>
                      <a:r>
                        <a:rPr lang="en-IN" sz="900" b="1" u="none" strike="noStrike" dirty="0">
                          <a:effectLst/>
                        </a:rPr>
                        <a:t>Deliverables / Activities</a:t>
                      </a:r>
                      <a:endParaRPr lang="en-IN" sz="9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b="1" u="none" strike="noStrike" dirty="0">
                          <a:effectLst/>
                        </a:rPr>
                        <a:t>Cost (INR)</a:t>
                      </a:r>
                      <a:br>
                        <a:rPr lang="en-IN" sz="900" b="1" u="none" strike="noStrike" dirty="0">
                          <a:effectLst/>
                        </a:rPr>
                      </a:br>
                      <a:r>
                        <a:rPr lang="en-IN" sz="900" b="1" u="none" strike="noStrike" dirty="0">
                          <a:effectLst/>
                        </a:rPr>
                        <a:t>Phase 1</a:t>
                      </a:r>
                      <a:endParaRPr lang="en-IN" sz="900" b="1" i="0" u="none" strike="noStrike" dirty="0">
                        <a:solidFill>
                          <a:srgbClr val="FFFFFF"/>
                        </a:solidFill>
                        <a:effectLst/>
                        <a:latin typeface="Arial" panose="020B0604020202020204" pitchFamily="34" charset="0"/>
                      </a:endParaRPr>
                    </a:p>
                  </a:txBody>
                  <a:tcPr marL="4826" marR="4826" marT="4826" marB="0" anchor="ctr"/>
                </a:tc>
                <a:tc>
                  <a:txBody>
                    <a:bodyPr/>
                    <a:lstStyle/>
                    <a:p>
                      <a:pPr algn="ctr" fontAlgn="ctr">
                        <a:buNone/>
                      </a:pPr>
                      <a:r>
                        <a:rPr lang="en-IN" sz="900" b="1" u="none" strike="noStrike" dirty="0">
                          <a:effectLst/>
                        </a:rPr>
                        <a:t>Cost (INR)</a:t>
                      </a:r>
                      <a:br>
                        <a:rPr lang="en-IN" sz="900" b="1" u="none" strike="noStrike" dirty="0">
                          <a:effectLst/>
                        </a:rPr>
                      </a:br>
                      <a:r>
                        <a:rPr lang="en-IN" sz="900" b="1" u="none" strike="noStrike" dirty="0">
                          <a:effectLst/>
                        </a:rPr>
                        <a:t>Phase 2</a:t>
                      </a:r>
                      <a:endParaRPr lang="en-IN" sz="900" b="1" i="0" u="none" strike="noStrike" dirty="0">
                        <a:solidFill>
                          <a:srgbClr val="FFFFFF"/>
                        </a:solidFill>
                        <a:effectLst/>
                        <a:latin typeface="Arial" panose="020B0604020202020204" pitchFamily="34" charset="0"/>
                      </a:endParaRPr>
                    </a:p>
                  </a:txBody>
                  <a:tcPr marL="4826" marR="4826" marT="4826" marB="0" anchor="ctr"/>
                </a:tc>
                <a:tc>
                  <a:txBody>
                    <a:bodyPr/>
                    <a:lstStyle/>
                    <a:p>
                      <a:pPr algn="ctr" fontAlgn="ctr">
                        <a:buNone/>
                      </a:pPr>
                      <a:r>
                        <a:rPr lang="en-IN" sz="900" b="1" u="none" strike="noStrike" dirty="0">
                          <a:effectLst/>
                        </a:rPr>
                        <a:t>Total</a:t>
                      </a:r>
                      <a:endParaRPr lang="en-IN" sz="900" b="1" i="0" u="none" strike="noStrike" dirty="0">
                        <a:solidFill>
                          <a:srgbClr val="FFFFFF"/>
                        </a:solidFill>
                        <a:effectLst/>
                        <a:latin typeface="Arial" panose="020B0604020202020204" pitchFamily="34" charset="0"/>
                      </a:endParaRPr>
                    </a:p>
                  </a:txBody>
                  <a:tcPr marL="4826" marR="4826" marT="4826" marB="0" anchor="ctr"/>
                </a:tc>
                <a:tc>
                  <a:txBody>
                    <a:bodyPr/>
                    <a:lstStyle/>
                    <a:p>
                      <a:pPr marL="0" algn="ctr" defTabSz="914400" rtl="0" eaLnBrk="1" fontAlgn="ctr" latinLnBrk="0" hangingPunct="1">
                        <a:buNone/>
                      </a:pPr>
                      <a:r>
                        <a:rPr lang="en-IN" sz="900" b="1" u="none" strike="noStrike" kern="1200" dirty="0">
                          <a:solidFill>
                            <a:schemeClr val="dk1"/>
                          </a:solidFill>
                          <a:effectLst/>
                          <a:latin typeface="+mn-lt"/>
                          <a:ea typeface="+mn-ea"/>
                          <a:cs typeface="+mn-cs"/>
                        </a:rPr>
                        <a:t>Frequency</a:t>
                      </a:r>
                    </a:p>
                  </a:txBody>
                  <a:tcPr marL="4826" marR="4826" marT="4826" marB="0" anchor="ctr"/>
                </a:tc>
                <a:extLst>
                  <a:ext uri="{0D108BD9-81ED-4DB2-BD59-A6C34878D82A}">
                    <a16:rowId xmlns:a16="http://schemas.microsoft.com/office/drawing/2014/main" val="888943016"/>
                  </a:ext>
                </a:extLst>
              </a:tr>
              <a:tr h="339563">
                <a:tc>
                  <a:txBody>
                    <a:bodyPr/>
                    <a:lstStyle/>
                    <a:p>
                      <a:pPr algn="ctr" fontAlgn="ctr">
                        <a:buNone/>
                      </a:pPr>
                      <a:r>
                        <a:rPr lang="en-IN" sz="900" u="none" strike="noStrike">
                          <a:effectLst/>
                        </a:rPr>
                        <a:t>1</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PH01</a:t>
                      </a:r>
                      <a:endParaRPr lang="en-IN" sz="900" b="0"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Discovery</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3 Weeks</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1.5 week</a:t>
                      </a:r>
                    </a:p>
                  </a:txBody>
                  <a:tcPr marL="4826" marR="4826" marT="4826" marB="0" anchor="ctr"/>
                </a:tc>
                <a:tc>
                  <a:txBody>
                    <a:bodyPr/>
                    <a:lstStyle/>
                    <a:p>
                      <a:pPr algn="l" fontAlgn="ctr">
                        <a:buNone/>
                      </a:pPr>
                      <a:r>
                        <a:rPr lang="en-IN" sz="900" u="none" strike="noStrike">
                          <a:effectLst/>
                        </a:rPr>
                        <a:t>Stakeholder workshops; AS-IS process mapping; requirement gathering; gap analysis; data inventory assessment; integration feasibility study (Tally &amp; cutting machine); final BRD sign-off</a:t>
                      </a:r>
                      <a:endParaRPr lang="en-IN" sz="900" b="0" i="0" u="none" strike="noStrike">
                        <a:solidFill>
                          <a:srgbClr val="404040"/>
                        </a:solidFill>
                        <a:effectLst/>
                        <a:latin typeface="Arial" panose="020B0604020202020204" pitchFamily="34" charset="0"/>
                      </a:endParaRPr>
                    </a:p>
                  </a:txBody>
                  <a:tcPr marL="4826" marR="4826" marT="4826" marB="0" anchor="ctr"/>
                </a:tc>
                <a:tc>
                  <a:txBody>
                    <a:bodyPr/>
                    <a:lstStyle/>
                    <a:p>
                      <a:pPr marL="0" algn="ctr" defTabSz="914400" rtl="0" eaLnBrk="1" fontAlgn="ctr" latinLnBrk="0" hangingPunct="1">
                        <a:buNone/>
                      </a:pPr>
                      <a:r>
                        <a:rPr lang="en-IN" sz="900" b="1" u="none" strike="noStrike" kern="1200" dirty="0">
                          <a:solidFill>
                            <a:schemeClr val="dk1"/>
                          </a:solidFill>
                          <a:effectLst/>
                          <a:latin typeface="+mn-lt"/>
                          <a:ea typeface="+mn-ea"/>
                          <a:cs typeface="+mn-cs"/>
                        </a:rPr>
                        <a:t>₹60,000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₹30,000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₹90,000 </a:t>
                      </a:r>
                    </a:p>
                  </a:txBody>
                  <a:tcPr marL="9525" marR="9525" marT="9525" marB="0" anchor="ctr">
                    <a:solidFill>
                      <a:srgbClr val="FFFF00"/>
                    </a:solidFill>
                  </a:tcPr>
                </a:tc>
                <a:tc>
                  <a:txBody>
                    <a:bodyPr/>
                    <a:lstStyle/>
                    <a:p>
                      <a:pPr algn="ctr" fontAlgn="ctr">
                        <a:buNone/>
                      </a:pPr>
                      <a:r>
                        <a:rPr lang="en-IN" sz="900" b="1" i="0" u="none" strike="noStrike" dirty="0">
                          <a:solidFill>
                            <a:srgbClr val="000000"/>
                          </a:solidFill>
                          <a:effectLst/>
                          <a:latin typeface="Arial" panose="020B0604020202020204" pitchFamily="34" charset="0"/>
                        </a:rPr>
                        <a:t>One Time</a:t>
                      </a:r>
                    </a:p>
                  </a:txBody>
                  <a:tcPr marL="9525" marR="9525" marT="9525" marB="0" anchor="ctr">
                    <a:solidFill>
                      <a:schemeClr val="bg1">
                        <a:lumMod val="85000"/>
                      </a:schemeClr>
                    </a:solidFill>
                  </a:tcPr>
                </a:tc>
                <a:extLst>
                  <a:ext uri="{0D108BD9-81ED-4DB2-BD59-A6C34878D82A}">
                    <a16:rowId xmlns:a16="http://schemas.microsoft.com/office/drawing/2014/main" val="469183107"/>
                  </a:ext>
                </a:extLst>
              </a:tr>
              <a:tr h="339563">
                <a:tc>
                  <a:txBody>
                    <a:bodyPr/>
                    <a:lstStyle/>
                    <a:p>
                      <a:pPr algn="ctr" fontAlgn="ctr">
                        <a:buNone/>
                      </a:pPr>
                      <a:r>
                        <a:rPr lang="en-IN" sz="900" u="none" strike="noStrike">
                          <a:effectLst/>
                        </a:rPr>
                        <a:t>2</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PH02</a:t>
                      </a:r>
                      <a:endParaRPr lang="en-IN" sz="900" b="0"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Design</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4 Weeks</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2 week</a:t>
                      </a:r>
                    </a:p>
                  </a:txBody>
                  <a:tcPr marL="4826" marR="4826" marT="4826" marB="0" anchor="ctr"/>
                </a:tc>
                <a:tc>
                  <a:txBody>
                    <a:bodyPr/>
                    <a:lstStyle/>
                    <a:p>
                      <a:pPr algn="l" fontAlgn="ctr">
                        <a:buNone/>
                      </a:pPr>
                      <a:r>
                        <a:rPr lang="en-IN" sz="900" u="none" strike="noStrike" dirty="0">
                          <a:effectLst/>
                        </a:rPr>
                        <a:t>Solution architecture; UI/UX wireframes; database schema design; integration design; workflow &amp; approval matrix configuration design; SRS document; sign-off on design</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₹40,000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₹20,000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₹60,000 </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900" b="1" i="0" u="none" strike="noStrike" dirty="0">
                          <a:solidFill>
                            <a:srgbClr val="000000"/>
                          </a:solidFill>
                          <a:effectLst/>
                          <a:latin typeface="Arial" panose="020B0604020202020204" pitchFamily="34" charset="0"/>
                        </a:rPr>
                        <a:t>One Time</a:t>
                      </a:r>
                    </a:p>
                    <a:p>
                      <a:pPr algn="ctr" fontAlgn="ctr">
                        <a:buNone/>
                      </a:pPr>
                      <a:endParaRPr lang="en-IN" sz="900" b="1" i="0" u="none" strike="noStrike" dirty="0">
                        <a:solidFill>
                          <a:srgbClr val="000000"/>
                        </a:solidFill>
                        <a:effectLst/>
                        <a:latin typeface="Arial" panose="020B0604020202020204" pitchFamily="34" charset="0"/>
                      </a:endParaRPr>
                    </a:p>
                  </a:txBody>
                  <a:tcPr marL="9525" marR="9525" marT="9525" marB="0" anchor="ctr">
                    <a:solidFill>
                      <a:schemeClr val="bg1">
                        <a:lumMod val="85000"/>
                      </a:schemeClr>
                    </a:solidFill>
                  </a:tcPr>
                </a:tc>
                <a:extLst>
                  <a:ext uri="{0D108BD9-81ED-4DB2-BD59-A6C34878D82A}">
                    <a16:rowId xmlns:a16="http://schemas.microsoft.com/office/drawing/2014/main" val="1714849742"/>
                  </a:ext>
                </a:extLst>
              </a:tr>
              <a:tr h="339563">
                <a:tc>
                  <a:txBody>
                    <a:bodyPr/>
                    <a:lstStyle/>
                    <a:p>
                      <a:pPr algn="ctr" fontAlgn="ctr">
                        <a:buNone/>
                      </a:pPr>
                      <a:r>
                        <a:rPr lang="en-IN" sz="900" u="none" strike="noStrike">
                          <a:effectLst/>
                        </a:rPr>
                        <a:t>3</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a:effectLst/>
                        </a:rPr>
                        <a:t>PH03</a:t>
                      </a:r>
                      <a:endParaRPr lang="en-IN" sz="900" b="0"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Build</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6 Weeks</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3 weeks</a:t>
                      </a:r>
                    </a:p>
                  </a:txBody>
                  <a:tcPr marL="4826" marR="4826" marT="4826" marB="0" anchor="ctr"/>
                </a:tc>
                <a:tc>
                  <a:txBody>
                    <a:bodyPr/>
                    <a:lstStyle/>
                    <a:p>
                      <a:pPr algn="l" fontAlgn="ctr">
                        <a:buNone/>
                      </a:pPr>
                      <a:r>
                        <a:rPr lang="en-IN" sz="900" u="none" strike="noStrike" dirty="0">
                          <a:effectLst/>
                        </a:rPr>
                        <a:t>Module-by-module development (as per Sheet 2); unit testing; code review; API development for Tally &amp; cutting machine; initial data migration scripts</a:t>
                      </a:r>
                      <a:endParaRPr lang="en-IN" sz="900" b="0" i="0" u="none" strike="noStrike" dirty="0">
                        <a:solidFill>
                          <a:srgbClr val="404040"/>
                        </a:solidFill>
                        <a:effectLst/>
                        <a:latin typeface="Arial" panose="020B0604020202020204" pitchFamily="34" charset="0"/>
                      </a:endParaRPr>
                    </a:p>
                  </a:txBody>
                  <a:tcPr marL="4826" marR="4826" marT="4826" marB="0" anchor="ctr"/>
                </a:tc>
                <a:tc gridSpan="3">
                  <a:txBody>
                    <a:bodyPr/>
                    <a:lstStyle/>
                    <a:p>
                      <a:pPr algn="ctr" fontAlgn="ctr">
                        <a:buNone/>
                      </a:pPr>
                      <a:r>
                        <a:rPr lang="en-IN" sz="900" b="1" u="none" strike="noStrike" dirty="0">
                          <a:effectLst/>
                        </a:rPr>
                        <a:t>Included in Module Costs</a:t>
                      </a:r>
                      <a:endParaRPr lang="en-IN" sz="900" b="1" i="1" u="none" strike="noStrike" dirty="0">
                        <a:solidFill>
                          <a:srgbClr val="808080"/>
                        </a:solidFill>
                        <a:effectLst/>
                        <a:latin typeface="Arial" panose="020B0604020202020204" pitchFamily="34" charset="0"/>
                      </a:endParaRPr>
                    </a:p>
                  </a:txBody>
                  <a:tcPr marL="4826" marR="4826" marT="4826" marB="0" anchor="ctr"/>
                </a:tc>
                <a:tc hMerge="1">
                  <a:txBody>
                    <a:bodyPr/>
                    <a:lstStyle/>
                    <a:p>
                      <a:endParaRPr lang="en-US" dirty="0"/>
                    </a:p>
                  </a:txBody>
                  <a:tcPr/>
                </a:tc>
                <a:tc hMerge="1">
                  <a:txBody>
                    <a:bodyPr/>
                    <a:lstStyle/>
                    <a:p>
                      <a:endParaRPr lang="en-US"/>
                    </a:p>
                  </a:txBody>
                  <a:tcPr/>
                </a:tc>
                <a:tc>
                  <a:txBody>
                    <a:bodyPr/>
                    <a:lstStyle/>
                    <a:p>
                      <a:pPr algn="ctr" fontAlgn="ctr">
                        <a:buNone/>
                      </a:pPr>
                      <a:endParaRPr lang="en-IN" sz="900" b="1" i="1" u="none" strike="noStrike" dirty="0">
                        <a:solidFill>
                          <a:srgbClr val="808080"/>
                        </a:solidFill>
                        <a:effectLst/>
                        <a:latin typeface="Arial" panose="020B0604020202020204" pitchFamily="34" charset="0"/>
                      </a:endParaRPr>
                    </a:p>
                  </a:txBody>
                  <a:tcPr marL="4826" marR="4826" marT="4826" marB="0" anchor="ctr"/>
                </a:tc>
                <a:extLst>
                  <a:ext uri="{0D108BD9-81ED-4DB2-BD59-A6C34878D82A}">
                    <a16:rowId xmlns:a16="http://schemas.microsoft.com/office/drawing/2014/main" val="1563087710"/>
                  </a:ext>
                </a:extLst>
              </a:tr>
              <a:tr h="339563">
                <a:tc>
                  <a:txBody>
                    <a:bodyPr/>
                    <a:lstStyle/>
                    <a:p>
                      <a:pPr algn="ctr" fontAlgn="ctr">
                        <a:buNone/>
                      </a:pPr>
                      <a:r>
                        <a:rPr lang="en-IN" sz="900" u="none" strike="noStrike">
                          <a:effectLst/>
                        </a:rPr>
                        <a:t>4</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a:effectLst/>
                        </a:rPr>
                        <a:t>PH04</a:t>
                      </a:r>
                      <a:endParaRPr lang="en-IN" sz="900" b="0"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Testing (SIT)</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2 Weeks</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 week</a:t>
                      </a:r>
                    </a:p>
                  </a:txBody>
                  <a:tcPr marL="4826" marR="4826" marT="4826" marB="0" anchor="ctr"/>
                </a:tc>
                <a:tc>
                  <a:txBody>
                    <a:bodyPr/>
                    <a:lstStyle/>
                    <a:p>
                      <a:pPr algn="l" fontAlgn="ctr">
                        <a:buNone/>
                      </a:pPr>
                      <a:r>
                        <a:rPr lang="en-IN" sz="900" u="none" strike="noStrike">
                          <a:effectLst/>
                        </a:rPr>
                        <a:t>System Integration Testing; test case preparation &amp; execution; defect logging &amp; resolution; regression testing; performance testing</a:t>
                      </a:r>
                      <a:endParaRPr lang="en-IN" sz="900" b="0" i="0" u="none" strike="noStrike">
                        <a:solidFill>
                          <a:srgbClr val="404040"/>
                        </a:solidFill>
                        <a:effectLst/>
                        <a:latin typeface="Arial" panose="020B0604020202020204" pitchFamily="34" charset="0"/>
                      </a:endParaRPr>
                    </a:p>
                  </a:txBody>
                  <a:tcPr marL="4826" marR="4826" marT="4826"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₹15,000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₹7,500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₹22,500 </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2392842675"/>
                  </a:ext>
                </a:extLst>
              </a:tr>
              <a:tr h="227687">
                <a:tc>
                  <a:txBody>
                    <a:bodyPr/>
                    <a:lstStyle/>
                    <a:p>
                      <a:pPr algn="ctr" fontAlgn="ctr">
                        <a:buNone/>
                      </a:pPr>
                      <a:r>
                        <a:rPr lang="en-IN" sz="900" u="none" strike="noStrike">
                          <a:effectLst/>
                        </a:rPr>
                        <a:t>5</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a:effectLst/>
                        </a:rPr>
                        <a:t>PH05</a:t>
                      </a:r>
                      <a:endParaRPr lang="en-IN" sz="900" b="0"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UAT</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1 Week</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 week</a:t>
                      </a:r>
                    </a:p>
                  </a:txBody>
                  <a:tcPr marL="4826" marR="4826" marT="4826" marB="0" anchor="ctr"/>
                </a:tc>
                <a:tc>
                  <a:txBody>
                    <a:bodyPr/>
                    <a:lstStyle/>
                    <a:p>
                      <a:pPr algn="l" fontAlgn="ctr">
                        <a:buNone/>
                      </a:pPr>
                      <a:r>
                        <a:rPr lang="en-IN" sz="900" u="none" strike="noStrike" dirty="0">
                          <a:effectLst/>
                        </a:rPr>
                        <a:t>UAT support with CPPL team; test scenario walkthroughs; defect triage; UAT sign-off documentation; training material preparation</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₹20,000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₹10,000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₹30,000 </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1398014579"/>
                  </a:ext>
                </a:extLst>
              </a:tr>
              <a:tr h="227687">
                <a:tc>
                  <a:txBody>
                    <a:bodyPr/>
                    <a:lstStyle/>
                    <a:p>
                      <a:pPr algn="ctr" fontAlgn="ctr">
                        <a:buNone/>
                      </a:pPr>
                      <a:r>
                        <a:rPr lang="en-IN" sz="900" u="none" strike="noStrike">
                          <a:effectLst/>
                        </a:rPr>
                        <a:t>6</a:t>
                      </a:r>
                      <a:endParaRPr lang="en-IN" sz="900" b="1"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a:effectLst/>
                        </a:rPr>
                        <a:t>PH06</a:t>
                      </a:r>
                      <a:endParaRPr lang="en-IN" sz="900" b="0"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Go Live</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1 Day</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 day</a:t>
                      </a:r>
                    </a:p>
                  </a:txBody>
                  <a:tcPr marL="4826" marR="4826" marT="4826" marB="0" anchor="ctr"/>
                </a:tc>
                <a:tc>
                  <a:txBody>
                    <a:bodyPr/>
                    <a:lstStyle/>
                    <a:p>
                      <a:pPr algn="l" fontAlgn="ctr">
                        <a:buNone/>
                      </a:pPr>
                      <a:r>
                        <a:rPr lang="en-IN" sz="900" u="none" strike="noStrike">
                          <a:effectLst/>
                        </a:rPr>
                        <a:t>Production environment setup; data migration final run; go-live cut-over; real-time support on day-1; post-go-live checklist</a:t>
                      </a:r>
                      <a:endParaRPr lang="en-IN" sz="900" b="0" i="0" u="none" strike="noStrike">
                        <a:solidFill>
                          <a:srgbClr val="404040"/>
                        </a:solidFill>
                        <a:effectLst/>
                        <a:latin typeface="Arial" panose="020B0604020202020204" pitchFamily="34" charset="0"/>
                      </a:endParaRPr>
                    </a:p>
                  </a:txBody>
                  <a:tcPr marL="4826" marR="4826" marT="4826"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₹20,000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₹20,000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₹40,000 </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2171094896"/>
                  </a:ext>
                </a:extLst>
              </a:tr>
              <a:tr h="339563">
                <a:tc>
                  <a:txBody>
                    <a:bodyPr/>
                    <a:lstStyle/>
                    <a:p>
                      <a:pPr algn="ctr" fontAlgn="ctr">
                        <a:buNone/>
                      </a:pPr>
                      <a:r>
                        <a:rPr lang="en-IN" sz="900" u="none" strike="noStrike" dirty="0">
                          <a:effectLst/>
                        </a:rPr>
                        <a:t>7</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a:effectLst/>
                        </a:rPr>
                        <a:t>PH07</a:t>
                      </a:r>
                      <a:endParaRPr lang="en-IN" sz="900" b="0" i="0" u="none" strike="noStrike">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l" fontAlgn="ctr">
                        <a:buNone/>
                      </a:pPr>
                      <a:r>
                        <a:rPr lang="en-IN" sz="900" b="1" u="none" strike="noStrike" dirty="0">
                          <a:effectLst/>
                        </a:rPr>
                        <a:t>Hypercare</a:t>
                      </a:r>
                      <a:endParaRPr lang="en-IN" sz="9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900" u="none" strike="noStrike" dirty="0">
                          <a:effectLst/>
                        </a:rPr>
                        <a:t>1 Month</a:t>
                      </a: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15 days</a:t>
                      </a:r>
                    </a:p>
                  </a:txBody>
                  <a:tcPr marL="4826" marR="4826" marT="4826" marB="0" anchor="ctr"/>
                </a:tc>
                <a:tc>
                  <a:txBody>
                    <a:bodyPr/>
                    <a:lstStyle/>
                    <a:p>
                      <a:pPr algn="l" fontAlgn="ctr">
                        <a:buNone/>
                      </a:pPr>
                      <a:r>
                        <a:rPr lang="en-IN" sz="900" u="none" strike="noStrike">
                          <a:effectLst/>
                        </a:rPr>
                        <a:t>Dedicated support post go-live; priority bug fixes (P1/P2/P3 SLA); weekly health-check calls; performance monitoring; end-user issue resolution</a:t>
                      </a:r>
                      <a:endParaRPr lang="en-IN" sz="900" b="0" i="0" u="none" strike="noStrike">
                        <a:solidFill>
                          <a:srgbClr val="404040"/>
                        </a:solidFill>
                        <a:effectLst/>
                        <a:latin typeface="Arial" panose="020B0604020202020204" pitchFamily="34" charset="0"/>
                      </a:endParaRPr>
                    </a:p>
                  </a:txBody>
                  <a:tcPr marL="4826" marR="4826" marT="4826"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₹40,000 </a:t>
                      </a:r>
                    </a:p>
                  </a:txBody>
                  <a:tcPr marL="9525" marR="9525" marT="9525" marB="0" anchor="ctr"/>
                </a:tc>
                <a:tc>
                  <a:txBody>
                    <a:bodyPr/>
                    <a:lstStyle/>
                    <a:p>
                      <a:pPr algn="ctr" rtl="0" fontAlgn="ctr">
                        <a:buNone/>
                      </a:pPr>
                      <a:r>
                        <a:rPr lang="en-IN" sz="900" b="1" i="0" u="none" strike="noStrike" dirty="0">
                          <a:solidFill>
                            <a:srgbClr val="000000"/>
                          </a:solidFill>
                          <a:effectLst/>
                          <a:latin typeface="Calibri" panose="020F0502020204030204" pitchFamily="34" charset="0"/>
                        </a:rPr>
                        <a:t>₹20,000 </a:t>
                      </a:r>
                    </a:p>
                  </a:txBody>
                  <a:tcPr marL="9525" marR="9525" marT="9525" marB="0" anchor="ctr"/>
                </a:tc>
                <a:tc>
                  <a:txBody>
                    <a:bodyPr/>
                    <a:lstStyle/>
                    <a:p>
                      <a:pPr algn="r" fontAlgn="ctr">
                        <a:buNone/>
                      </a:pPr>
                      <a:r>
                        <a:rPr lang="en-IN" sz="900" b="1" i="0" u="none" strike="noStrike" dirty="0">
                          <a:solidFill>
                            <a:srgbClr val="000000"/>
                          </a:solidFill>
                          <a:effectLst/>
                          <a:latin typeface="Arial" panose="020B0604020202020204" pitchFamily="34" charset="0"/>
                        </a:rPr>
                        <a:t>₹60,000 </a:t>
                      </a:r>
                    </a:p>
                  </a:txBody>
                  <a:tcPr marL="9525" marR="9525" marT="9525" marB="0" anchor="ctr">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2083154417"/>
                  </a:ext>
                </a:extLst>
              </a:tr>
              <a:tr h="281243">
                <a:tc>
                  <a:txBody>
                    <a:bodyPr/>
                    <a:lstStyle/>
                    <a:p>
                      <a:pPr algn="ctr" fontAlgn="ctr">
                        <a:buNone/>
                      </a:pPr>
                      <a:endParaRPr lang="en-IN" sz="900" b="1" i="0" u="none" strike="noStrike">
                        <a:solidFill>
                          <a:srgbClr val="404040"/>
                        </a:solidFill>
                        <a:effectLst/>
                        <a:latin typeface="Arial" panose="020B0604020202020204" pitchFamily="34" charset="0"/>
                      </a:endParaRPr>
                    </a:p>
                  </a:txBody>
                  <a:tcPr marL="4826" marR="4826" marT="4826" marB="0" anchor="ctr"/>
                </a:tc>
                <a:tc>
                  <a:txBody>
                    <a:bodyPr/>
                    <a:lstStyle/>
                    <a:p>
                      <a:pPr algn="ctr" fontAlgn="ctr">
                        <a:buNone/>
                      </a:pPr>
                      <a:endParaRPr lang="en-IN" sz="900" b="0" i="0" u="none" strike="noStrike">
                        <a:solidFill>
                          <a:srgbClr val="404040"/>
                        </a:solidFill>
                        <a:effectLst/>
                        <a:latin typeface="Arial" panose="020B0604020202020204" pitchFamily="34" charset="0"/>
                      </a:endParaRPr>
                    </a:p>
                  </a:txBody>
                  <a:tcPr marL="4826" marR="4826" marT="4826" marB="0" anchor="ctr"/>
                </a:tc>
                <a:tc>
                  <a:txBody>
                    <a:bodyPr/>
                    <a:lstStyle/>
                    <a:p>
                      <a:pPr algn="l" fontAlgn="ctr">
                        <a:buNone/>
                      </a:pPr>
                      <a:r>
                        <a:rPr lang="en-IN" sz="900" b="1" i="0" u="none" strike="noStrike" dirty="0">
                          <a:solidFill>
                            <a:srgbClr val="404040"/>
                          </a:solidFill>
                          <a:effectLst/>
                          <a:latin typeface="Arial" panose="020B0604020202020204" pitchFamily="34" charset="0"/>
                        </a:rPr>
                        <a:t>Sub Total</a:t>
                      </a: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16+4 weeks</a:t>
                      </a:r>
                    </a:p>
                  </a:txBody>
                  <a:tcPr marL="4826" marR="4826" marT="4826" marB="0" anchor="ctr"/>
                </a:tc>
                <a:tc>
                  <a:txBody>
                    <a:bodyPr/>
                    <a:lstStyle/>
                    <a:p>
                      <a:pPr algn="ctr" fontAlgn="ctr">
                        <a:buNone/>
                      </a:pPr>
                      <a:r>
                        <a:rPr lang="en-IN" sz="900" b="0" i="0" u="none" strike="noStrike" dirty="0">
                          <a:solidFill>
                            <a:srgbClr val="404040"/>
                          </a:solidFill>
                          <a:effectLst/>
                          <a:latin typeface="Arial" panose="020B0604020202020204" pitchFamily="34" charset="0"/>
                        </a:rPr>
                        <a:t>8+2 weeks</a:t>
                      </a:r>
                    </a:p>
                  </a:txBody>
                  <a:tcPr marL="4826" marR="4826" marT="4826" marB="0" anchor="ctr"/>
                </a:tc>
                <a:tc>
                  <a:txBody>
                    <a:bodyPr/>
                    <a:lstStyle/>
                    <a:p>
                      <a:pPr algn="l" fontAlgn="ctr">
                        <a:buNone/>
                      </a:pPr>
                      <a:endParaRPr lang="en-IN" sz="900" b="0" i="0" u="none" strike="noStrike" dirty="0">
                        <a:solidFill>
                          <a:srgbClr val="404040"/>
                        </a:solidFill>
                        <a:effectLst/>
                        <a:latin typeface="Arial" panose="020B0604020202020204" pitchFamily="34" charset="0"/>
                      </a:endParaRPr>
                    </a:p>
                  </a:txBody>
                  <a:tcPr marL="4826" marR="4826" marT="4826" marB="0" anchor="ctr"/>
                </a:tc>
                <a:tc>
                  <a:txBody>
                    <a:bodyPr/>
                    <a:lstStyle/>
                    <a:p>
                      <a:pPr marL="0" algn="ctr" defTabSz="914400" rtl="0" eaLnBrk="1" fontAlgn="ctr"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₹1,95,000 </a:t>
                      </a:r>
                    </a:p>
                  </a:txBody>
                  <a:tcPr marL="9525" marR="9525" marT="9525" marB="0" anchor="ctr">
                    <a:solidFill>
                      <a:srgbClr val="FFFF00"/>
                    </a:solidFill>
                  </a:tcPr>
                </a:tc>
                <a:tc>
                  <a:txBody>
                    <a:bodyPr/>
                    <a:lstStyle/>
                    <a:p>
                      <a:pPr marL="0" algn="ctr" defTabSz="914400" rtl="0" eaLnBrk="1" fontAlgn="ctr"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₹1,07,500 </a:t>
                      </a:r>
                    </a:p>
                  </a:txBody>
                  <a:tcPr marL="9525" marR="9525" marT="9525" marB="0" anchor="ctr">
                    <a:solidFill>
                      <a:srgbClr val="FFFF00"/>
                    </a:solidFill>
                  </a:tcPr>
                </a:tc>
                <a:tc>
                  <a:txBody>
                    <a:bodyPr/>
                    <a:lstStyle/>
                    <a:p>
                      <a:pPr algn="ctr" fontAlgn="b">
                        <a:buNone/>
                      </a:pPr>
                      <a:r>
                        <a:rPr lang="en-IN" sz="1100" b="1" i="1" u="none" strike="noStrike" dirty="0">
                          <a:solidFill>
                            <a:schemeClr val="accent2">
                              <a:lumMod val="50000"/>
                            </a:schemeClr>
                          </a:solidFill>
                          <a:effectLst/>
                          <a:latin typeface="Calibri" panose="020F0502020204030204" pitchFamily="34" charset="0"/>
                        </a:rPr>
                        <a:t>₹3,02,500 </a:t>
                      </a:r>
                    </a:p>
                  </a:txBody>
                  <a:tcPr marL="9525" marR="9525" marT="9525" marB="0" anchor="c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0" u="none" strike="noStrike" dirty="0">
                          <a:solidFill>
                            <a:srgbClr val="000000"/>
                          </a:solidFill>
                          <a:effectLst/>
                          <a:latin typeface="Arial" panose="020B0604020202020204" pitchFamily="34" charset="0"/>
                        </a:rPr>
                        <a:t>One Time</a:t>
                      </a:r>
                    </a:p>
                    <a:p>
                      <a:pPr algn="ctr" fontAlgn="b">
                        <a:buNone/>
                      </a:pPr>
                      <a:endParaRPr lang="en-IN" sz="1100" b="1" i="1" u="none" strike="noStrike" dirty="0">
                        <a:solidFill>
                          <a:schemeClr val="accent2">
                            <a:lumMod val="50000"/>
                          </a:schemeClr>
                        </a:solidFill>
                        <a:effectLst/>
                        <a:latin typeface="Calibri" panose="020F0502020204030204" pitchFamily="34" charset="0"/>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583713557"/>
                  </a:ext>
                </a:extLst>
              </a:tr>
            </a:tbl>
          </a:graphicData>
        </a:graphic>
      </p:graphicFrame>
    </p:spTree>
    <p:extLst>
      <p:ext uri="{BB962C8B-B14F-4D97-AF65-F5344CB8AC3E}">
        <p14:creationId xmlns:p14="http://schemas.microsoft.com/office/powerpoint/2010/main" val="2619171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FA353-3719-695D-88C7-905669DE0339}"/>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0EC298D4-CEFE-13A5-26A7-E38A03FE24BA}"/>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150380D8-2F6A-D03D-F3C7-F449D79BD5B2}"/>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CD4368BC-713F-F206-FC93-96B94D17ABB0}"/>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323110EE-2D50-7429-00B6-EE30DD41B29C}"/>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FDAE636F-F5BD-4BEE-55D4-F884FD309574}"/>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Governance Costs ( Inclusive of GST @18%)</a:t>
            </a:r>
            <a:endParaRPr lang="en-US" sz="1400" dirty="0"/>
          </a:p>
        </p:txBody>
      </p:sp>
      <p:graphicFrame>
        <p:nvGraphicFramePr>
          <p:cNvPr id="9" name="Table 8">
            <a:extLst>
              <a:ext uri="{FF2B5EF4-FFF2-40B4-BE49-F238E27FC236}">
                <a16:creationId xmlns:a16="http://schemas.microsoft.com/office/drawing/2014/main" id="{91741142-A0A1-21FD-C195-F89A39EF7DC7}"/>
              </a:ext>
            </a:extLst>
          </p:cNvPr>
          <p:cNvGraphicFramePr>
            <a:graphicFrameLocks noGrp="1"/>
          </p:cNvGraphicFramePr>
          <p:nvPr>
            <p:extLst>
              <p:ext uri="{D42A27DB-BD31-4B8C-83A1-F6EECF244321}">
                <p14:modId xmlns:p14="http://schemas.microsoft.com/office/powerpoint/2010/main" val="1505771106"/>
              </p:ext>
            </p:extLst>
          </p:nvPr>
        </p:nvGraphicFramePr>
        <p:xfrm>
          <a:off x="320040" y="1083620"/>
          <a:ext cx="8087790" cy="3744601"/>
        </p:xfrm>
        <a:graphic>
          <a:graphicData uri="http://schemas.openxmlformats.org/drawingml/2006/table">
            <a:tbl>
              <a:tblPr>
                <a:tableStyleId>{5C22544A-7EE6-4342-B048-85BDC9FD1C3A}</a:tableStyleId>
              </a:tblPr>
              <a:tblGrid>
                <a:gridCol w="469472">
                  <a:extLst>
                    <a:ext uri="{9D8B030D-6E8A-4147-A177-3AD203B41FA5}">
                      <a16:colId xmlns:a16="http://schemas.microsoft.com/office/drawing/2014/main" val="748599869"/>
                    </a:ext>
                  </a:extLst>
                </a:gridCol>
                <a:gridCol w="2053712">
                  <a:extLst>
                    <a:ext uri="{9D8B030D-6E8A-4147-A177-3AD203B41FA5}">
                      <a16:colId xmlns:a16="http://schemas.microsoft.com/office/drawing/2014/main" val="3493393050"/>
                    </a:ext>
                  </a:extLst>
                </a:gridCol>
                <a:gridCol w="2506116">
                  <a:extLst>
                    <a:ext uri="{9D8B030D-6E8A-4147-A177-3AD203B41FA5}">
                      <a16:colId xmlns:a16="http://schemas.microsoft.com/office/drawing/2014/main" val="2850336844"/>
                    </a:ext>
                  </a:extLst>
                </a:gridCol>
                <a:gridCol w="698134">
                  <a:extLst>
                    <a:ext uri="{9D8B030D-6E8A-4147-A177-3AD203B41FA5}">
                      <a16:colId xmlns:a16="http://schemas.microsoft.com/office/drawing/2014/main" val="948241010"/>
                    </a:ext>
                  </a:extLst>
                </a:gridCol>
                <a:gridCol w="698134">
                  <a:extLst>
                    <a:ext uri="{9D8B030D-6E8A-4147-A177-3AD203B41FA5}">
                      <a16:colId xmlns:a16="http://schemas.microsoft.com/office/drawing/2014/main" val="1880157034"/>
                    </a:ext>
                  </a:extLst>
                </a:gridCol>
                <a:gridCol w="831111">
                  <a:extLst>
                    <a:ext uri="{9D8B030D-6E8A-4147-A177-3AD203B41FA5}">
                      <a16:colId xmlns:a16="http://schemas.microsoft.com/office/drawing/2014/main" val="1531620821"/>
                    </a:ext>
                  </a:extLst>
                </a:gridCol>
                <a:gridCol w="831111">
                  <a:extLst>
                    <a:ext uri="{9D8B030D-6E8A-4147-A177-3AD203B41FA5}">
                      <a16:colId xmlns:a16="http://schemas.microsoft.com/office/drawing/2014/main" val="1532622961"/>
                    </a:ext>
                  </a:extLst>
                </a:gridCol>
              </a:tblGrid>
              <a:tr h="71960">
                <a:tc>
                  <a:txBody>
                    <a:bodyPr/>
                    <a:lstStyle/>
                    <a:p>
                      <a:pPr algn="ctr" fontAlgn="ctr">
                        <a:buNone/>
                      </a:pP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Governance</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Scope</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II</a:t>
                      </a:r>
                    </a:p>
                  </a:txBody>
                  <a:tcPr marL="6991" marR="6991" marT="6991" marB="0" anchor="ctr">
                    <a:solidFill>
                      <a:schemeClr val="bg1">
                        <a:lumMod val="75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Total Cost</a:t>
                      </a:r>
                    </a:p>
                  </a:txBody>
                  <a:tcPr marL="6991" marR="6991" marT="6991" marB="0" anchor="ctr">
                    <a:solidFill>
                      <a:schemeClr val="accent1">
                        <a:lumMod val="40000"/>
                        <a:lumOff val="60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Frequency</a:t>
                      </a:r>
                    </a:p>
                  </a:txBody>
                  <a:tcPr marL="6991" marR="6991" marT="6991" marB="0" anchor="ctr">
                    <a:solidFill>
                      <a:schemeClr val="accent1">
                        <a:lumMod val="40000"/>
                        <a:lumOff val="60000"/>
                      </a:schemeClr>
                    </a:solidFill>
                  </a:tcPr>
                </a:tc>
                <a:extLst>
                  <a:ext uri="{0D108BD9-81ED-4DB2-BD59-A6C34878D82A}">
                    <a16:rowId xmlns:a16="http://schemas.microsoft.com/office/drawing/2014/main" val="2399852473"/>
                  </a:ext>
                </a:extLst>
              </a:tr>
              <a:tr h="332425">
                <a:tc>
                  <a:txBody>
                    <a:bodyPr/>
                    <a:lstStyle/>
                    <a:p>
                      <a:pPr algn="ctr" fontAlgn="ctr">
                        <a:buNone/>
                      </a:pPr>
                      <a:r>
                        <a:rPr lang="en-IN" sz="1000" b="1" i="0" u="none" strike="noStrike" kern="1200" dirty="0">
                          <a:solidFill>
                            <a:srgbClr val="404040"/>
                          </a:solidFill>
                          <a:effectLst/>
                          <a:latin typeface="Arial" panose="020B0604020202020204" pitchFamily="34" charset="0"/>
                          <a:ea typeface="+mn-ea"/>
                          <a:cs typeface="+mn-cs"/>
                        </a:rPr>
                        <a:t>GOV01</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Project Management</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Dedicated Project Manager </a:t>
                      </a:r>
                      <a:r>
                        <a:rPr lang="en-IN" sz="1000" b="0" i="0" u="none" strike="noStrike" dirty="0">
                          <a:solidFill>
                            <a:srgbClr val="404040"/>
                          </a:solidFill>
                          <a:effectLst/>
                          <a:latin typeface="Arial" panose="020B0604020202020204" pitchFamily="34" charset="0"/>
                        </a:rPr>
                        <a:t>for </a:t>
                      </a:r>
                      <a:r>
                        <a:rPr lang="en-IN" sz="1000" b="1" i="0" u="none" strike="noStrike" dirty="0">
                          <a:solidFill>
                            <a:srgbClr val="404040"/>
                          </a:solidFill>
                          <a:effectLst/>
                          <a:latin typeface="Arial" panose="020B0604020202020204" pitchFamily="34" charset="0"/>
                        </a:rPr>
                        <a:t>24 weeks (16 weeks Ph1, 8 weeks Ph2 )</a:t>
                      </a:r>
                      <a:r>
                        <a:rPr lang="en-IN" sz="1000" b="0" i="0" u="none" strike="noStrike" dirty="0">
                          <a:solidFill>
                            <a:srgbClr val="404040"/>
                          </a:solidFill>
                          <a:effectLst/>
                          <a:latin typeface="Arial" panose="020B0604020202020204" pitchFamily="34" charset="0"/>
                        </a:rPr>
                        <a:t>; weekly status reports; risk register; steering committee meetings (bi-weekly); project plan maintenance; issue escalation matrix</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₹55,000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₹30,000 </a:t>
                      </a:r>
                    </a:p>
                  </a:txBody>
                  <a:tcPr marL="9525" marR="9525" marT="9525" marB="0" anchor="ctr"/>
                </a:tc>
                <a:tc>
                  <a:txBody>
                    <a:bodyPr/>
                    <a:lstStyle/>
                    <a:p>
                      <a:pPr algn="r" fontAlgn="b">
                        <a:buNone/>
                      </a:pPr>
                      <a:r>
                        <a:rPr lang="en-IN" sz="1100" b="1" i="0" u="none" strike="noStrike" dirty="0">
                          <a:solidFill>
                            <a:schemeClr val="accent2">
                              <a:lumMod val="50000"/>
                            </a:schemeClr>
                          </a:solidFill>
                          <a:effectLst/>
                          <a:latin typeface="Calibri" panose="020F0502020204030204" pitchFamily="34" charset="0"/>
                        </a:rPr>
                        <a:t>             ₹</a:t>
                      </a:r>
                      <a:r>
                        <a:rPr lang="en-IN" sz="1100" b="1" i="1" u="none" strike="noStrike" dirty="0">
                          <a:solidFill>
                            <a:schemeClr val="accent2">
                              <a:lumMod val="50000"/>
                            </a:schemeClr>
                          </a:solidFill>
                          <a:effectLst/>
                          <a:latin typeface="Calibri" panose="020F0502020204030204" pitchFamily="34" charset="0"/>
                        </a:rPr>
                        <a:t>85,000 </a:t>
                      </a:r>
                    </a:p>
                  </a:txBody>
                  <a:tcPr marL="9525" marR="9525" marT="9525" marB="0" anchor="ctr">
                    <a:solidFill>
                      <a:srgbClr val="FFFF00"/>
                    </a:solidFill>
                  </a:tcPr>
                </a:tc>
                <a:tc>
                  <a:txBody>
                    <a:bodyPr/>
                    <a:lstStyle/>
                    <a:p>
                      <a:pPr algn="ctr" fontAlgn="b">
                        <a:buNone/>
                      </a:pPr>
                      <a:r>
                        <a:rPr lang="en-IN" sz="1100" b="1" i="0" u="none" strike="noStrike" dirty="0">
                          <a:solidFill>
                            <a:schemeClr val="tx1"/>
                          </a:solidFill>
                          <a:effectLst/>
                          <a:latin typeface="Calibri" panose="020F0502020204030204" pitchFamily="34" charset="0"/>
                        </a:rPr>
                        <a:t>One Time</a:t>
                      </a:r>
                    </a:p>
                  </a:txBody>
                  <a:tcPr marL="9525" marR="9525" marT="9525" marB="0" anchor="ctr">
                    <a:solidFill>
                      <a:schemeClr val="bg1">
                        <a:lumMod val="85000"/>
                      </a:schemeClr>
                    </a:solidFill>
                  </a:tcPr>
                </a:tc>
                <a:extLst>
                  <a:ext uri="{0D108BD9-81ED-4DB2-BD59-A6C34878D82A}">
                    <a16:rowId xmlns:a16="http://schemas.microsoft.com/office/drawing/2014/main" val="3233400333"/>
                  </a:ext>
                </a:extLst>
              </a:tr>
              <a:tr h="332425">
                <a:tc>
                  <a:txBody>
                    <a:bodyPr/>
                    <a:lstStyle/>
                    <a:p>
                      <a:pPr algn="ctr" fontAlgn="ctr">
                        <a:buNone/>
                      </a:pPr>
                      <a:r>
                        <a:rPr lang="en-IN" sz="1000" b="1" i="0" u="none" strike="noStrike" kern="1200" dirty="0">
                          <a:solidFill>
                            <a:srgbClr val="404040"/>
                          </a:solidFill>
                          <a:effectLst/>
                          <a:latin typeface="Arial" panose="020B0604020202020204" pitchFamily="34" charset="0"/>
                          <a:ea typeface="+mn-ea"/>
                          <a:cs typeface="+mn-cs"/>
                        </a:rPr>
                        <a:t>GOV02</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Documentation Pack</a:t>
                      </a:r>
                    </a:p>
                  </a:txBody>
                  <a:tcPr marL="9525" marR="9525" marT="9525" marB="0" anchor="ctr">
                    <a:solidFill>
                      <a:schemeClr val="bg1">
                        <a:lumMod val="75000"/>
                      </a:schemeClr>
                    </a:solidFill>
                  </a:tcPr>
                </a:tc>
                <a:tc>
                  <a:txBody>
                    <a:bodyPr/>
                    <a:lstStyle/>
                    <a:p>
                      <a:pPr algn="l" fontAlgn="ctr">
                        <a:buNone/>
                      </a:pPr>
                      <a:r>
                        <a:rPr lang="en-IN" sz="1000" b="0" i="0" u="none" strike="noStrike" dirty="0">
                          <a:solidFill>
                            <a:srgbClr val="404040"/>
                          </a:solidFill>
                          <a:effectLst/>
                          <a:latin typeface="Arial" panose="020B0604020202020204" pitchFamily="34" charset="0"/>
                        </a:rPr>
                        <a:t>Business Requirements Document (BRD); System Requirements Specification (SRS); Technical Design Document; API Integration Specification; User Manual &amp; Admin Guide; Deployment Runbook</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₹17,500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₹8,500 </a:t>
                      </a:r>
                    </a:p>
                  </a:txBody>
                  <a:tcPr marL="9525" marR="9525" marT="9525" marB="0" anchor="ctr"/>
                </a:tc>
                <a:tc>
                  <a:txBody>
                    <a:bodyPr/>
                    <a:lstStyle/>
                    <a:p>
                      <a:pPr algn="r" fontAlgn="b">
                        <a:buNone/>
                      </a:pPr>
                      <a:r>
                        <a:rPr lang="en-IN" sz="1100" b="1" i="1" u="none" strike="noStrike" dirty="0">
                          <a:solidFill>
                            <a:schemeClr val="accent2">
                              <a:lumMod val="50000"/>
                            </a:schemeClr>
                          </a:solidFill>
                          <a:effectLst/>
                          <a:latin typeface="Calibri" panose="020F0502020204030204" pitchFamily="34" charset="0"/>
                        </a:rPr>
                        <a:t>             </a:t>
                      </a:r>
                      <a:r>
                        <a:rPr lang="en-IN" sz="1100" b="1" i="0" u="none" strike="noStrike" dirty="0">
                          <a:solidFill>
                            <a:schemeClr val="accent2">
                              <a:lumMod val="50000"/>
                            </a:schemeClr>
                          </a:solidFill>
                          <a:effectLst/>
                          <a:latin typeface="Calibri" panose="020F0502020204030204" pitchFamily="34" charset="0"/>
                        </a:rPr>
                        <a:t> ₹</a:t>
                      </a:r>
                      <a:r>
                        <a:rPr lang="en-IN" sz="1100" b="1" i="1" u="none" strike="noStrike" dirty="0">
                          <a:solidFill>
                            <a:schemeClr val="accent2">
                              <a:lumMod val="50000"/>
                            </a:schemeClr>
                          </a:solidFill>
                          <a:effectLst/>
                          <a:latin typeface="Calibri" panose="020F0502020204030204" pitchFamily="34" charset="0"/>
                        </a:rPr>
                        <a:t>26,000 </a:t>
                      </a:r>
                    </a:p>
                  </a:txBody>
                  <a:tcPr marL="9525" marR="9525" marT="9525" marB="0" anchor="ctr">
                    <a:solidFill>
                      <a:srgbClr val="FFFF0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1900751928"/>
                  </a:ext>
                </a:extLst>
              </a:tr>
              <a:tr h="266761">
                <a:tc>
                  <a:txBody>
                    <a:bodyPr/>
                    <a:lstStyle/>
                    <a:p>
                      <a:pPr algn="ctr" fontAlgn="ctr">
                        <a:buNone/>
                      </a:pPr>
                      <a:r>
                        <a:rPr lang="en-IN" sz="1000" b="1" i="0" u="none" strike="noStrike" kern="1200" dirty="0">
                          <a:solidFill>
                            <a:srgbClr val="404040"/>
                          </a:solidFill>
                          <a:effectLst/>
                          <a:latin typeface="Arial" panose="020B0604020202020204" pitchFamily="34" charset="0"/>
                          <a:ea typeface="+mn-ea"/>
                          <a:cs typeface="+mn-cs"/>
                        </a:rPr>
                        <a:t>GOV03</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Change Management &amp;</a:t>
                      </a:r>
                      <a:br>
                        <a:rPr lang="en-IN" sz="1000" b="1" i="0" u="none" strike="noStrike" dirty="0">
                          <a:solidFill>
                            <a:srgbClr val="404040"/>
                          </a:solidFill>
                          <a:effectLst/>
                          <a:latin typeface="Arial" panose="020B0604020202020204" pitchFamily="34" charset="0"/>
                        </a:rPr>
                      </a:br>
                      <a:r>
                        <a:rPr lang="en-IN" sz="1000" b="1" i="0" u="none" strike="noStrike" dirty="0">
                          <a:solidFill>
                            <a:srgbClr val="404040"/>
                          </a:solidFill>
                          <a:effectLst/>
                          <a:latin typeface="Arial" panose="020B0604020202020204" pitchFamily="34" charset="0"/>
                        </a:rPr>
                        <a:t>Stakeholder Engagement</a:t>
                      </a:r>
                    </a:p>
                  </a:txBody>
                  <a:tcPr marL="9525" marR="9525" marT="9525" marB="0" anchor="ctr">
                    <a:solidFill>
                      <a:schemeClr val="bg1">
                        <a:lumMod val="75000"/>
                      </a:schemeClr>
                    </a:solidFill>
                  </a:tcPr>
                </a:tc>
                <a:tc>
                  <a:txBody>
                    <a:bodyPr/>
                    <a:lstStyle/>
                    <a:p>
                      <a:pPr algn="l" fontAlgn="ctr">
                        <a:buNone/>
                      </a:pPr>
                      <a:r>
                        <a:rPr lang="en-IN" sz="1000" b="0" i="0" u="none" strike="noStrike">
                          <a:solidFill>
                            <a:srgbClr val="404040"/>
                          </a:solidFill>
                          <a:effectLst/>
                          <a:latin typeface="Arial" panose="020B0604020202020204" pitchFamily="34" charset="0"/>
                        </a:rPr>
                        <a:t>Change impact assessment; communication plan; stakeholder workshops; resistance management; adoption monitoring post go-live</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₹17,500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₹8,500 </a:t>
                      </a:r>
                    </a:p>
                  </a:txBody>
                  <a:tcPr marL="9525" marR="9525" marT="9525" marB="0" anchor="ctr"/>
                </a:tc>
                <a:tc>
                  <a:txBody>
                    <a:bodyPr/>
                    <a:lstStyle/>
                    <a:p>
                      <a:pPr algn="r" fontAlgn="b">
                        <a:buNone/>
                      </a:pPr>
                      <a:r>
                        <a:rPr lang="en-IN" sz="1100" b="1" i="1" u="none" strike="noStrike" dirty="0">
                          <a:solidFill>
                            <a:schemeClr val="accent2">
                              <a:lumMod val="50000"/>
                            </a:schemeClr>
                          </a:solidFill>
                          <a:effectLst/>
                          <a:latin typeface="Calibri" panose="020F0502020204030204" pitchFamily="34" charset="0"/>
                        </a:rPr>
                        <a:t>             </a:t>
                      </a:r>
                      <a:r>
                        <a:rPr lang="en-IN" sz="1100" b="1" i="0" u="none" strike="noStrike" dirty="0">
                          <a:solidFill>
                            <a:schemeClr val="accent2">
                              <a:lumMod val="50000"/>
                            </a:schemeClr>
                          </a:solidFill>
                          <a:effectLst/>
                          <a:latin typeface="Calibri" panose="020F0502020204030204" pitchFamily="34" charset="0"/>
                        </a:rPr>
                        <a:t> ₹</a:t>
                      </a:r>
                      <a:r>
                        <a:rPr lang="en-IN" sz="1100" b="1" i="1" u="none" strike="noStrike" dirty="0">
                          <a:solidFill>
                            <a:schemeClr val="accent2">
                              <a:lumMod val="50000"/>
                            </a:schemeClr>
                          </a:solidFill>
                          <a:effectLst/>
                          <a:latin typeface="Calibri" panose="020F0502020204030204" pitchFamily="34" charset="0"/>
                        </a:rPr>
                        <a:t>26,000 </a:t>
                      </a:r>
                    </a:p>
                  </a:txBody>
                  <a:tcPr marL="9525" marR="9525" marT="9525" marB="0" anchor="ctr">
                    <a:solidFill>
                      <a:srgbClr val="FFFF0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4167483055"/>
                  </a:ext>
                </a:extLst>
              </a:tr>
              <a:tr h="266761">
                <a:tc>
                  <a:txBody>
                    <a:bodyPr/>
                    <a:lstStyle/>
                    <a:p>
                      <a:pPr algn="ctr" fontAlgn="ctr">
                        <a:buNone/>
                      </a:pPr>
                      <a:r>
                        <a:rPr lang="en-IN" sz="1000" b="1" i="0" u="none" strike="noStrike" kern="1200" dirty="0">
                          <a:solidFill>
                            <a:srgbClr val="404040"/>
                          </a:solidFill>
                          <a:effectLst/>
                          <a:latin typeface="Arial" panose="020B0604020202020204" pitchFamily="34" charset="0"/>
                          <a:ea typeface="+mn-ea"/>
                          <a:cs typeface="+mn-cs"/>
                        </a:rPr>
                        <a:t>GOV04</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Data Migration Support</a:t>
                      </a:r>
                    </a:p>
                  </a:txBody>
                  <a:tcPr marL="9525" marR="9525" marT="9525" marB="0" anchor="ctr">
                    <a:solidFill>
                      <a:schemeClr val="bg1">
                        <a:lumMod val="75000"/>
                      </a:schemeClr>
                    </a:solidFill>
                  </a:tcPr>
                </a:tc>
                <a:tc>
                  <a:txBody>
                    <a:bodyPr/>
                    <a:lstStyle/>
                    <a:p>
                      <a:pPr algn="l" fontAlgn="ctr">
                        <a:buNone/>
                      </a:pPr>
                      <a:r>
                        <a:rPr lang="en-IN" sz="1000" b="0" i="0" u="none" strike="noStrike">
                          <a:solidFill>
                            <a:srgbClr val="404040"/>
                          </a:solidFill>
                          <a:effectLst/>
                          <a:latin typeface="Arial" panose="020B0604020202020204" pitchFamily="34" charset="0"/>
                        </a:rPr>
                        <a:t>Item master migration; vendor master migration; opening stock upload; data cleansing &amp; validation; migration test runs (3 dry runs + final cutover)</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₹17,500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₹8,500 </a:t>
                      </a:r>
                    </a:p>
                  </a:txBody>
                  <a:tcPr marL="9525" marR="9525" marT="9525" marB="0" anchor="ctr"/>
                </a:tc>
                <a:tc>
                  <a:txBody>
                    <a:bodyPr/>
                    <a:lstStyle/>
                    <a:p>
                      <a:pPr algn="r" fontAlgn="b">
                        <a:buNone/>
                      </a:pPr>
                      <a:r>
                        <a:rPr lang="en-IN" sz="1100" b="1" i="1" u="none" strike="noStrike" dirty="0">
                          <a:solidFill>
                            <a:schemeClr val="accent2">
                              <a:lumMod val="50000"/>
                            </a:schemeClr>
                          </a:solidFill>
                          <a:effectLst/>
                          <a:latin typeface="Calibri" panose="020F0502020204030204" pitchFamily="34" charset="0"/>
                        </a:rPr>
                        <a:t>             </a:t>
                      </a:r>
                      <a:r>
                        <a:rPr lang="en-IN" sz="1100" b="1" i="0" u="none" strike="noStrike" dirty="0">
                          <a:solidFill>
                            <a:schemeClr val="accent2">
                              <a:lumMod val="50000"/>
                            </a:schemeClr>
                          </a:solidFill>
                          <a:effectLst/>
                          <a:latin typeface="Calibri" panose="020F0502020204030204" pitchFamily="34" charset="0"/>
                        </a:rPr>
                        <a:t> ₹</a:t>
                      </a:r>
                      <a:r>
                        <a:rPr lang="en-IN" sz="1100" b="1" i="1" u="none" strike="noStrike" dirty="0">
                          <a:solidFill>
                            <a:schemeClr val="accent2">
                              <a:lumMod val="50000"/>
                            </a:schemeClr>
                          </a:solidFill>
                          <a:effectLst/>
                          <a:latin typeface="Calibri" panose="020F0502020204030204" pitchFamily="34" charset="0"/>
                        </a:rPr>
                        <a:t>26,000 </a:t>
                      </a:r>
                    </a:p>
                  </a:txBody>
                  <a:tcPr marL="9525" marR="9525" marT="9525" marB="0" anchor="ctr">
                    <a:solidFill>
                      <a:srgbClr val="FFFF0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1773479522"/>
                  </a:ext>
                </a:extLst>
              </a:tr>
              <a:tr h="201097">
                <a:tc>
                  <a:txBody>
                    <a:bodyPr/>
                    <a:lstStyle/>
                    <a:p>
                      <a:pPr algn="ctr" fontAlgn="ctr">
                        <a:buNone/>
                      </a:pPr>
                      <a:r>
                        <a:rPr lang="en-IN" sz="1000" b="1" i="0" u="none" strike="noStrike" kern="1200" dirty="0">
                          <a:solidFill>
                            <a:srgbClr val="404040"/>
                          </a:solidFill>
                          <a:effectLst/>
                          <a:latin typeface="Arial" panose="020B0604020202020204" pitchFamily="34" charset="0"/>
                          <a:ea typeface="+mn-ea"/>
                          <a:cs typeface="+mn-cs"/>
                        </a:rPr>
                        <a:t>GOV05</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Quality Assurance &amp;</a:t>
                      </a:r>
                      <a:br>
                        <a:rPr lang="en-IN" sz="1000" b="1" i="0" u="none" strike="noStrike" dirty="0">
                          <a:solidFill>
                            <a:srgbClr val="404040"/>
                          </a:solidFill>
                          <a:effectLst/>
                          <a:latin typeface="Arial" panose="020B0604020202020204" pitchFamily="34" charset="0"/>
                        </a:rPr>
                      </a:br>
                      <a:r>
                        <a:rPr lang="en-IN" sz="1000" b="1" i="0" u="none" strike="noStrike" dirty="0">
                          <a:solidFill>
                            <a:srgbClr val="404040"/>
                          </a:solidFill>
                          <a:effectLst/>
                          <a:latin typeface="Arial" panose="020B0604020202020204" pitchFamily="34" charset="0"/>
                        </a:rPr>
                        <a:t>Test Management</a:t>
                      </a:r>
                    </a:p>
                  </a:txBody>
                  <a:tcPr marL="9525" marR="9525" marT="9525" marB="0" anchor="ctr">
                    <a:solidFill>
                      <a:schemeClr val="bg1">
                        <a:lumMod val="75000"/>
                      </a:schemeClr>
                    </a:solidFill>
                  </a:tcPr>
                </a:tc>
                <a:tc>
                  <a:txBody>
                    <a:bodyPr/>
                    <a:lstStyle/>
                    <a:p>
                      <a:pPr algn="l" fontAlgn="ctr">
                        <a:buNone/>
                      </a:pPr>
                      <a:r>
                        <a:rPr lang="en-IN" sz="1000" b="0" i="0" u="none" strike="noStrike" dirty="0">
                          <a:solidFill>
                            <a:srgbClr val="404040"/>
                          </a:solidFill>
                          <a:effectLst/>
                          <a:latin typeface="Arial" panose="020B0604020202020204" pitchFamily="34" charset="0"/>
                        </a:rPr>
                        <a:t>QA lead for test planning; test case repository; SIT/UAT coordination; defect life-cycle management; test summary report</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₹24,000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₹12,000 </a:t>
                      </a:r>
                    </a:p>
                  </a:txBody>
                  <a:tcPr marL="9525" marR="9525" marT="9525" marB="0" anchor="ctr"/>
                </a:tc>
                <a:tc>
                  <a:txBody>
                    <a:bodyPr/>
                    <a:lstStyle/>
                    <a:p>
                      <a:pPr algn="r" fontAlgn="b">
                        <a:buNone/>
                      </a:pPr>
                      <a:r>
                        <a:rPr lang="en-IN" sz="1100" b="1" i="1" u="none" strike="noStrike" dirty="0">
                          <a:solidFill>
                            <a:schemeClr val="accent2">
                              <a:lumMod val="50000"/>
                            </a:schemeClr>
                          </a:solidFill>
                          <a:effectLst/>
                          <a:latin typeface="Calibri" panose="020F0502020204030204" pitchFamily="34" charset="0"/>
                        </a:rPr>
                        <a:t>             </a:t>
                      </a:r>
                      <a:r>
                        <a:rPr lang="en-IN" sz="1100" b="1" i="0" u="none" strike="noStrike" dirty="0">
                          <a:solidFill>
                            <a:schemeClr val="accent2">
                              <a:lumMod val="50000"/>
                            </a:schemeClr>
                          </a:solidFill>
                          <a:effectLst/>
                          <a:latin typeface="Calibri" panose="020F0502020204030204" pitchFamily="34" charset="0"/>
                        </a:rPr>
                        <a:t> ₹</a:t>
                      </a:r>
                      <a:r>
                        <a:rPr lang="en-IN" sz="1100" b="1" i="1" u="none" strike="noStrike" dirty="0">
                          <a:solidFill>
                            <a:schemeClr val="accent2">
                              <a:lumMod val="50000"/>
                            </a:schemeClr>
                          </a:solidFill>
                          <a:effectLst/>
                          <a:latin typeface="Calibri" panose="020F0502020204030204" pitchFamily="34" charset="0"/>
                        </a:rPr>
                        <a:t>36,000 </a:t>
                      </a:r>
                    </a:p>
                  </a:txBody>
                  <a:tcPr marL="9525" marR="9525" marT="9525" marB="0" anchor="ctr">
                    <a:solidFill>
                      <a:srgbClr val="FFFF0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One Time</a:t>
                      </a:r>
                    </a:p>
                  </a:txBody>
                  <a:tcPr marL="9525" marR="9525" marT="9525" marB="0" anchor="ctr">
                    <a:solidFill>
                      <a:schemeClr val="bg1">
                        <a:lumMod val="85000"/>
                      </a:schemeClr>
                    </a:solidFill>
                  </a:tcPr>
                </a:tc>
                <a:extLst>
                  <a:ext uri="{0D108BD9-81ED-4DB2-BD59-A6C34878D82A}">
                    <a16:rowId xmlns:a16="http://schemas.microsoft.com/office/drawing/2014/main" val="2714465814"/>
                  </a:ext>
                </a:extLst>
              </a:tr>
              <a:tr h="164903">
                <a:tc>
                  <a:txBody>
                    <a:bodyPr/>
                    <a:lstStyle/>
                    <a:p>
                      <a:pPr algn="l" fontAlgn="ctr">
                        <a:buNone/>
                      </a:pPr>
                      <a:endParaRPr lang="en-IN" sz="1050" b="1" i="1" u="none" strike="noStrike" dirty="0">
                        <a:solidFill>
                          <a:schemeClr val="accent2">
                            <a:lumMod val="50000"/>
                          </a:schemeClr>
                        </a:solidFill>
                        <a:effectLst/>
                        <a:latin typeface="Arial" panose="020B0604020202020204" pitchFamily="34" charset="0"/>
                      </a:endParaRPr>
                    </a:p>
                  </a:txBody>
                  <a:tcPr marL="6991" marR="6991" marT="6991" marB="0" anchor="ctr">
                    <a:solidFill>
                      <a:srgbClr val="FFFF00"/>
                    </a:solidFill>
                  </a:tcPr>
                </a:tc>
                <a:tc>
                  <a:txBody>
                    <a:bodyPr/>
                    <a:lstStyle/>
                    <a:p>
                      <a:pPr algn="l" fontAlgn="ctr">
                        <a:buNone/>
                      </a:pPr>
                      <a:r>
                        <a:rPr lang="en-IN" sz="1050" b="1" i="1" u="none" strike="noStrike" dirty="0">
                          <a:solidFill>
                            <a:schemeClr val="accent2">
                              <a:lumMod val="50000"/>
                            </a:schemeClr>
                          </a:solidFill>
                          <a:effectLst/>
                          <a:latin typeface="Arial" panose="020B0604020202020204" pitchFamily="34" charset="0"/>
                        </a:rPr>
                        <a:t>Sub Total</a:t>
                      </a:r>
                    </a:p>
                  </a:txBody>
                  <a:tcPr marL="6991" marR="6991" marT="6991" marB="0" anchor="ctr">
                    <a:solidFill>
                      <a:srgbClr val="FFFF00"/>
                    </a:solidFill>
                  </a:tcPr>
                </a:tc>
                <a:tc>
                  <a:txBody>
                    <a:bodyPr/>
                    <a:lstStyle/>
                    <a:p>
                      <a:pPr marL="0" algn="ctr" defTabSz="914400" rtl="0" eaLnBrk="1" fontAlgn="ctr" latinLnBrk="0" hangingPunct="1">
                        <a:buNone/>
                      </a:pPr>
                      <a:endParaRPr lang="en-IN" sz="1100" b="1" i="1" u="none" strike="noStrike" kern="1200" dirty="0">
                        <a:solidFill>
                          <a:schemeClr val="accent2">
                            <a:lumMod val="50000"/>
                          </a:schemeClr>
                        </a:solidFill>
                        <a:effectLst/>
                        <a:latin typeface="Arial" panose="020B0604020202020204" pitchFamily="34" charset="0"/>
                        <a:ea typeface="+mn-ea"/>
                        <a:cs typeface="+mn-cs"/>
                      </a:endParaRPr>
                    </a:p>
                  </a:txBody>
                  <a:tcPr marL="6991" marR="6991" marT="6991" marB="0" anchor="ctr"/>
                </a:tc>
                <a:tc>
                  <a:txBody>
                    <a:bodyPr/>
                    <a:lstStyle/>
                    <a:p>
                      <a:pPr marL="0" algn="r" defTabSz="914400" rtl="0" eaLnBrk="1" fontAlgn="b"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₹1,31,500 </a:t>
                      </a:r>
                    </a:p>
                  </a:txBody>
                  <a:tcPr marL="9525" marR="9525" marT="9525" marB="0" anchor="ctr">
                    <a:solidFill>
                      <a:srgbClr val="FFFF00"/>
                    </a:solidFill>
                  </a:tcPr>
                </a:tc>
                <a:tc>
                  <a:txBody>
                    <a:bodyPr/>
                    <a:lstStyle/>
                    <a:p>
                      <a:pPr marL="0" algn="r" defTabSz="914400" rtl="0" eaLnBrk="1" fontAlgn="b"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     ₹67,500 </a:t>
                      </a:r>
                    </a:p>
                  </a:txBody>
                  <a:tcPr marL="9525" marR="9525" marT="9525" marB="0" anchor="ctr">
                    <a:solidFill>
                      <a:srgbClr val="FFFF00"/>
                    </a:solidFill>
                  </a:tcPr>
                </a:tc>
                <a:tc>
                  <a:txBody>
                    <a:bodyPr/>
                    <a:lstStyle/>
                    <a:p>
                      <a:pPr marL="0" algn="r" defTabSz="914400" rtl="0" eaLnBrk="1" fontAlgn="b" latinLnBrk="0" hangingPunct="1">
                        <a:buNone/>
                      </a:pPr>
                      <a:r>
                        <a:rPr lang="en-IN" sz="1050" b="1" i="1" u="none" strike="noStrike" kern="1200" dirty="0">
                          <a:solidFill>
                            <a:schemeClr val="accent2">
                              <a:lumMod val="50000"/>
                            </a:schemeClr>
                          </a:solidFill>
                          <a:effectLst/>
                          <a:latin typeface="Arial" panose="020B0604020202020204" pitchFamily="34" charset="0"/>
                          <a:ea typeface="+mn-ea"/>
                          <a:cs typeface="+mn-cs"/>
                        </a:rPr>
                        <a:t>      ₹1,99,000 </a:t>
                      </a:r>
                    </a:p>
                  </a:txBody>
                  <a:tcPr marL="9525" marR="9525" marT="9525" marB="0" anchor="c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One Time</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530888953"/>
                  </a:ext>
                </a:extLst>
              </a:tr>
            </a:tbl>
          </a:graphicData>
        </a:graphic>
      </p:graphicFrame>
    </p:spTree>
    <p:extLst>
      <p:ext uri="{BB962C8B-B14F-4D97-AF65-F5344CB8AC3E}">
        <p14:creationId xmlns:p14="http://schemas.microsoft.com/office/powerpoint/2010/main" val="3767825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A055-2B4C-0109-3ACC-13CC61A873CE}"/>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69DD8252-1731-10B7-9F16-951BF2EC88DE}"/>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B3F03665-F74C-C07E-3414-EB2AD5A3D660}"/>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63D93082-1534-A254-0CAC-68D9FAAD46C2}"/>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0E21EFBB-1B39-A46E-9D01-4E5F55AF8341}"/>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0AE91BB5-4244-2180-A8AE-D619FEEF6E31}"/>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Training Costs ( Inclusive of GST @18%)</a:t>
            </a:r>
            <a:endParaRPr lang="en-US" sz="1400" dirty="0"/>
          </a:p>
        </p:txBody>
      </p:sp>
      <p:graphicFrame>
        <p:nvGraphicFramePr>
          <p:cNvPr id="9" name="Table 8">
            <a:extLst>
              <a:ext uri="{FF2B5EF4-FFF2-40B4-BE49-F238E27FC236}">
                <a16:creationId xmlns:a16="http://schemas.microsoft.com/office/drawing/2014/main" id="{4C52EB11-4028-0615-3CE1-4A9BC0048F45}"/>
              </a:ext>
            </a:extLst>
          </p:cNvPr>
          <p:cNvGraphicFramePr>
            <a:graphicFrameLocks noGrp="1"/>
          </p:cNvGraphicFramePr>
          <p:nvPr>
            <p:extLst>
              <p:ext uri="{D42A27DB-BD31-4B8C-83A1-F6EECF244321}">
                <p14:modId xmlns:p14="http://schemas.microsoft.com/office/powerpoint/2010/main" val="2306186037"/>
              </p:ext>
            </p:extLst>
          </p:nvPr>
        </p:nvGraphicFramePr>
        <p:xfrm>
          <a:off x="302216" y="1161288"/>
          <a:ext cx="7415938" cy="2184263"/>
        </p:xfrm>
        <a:graphic>
          <a:graphicData uri="http://schemas.openxmlformats.org/drawingml/2006/table">
            <a:tbl>
              <a:tblPr>
                <a:tableStyleId>{5C22544A-7EE6-4342-B048-85BDC9FD1C3A}</a:tableStyleId>
              </a:tblPr>
              <a:tblGrid>
                <a:gridCol w="356678">
                  <a:extLst>
                    <a:ext uri="{9D8B030D-6E8A-4147-A177-3AD203B41FA5}">
                      <a16:colId xmlns:a16="http://schemas.microsoft.com/office/drawing/2014/main" val="2342001124"/>
                    </a:ext>
                  </a:extLst>
                </a:gridCol>
                <a:gridCol w="1956905">
                  <a:extLst>
                    <a:ext uri="{9D8B030D-6E8A-4147-A177-3AD203B41FA5}">
                      <a16:colId xmlns:a16="http://schemas.microsoft.com/office/drawing/2014/main" val="3493393050"/>
                    </a:ext>
                  </a:extLst>
                </a:gridCol>
                <a:gridCol w="2297933">
                  <a:extLst>
                    <a:ext uri="{9D8B030D-6E8A-4147-A177-3AD203B41FA5}">
                      <a16:colId xmlns:a16="http://schemas.microsoft.com/office/drawing/2014/main" val="2850336844"/>
                    </a:ext>
                  </a:extLst>
                </a:gridCol>
                <a:gridCol w="640140">
                  <a:extLst>
                    <a:ext uri="{9D8B030D-6E8A-4147-A177-3AD203B41FA5}">
                      <a16:colId xmlns:a16="http://schemas.microsoft.com/office/drawing/2014/main" val="948241010"/>
                    </a:ext>
                  </a:extLst>
                </a:gridCol>
                <a:gridCol w="640140">
                  <a:extLst>
                    <a:ext uri="{9D8B030D-6E8A-4147-A177-3AD203B41FA5}">
                      <a16:colId xmlns:a16="http://schemas.microsoft.com/office/drawing/2014/main" val="1880157034"/>
                    </a:ext>
                  </a:extLst>
                </a:gridCol>
                <a:gridCol w="762071">
                  <a:extLst>
                    <a:ext uri="{9D8B030D-6E8A-4147-A177-3AD203B41FA5}">
                      <a16:colId xmlns:a16="http://schemas.microsoft.com/office/drawing/2014/main" val="1531620821"/>
                    </a:ext>
                  </a:extLst>
                </a:gridCol>
                <a:gridCol w="762071">
                  <a:extLst>
                    <a:ext uri="{9D8B030D-6E8A-4147-A177-3AD203B41FA5}">
                      <a16:colId xmlns:a16="http://schemas.microsoft.com/office/drawing/2014/main" val="3849648288"/>
                    </a:ext>
                  </a:extLst>
                </a:gridCol>
              </a:tblGrid>
              <a:tr h="296408">
                <a:tc>
                  <a:txBody>
                    <a:bodyPr/>
                    <a:lstStyle/>
                    <a:p>
                      <a:pPr algn="ctr" fontAlgn="ctr">
                        <a:buNone/>
                      </a:pP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Modules</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Scope</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II</a:t>
                      </a:r>
                    </a:p>
                  </a:txBody>
                  <a:tcPr marL="6991" marR="6991" marT="6991" marB="0" anchor="ctr">
                    <a:solidFill>
                      <a:schemeClr val="bg1">
                        <a:lumMod val="75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Total Cost</a:t>
                      </a:r>
                    </a:p>
                  </a:txBody>
                  <a:tcPr marL="6991" marR="6991" marT="6991" marB="0" anchor="ctr">
                    <a:solidFill>
                      <a:schemeClr val="accent1">
                        <a:lumMod val="40000"/>
                        <a:lumOff val="60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Frequency</a:t>
                      </a:r>
                    </a:p>
                  </a:txBody>
                  <a:tcPr marL="6991" marR="6991" marT="6991" marB="0" anchor="ctr">
                    <a:solidFill>
                      <a:schemeClr val="accent1">
                        <a:lumMod val="40000"/>
                        <a:lumOff val="60000"/>
                      </a:schemeClr>
                    </a:solidFill>
                  </a:tcPr>
                </a:tc>
                <a:extLst>
                  <a:ext uri="{0D108BD9-81ED-4DB2-BD59-A6C34878D82A}">
                    <a16:rowId xmlns:a16="http://schemas.microsoft.com/office/drawing/2014/main" val="2399852473"/>
                  </a:ext>
                </a:extLst>
              </a:tr>
              <a:tr h="203780">
                <a:tc>
                  <a:txBody>
                    <a:bodyPr/>
                    <a:lstStyle/>
                    <a:p>
                      <a:pPr algn="ctr" fontAlgn="ctr">
                        <a:buNone/>
                      </a:pPr>
                      <a:r>
                        <a:rPr lang="en-IN" sz="1000" b="1" i="0" u="none" strike="noStrike" dirty="0">
                          <a:solidFill>
                            <a:srgbClr val="404040"/>
                          </a:solidFill>
                          <a:effectLst/>
                          <a:latin typeface="Arial" panose="020B0604020202020204" pitchFamily="34" charset="0"/>
                        </a:rPr>
                        <a:t>TRN01</a:t>
                      </a:r>
                    </a:p>
                  </a:txBody>
                  <a:tcPr marL="9525" marR="9525" marT="9525" marB="0" anchor="ctr">
                    <a:solidFill>
                      <a:schemeClr val="bg1">
                        <a:lumMod val="75000"/>
                      </a:schemeClr>
                    </a:solidFill>
                  </a:tcPr>
                </a:tc>
                <a:tc>
                  <a:txBody>
                    <a:bodyPr/>
                    <a:lstStyle/>
                    <a:p>
                      <a:pPr algn="l" fontAlgn="ctr">
                        <a:buNone/>
                      </a:pPr>
                      <a:r>
                        <a:rPr lang="en-IN" sz="1000" b="1" i="0" u="none" strike="noStrike" dirty="0">
                          <a:solidFill>
                            <a:srgbClr val="404040"/>
                          </a:solidFill>
                          <a:effectLst/>
                          <a:latin typeface="Arial" panose="020B0604020202020204" pitchFamily="34" charset="0"/>
                        </a:rPr>
                        <a:t>End-User Training</a:t>
                      </a:r>
                    </a:p>
                  </a:txBody>
                  <a:tcPr marL="9525" marR="9525" marT="9525" marB="0" anchor="ctr">
                    <a:solidFill>
                      <a:schemeClr val="bg1">
                        <a:lumMod val="75000"/>
                      </a:schemeClr>
                    </a:solidFill>
                  </a:tcPr>
                </a:tc>
                <a:tc>
                  <a:txBody>
                    <a:bodyPr/>
                    <a:lstStyle/>
                    <a:p>
                      <a:pPr algn="l" fontAlgn="ctr">
                        <a:buNone/>
                      </a:pPr>
                      <a:r>
                        <a:rPr lang="en-IN" sz="1000" b="0" i="0" u="none" strike="noStrike">
                          <a:solidFill>
                            <a:srgbClr val="404040"/>
                          </a:solidFill>
                          <a:effectLst/>
                          <a:latin typeface="Arial" panose="020B0604020202020204" pitchFamily="34" charset="0"/>
                        </a:rPr>
                        <a:t>Role-based training for Store, Procurement, Production &amp; Finance teams; training material (slides + user guides); 2-day on-site training programme; recorded video sessions for future onboarding</a:t>
                      </a:r>
                    </a:p>
                  </a:txBody>
                  <a:tcPr marL="9525" marR="9525" marT="9525" marB="0" anchor="ctr"/>
                </a:tc>
                <a:tc>
                  <a:txBody>
                    <a:bodyPr/>
                    <a:lstStyle/>
                    <a:p>
                      <a:pPr algn="l" fontAlgn="b">
                        <a:buNone/>
                      </a:pPr>
                      <a:r>
                        <a:rPr lang="en-IN" sz="1100" b="1" i="0" u="none" strike="noStrike" dirty="0">
                          <a:solidFill>
                            <a:srgbClr val="000000"/>
                          </a:solidFill>
                          <a:effectLst/>
                          <a:latin typeface="Calibri" panose="020F0502020204030204" pitchFamily="34" charset="0"/>
                        </a:rPr>
                        <a:t>       ₹12,000 </a:t>
                      </a:r>
                    </a:p>
                  </a:txBody>
                  <a:tcPr marL="9525" marR="9525" marT="9525" marB="0" anchor="ctr"/>
                </a:tc>
                <a:tc>
                  <a:txBody>
                    <a:bodyPr/>
                    <a:lstStyle/>
                    <a:p>
                      <a:pPr algn="l" fontAlgn="b">
                        <a:buNone/>
                      </a:pPr>
                      <a:r>
                        <a:rPr lang="en-IN" sz="1100" b="1" i="0" u="none" strike="noStrike" dirty="0">
                          <a:solidFill>
                            <a:srgbClr val="000000"/>
                          </a:solidFill>
                          <a:effectLst/>
                          <a:latin typeface="Calibri" panose="020F0502020204030204" pitchFamily="34" charset="0"/>
                        </a:rPr>
                        <a:t>         ₹6,000 </a:t>
                      </a:r>
                    </a:p>
                  </a:txBody>
                  <a:tcPr marL="9525" marR="9525" marT="9525" marB="0" anchor="ctr"/>
                </a:tc>
                <a:tc>
                  <a:txBody>
                    <a:bodyPr/>
                    <a:lstStyle/>
                    <a:p>
                      <a:pPr algn="l" fontAlgn="b">
                        <a:buNone/>
                      </a:pPr>
                      <a:r>
                        <a:rPr lang="en-IN" sz="1100" b="1" i="1" u="none" strike="noStrike" dirty="0">
                          <a:solidFill>
                            <a:schemeClr val="accent2">
                              <a:lumMod val="50000"/>
                            </a:schemeClr>
                          </a:solidFill>
                          <a:effectLst/>
                          <a:latin typeface="Calibri" panose="020F0502020204030204" pitchFamily="34" charset="0"/>
                        </a:rPr>
                        <a:t>             ₹18,000 </a:t>
                      </a:r>
                    </a:p>
                  </a:txBody>
                  <a:tcPr marL="9525" marR="9525" marT="9525" marB="0" anchor="ctr">
                    <a:solidFill>
                      <a:srgbClr val="FFFF00"/>
                    </a:solidFill>
                  </a:tcPr>
                </a:tc>
                <a:tc>
                  <a:txBody>
                    <a:bodyPr/>
                    <a:lstStyle/>
                    <a:p>
                      <a:pPr algn="l" fontAlgn="b">
                        <a:buNone/>
                      </a:pPr>
                      <a:r>
                        <a:rPr lang="en-IN" sz="1100" b="1" i="0" u="none" strike="noStrike" dirty="0">
                          <a:solidFill>
                            <a:schemeClr val="tx1"/>
                          </a:solidFill>
                          <a:effectLst/>
                          <a:latin typeface="Calibri" panose="020F0502020204030204" pitchFamily="34" charset="0"/>
                        </a:rPr>
                        <a:t>One Time</a:t>
                      </a:r>
                    </a:p>
                  </a:txBody>
                  <a:tcPr marL="9525" marR="9525" marT="9525" marB="0" anchor="ctr">
                    <a:solidFill>
                      <a:schemeClr val="bg1">
                        <a:lumMod val="85000"/>
                      </a:schemeClr>
                    </a:solidFill>
                  </a:tcPr>
                </a:tc>
                <a:extLst>
                  <a:ext uri="{0D108BD9-81ED-4DB2-BD59-A6C34878D82A}">
                    <a16:rowId xmlns:a16="http://schemas.microsoft.com/office/drawing/2014/main" val="3233400333"/>
                  </a:ext>
                </a:extLst>
              </a:tr>
              <a:tr h="203780">
                <a:tc>
                  <a:txBody>
                    <a:bodyPr/>
                    <a:lstStyle/>
                    <a:p>
                      <a:pPr algn="ctr" fontAlgn="ctr">
                        <a:buNone/>
                      </a:pPr>
                      <a:r>
                        <a:rPr lang="en-IN" sz="1000" b="1" i="0" u="none" strike="noStrike" dirty="0">
                          <a:solidFill>
                            <a:srgbClr val="404040"/>
                          </a:solidFill>
                          <a:effectLst/>
                          <a:latin typeface="Arial" panose="020B0604020202020204" pitchFamily="34" charset="0"/>
                        </a:rPr>
                        <a:t>TRN02</a:t>
                      </a:r>
                    </a:p>
                  </a:txBody>
                  <a:tcPr marL="9525" marR="9525" marT="9525" marB="0" anchor="ctr">
                    <a:solidFill>
                      <a:schemeClr val="bg1">
                        <a:lumMod val="75000"/>
                      </a:schemeClr>
                    </a:solidFill>
                  </a:tcPr>
                </a:tc>
                <a:tc>
                  <a:txBody>
                    <a:bodyPr/>
                    <a:lstStyle/>
                    <a:p>
                      <a:pPr algn="l" fontAlgn="ctr">
                        <a:buNone/>
                      </a:pPr>
                      <a:r>
                        <a:rPr lang="en-IN" sz="1000" b="1" i="0" u="none" strike="noStrike">
                          <a:solidFill>
                            <a:srgbClr val="404040"/>
                          </a:solidFill>
                          <a:effectLst/>
                          <a:latin typeface="Arial" panose="020B0604020202020204" pitchFamily="34" charset="0"/>
                        </a:rPr>
                        <a:t>Admin &amp; Super-User Training</a:t>
                      </a:r>
                    </a:p>
                  </a:txBody>
                  <a:tcPr marL="9525" marR="9525" marT="9525" marB="0" anchor="ctr">
                    <a:solidFill>
                      <a:schemeClr val="bg1">
                        <a:lumMod val="75000"/>
                      </a:schemeClr>
                    </a:solidFill>
                  </a:tcPr>
                </a:tc>
                <a:tc>
                  <a:txBody>
                    <a:bodyPr/>
                    <a:lstStyle/>
                    <a:p>
                      <a:pPr algn="l" fontAlgn="ctr">
                        <a:buNone/>
                      </a:pPr>
                      <a:r>
                        <a:rPr lang="en-IN" sz="1000" b="0" i="0" u="none" strike="noStrike" dirty="0">
                          <a:solidFill>
                            <a:srgbClr val="404040"/>
                          </a:solidFill>
                          <a:effectLst/>
                          <a:latin typeface="Arial" panose="020B0604020202020204" pitchFamily="34" charset="0"/>
                        </a:rPr>
                        <a:t>System configuration training; master data management; user access control; report builder; troubleshooting basics; 1-day hands-on session</a:t>
                      </a:r>
                    </a:p>
                  </a:txBody>
                  <a:tcPr marL="9525" marR="9525" marT="9525" marB="0" anchor="ctr"/>
                </a:tc>
                <a:tc>
                  <a:txBody>
                    <a:bodyPr/>
                    <a:lstStyle/>
                    <a:p>
                      <a:pPr algn="l" fontAlgn="b">
                        <a:buNone/>
                      </a:pPr>
                      <a:r>
                        <a:rPr lang="en-IN" sz="1100" b="1" i="0" u="none" strike="noStrike" dirty="0">
                          <a:solidFill>
                            <a:srgbClr val="000000"/>
                          </a:solidFill>
                          <a:effectLst/>
                          <a:latin typeface="Calibri" panose="020F0502020204030204" pitchFamily="34" charset="0"/>
                        </a:rPr>
                        <a:t>       ₹12,000 </a:t>
                      </a:r>
                    </a:p>
                  </a:txBody>
                  <a:tcPr marL="9525" marR="9525" marT="9525" marB="0" anchor="ctr"/>
                </a:tc>
                <a:tc>
                  <a:txBody>
                    <a:bodyPr/>
                    <a:lstStyle/>
                    <a:p>
                      <a:pPr algn="l" fontAlgn="b">
                        <a:buNone/>
                      </a:pPr>
                      <a:r>
                        <a:rPr lang="en-IN" sz="1100" b="1" i="0" u="none" strike="noStrike" dirty="0">
                          <a:solidFill>
                            <a:srgbClr val="000000"/>
                          </a:solidFill>
                          <a:effectLst/>
                          <a:latin typeface="Calibri" panose="020F0502020204030204" pitchFamily="34" charset="0"/>
                        </a:rPr>
                        <a:t>         ₹6,000 </a:t>
                      </a:r>
                    </a:p>
                  </a:txBody>
                  <a:tcPr marL="9525" marR="9525" marT="9525" marB="0" anchor="ctr"/>
                </a:tc>
                <a:tc>
                  <a:txBody>
                    <a:bodyPr/>
                    <a:lstStyle/>
                    <a:p>
                      <a:pPr algn="l" fontAlgn="b">
                        <a:buNone/>
                      </a:pPr>
                      <a:r>
                        <a:rPr lang="en-IN" sz="1100" b="1" i="1" u="none" strike="noStrike" dirty="0">
                          <a:solidFill>
                            <a:schemeClr val="accent2">
                              <a:lumMod val="50000"/>
                            </a:schemeClr>
                          </a:solidFill>
                          <a:effectLst/>
                          <a:latin typeface="Calibri" panose="020F0502020204030204" pitchFamily="34" charset="0"/>
                        </a:rPr>
                        <a:t>             ₹18,000 </a:t>
                      </a:r>
                    </a:p>
                  </a:txBody>
                  <a:tcPr marL="9525" marR="9525" marT="9525" marB="0" anchor="ctr">
                    <a:solidFill>
                      <a:srgbClr val="FFFF0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One Time</a:t>
                      </a:r>
                      <a:endParaRPr kumimoji="0" lang="en-IN" sz="11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txBody>
                  <a:tcPr marL="9525" marR="9525" marT="9525" marB="0" anchor="ctr">
                    <a:solidFill>
                      <a:schemeClr val="bg1">
                        <a:lumMod val="85000"/>
                      </a:schemeClr>
                    </a:solidFill>
                  </a:tcPr>
                </a:tc>
                <a:extLst>
                  <a:ext uri="{0D108BD9-81ED-4DB2-BD59-A6C34878D82A}">
                    <a16:rowId xmlns:a16="http://schemas.microsoft.com/office/drawing/2014/main" val="1900751928"/>
                  </a:ext>
                </a:extLst>
              </a:tr>
              <a:tr h="242138">
                <a:tc>
                  <a:txBody>
                    <a:bodyPr/>
                    <a:lstStyle/>
                    <a:p>
                      <a:pPr algn="l" fontAlgn="ctr">
                        <a:buNone/>
                      </a:pPr>
                      <a:endParaRPr lang="en-IN" sz="1050" b="1" i="1" u="none" strike="noStrike" dirty="0">
                        <a:solidFill>
                          <a:schemeClr val="accent2">
                            <a:lumMod val="50000"/>
                          </a:schemeClr>
                        </a:solidFill>
                        <a:effectLst/>
                        <a:latin typeface="Arial" panose="020B0604020202020204" pitchFamily="34" charset="0"/>
                      </a:endParaRPr>
                    </a:p>
                  </a:txBody>
                  <a:tcPr marL="6991" marR="6991" marT="6991" marB="0" anchor="ctr">
                    <a:solidFill>
                      <a:srgbClr val="FFFF00"/>
                    </a:solidFill>
                  </a:tcPr>
                </a:tc>
                <a:tc>
                  <a:txBody>
                    <a:bodyPr/>
                    <a:lstStyle/>
                    <a:p>
                      <a:pPr algn="l" fontAlgn="ctr">
                        <a:buNone/>
                      </a:pPr>
                      <a:r>
                        <a:rPr lang="en-IN" sz="1050" b="1" i="1" u="none" strike="noStrike" dirty="0">
                          <a:solidFill>
                            <a:schemeClr val="accent2">
                              <a:lumMod val="50000"/>
                            </a:schemeClr>
                          </a:solidFill>
                          <a:effectLst/>
                          <a:latin typeface="Arial" panose="020B0604020202020204" pitchFamily="34" charset="0"/>
                        </a:rPr>
                        <a:t>Sub Total</a:t>
                      </a:r>
                    </a:p>
                  </a:txBody>
                  <a:tcPr marL="6991" marR="6991" marT="6991" marB="0" anchor="ctr">
                    <a:solidFill>
                      <a:srgbClr val="FFFF00"/>
                    </a:solidFill>
                  </a:tcPr>
                </a:tc>
                <a:tc>
                  <a:txBody>
                    <a:bodyPr/>
                    <a:lstStyle/>
                    <a:p>
                      <a:pPr marL="0" algn="ctr" defTabSz="914400" rtl="0" eaLnBrk="1" fontAlgn="ctr" latinLnBrk="0" hangingPunct="1">
                        <a:buNone/>
                      </a:pPr>
                      <a:endParaRPr lang="en-IN" sz="1100" b="1" i="1" u="none" strike="noStrike" kern="1200" dirty="0">
                        <a:solidFill>
                          <a:schemeClr val="accent2">
                            <a:lumMod val="50000"/>
                          </a:schemeClr>
                        </a:solidFill>
                        <a:effectLst/>
                        <a:latin typeface="Arial" panose="020B0604020202020204" pitchFamily="34" charset="0"/>
                        <a:ea typeface="+mn-ea"/>
                        <a:cs typeface="+mn-cs"/>
                      </a:endParaRPr>
                    </a:p>
                  </a:txBody>
                  <a:tcPr marL="6991" marR="6991" marT="6991" marB="0" anchor="ctr"/>
                </a:tc>
                <a:tc>
                  <a:txBody>
                    <a:bodyPr/>
                    <a:lstStyle/>
                    <a:p>
                      <a:pPr algn="l" fontAlgn="b">
                        <a:buNone/>
                      </a:pPr>
                      <a:r>
                        <a:rPr lang="en-IN" sz="1100" b="1" i="1" u="none" strike="noStrike" dirty="0">
                          <a:solidFill>
                            <a:schemeClr val="accent2">
                              <a:lumMod val="50000"/>
                            </a:schemeClr>
                          </a:solidFill>
                          <a:effectLst/>
                          <a:latin typeface="Calibri" panose="020F0502020204030204" pitchFamily="34" charset="0"/>
                        </a:rPr>
                        <a:t>       ₹24,000 </a:t>
                      </a:r>
                    </a:p>
                  </a:txBody>
                  <a:tcPr marL="9525" marR="9525" marT="9525" marB="0" anchor="b">
                    <a:solidFill>
                      <a:srgbClr val="FFFF00"/>
                    </a:solidFill>
                  </a:tcPr>
                </a:tc>
                <a:tc>
                  <a:txBody>
                    <a:bodyPr/>
                    <a:lstStyle/>
                    <a:p>
                      <a:pPr algn="l" fontAlgn="b">
                        <a:buNone/>
                      </a:pPr>
                      <a:r>
                        <a:rPr lang="en-IN" sz="1100" b="1" i="1" u="none" strike="noStrike" dirty="0">
                          <a:solidFill>
                            <a:schemeClr val="accent2">
                              <a:lumMod val="50000"/>
                            </a:schemeClr>
                          </a:solidFill>
                          <a:effectLst/>
                          <a:latin typeface="Calibri" panose="020F0502020204030204" pitchFamily="34" charset="0"/>
                        </a:rPr>
                        <a:t>       ₹12,000 </a:t>
                      </a:r>
                    </a:p>
                  </a:txBody>
                  <a:tcPr marL="9525" marR="9525" marT="9525" marB="0" anchor="b">
                    <a:solidFill>
                      <a:srgbClr val="FFFF00"/>
                    </a:solidFill>
                  </a:tcPr>
                </a:tc>
                <a:tc>
                  <a:txBody>
                    <a:bodyPr/>
                    <a:lstStyle/>
                    <a:p>
                      <a:pPr algn="l" fontAlgn="b">
                        <a:buNone/>
                      </a:pPr>
                      <a:r>
                        <a:rPr lang="en-IN" sz="1100" b="0" i="0" u="none" strike="noStrike" dirty="0">
                          <a:solidFill>
                            <a:srgbClr val="000000"/>
                          </a:solidFill>
                          <a:effectLst/>
                          <a:latin typeface="Calibri" panose="020F0502020204030204" pitchFamily="34" charset="0"/>
                        </a:rPr>
                        <a:t>         </a:t>
                      </a:r>
                      <a:r>
                        <a:rPr lang="en-IN" sz="1050" b="1" i="1" u="none" strike="noStrike" kern="1200" dirty="0">
                          <a:solidFill>
                            <a:schemeClr val="accent2">
                              <a:lumMod val="50000"/>
                            </a:schemeClr>
                          </a:solidFill>
                          <a:effectLst/>
                          <a:latin typeface="Arial" panose="020B0604020202020204" pitchFamily="34" charset="0"/>
                          <a:ea typeface="+mn-ea"/>
                          <a:cs typeface="+mn-cs"/>
                        </a:rPr>
                        <a:t>₹36,000 </a:t>
                      </a:r>
                    </a:p>
                  </a:txBody>
                  <a:tcPr marL="9525" marR="9525" marT="9525" marB="0" anchor="b">
                    <a:solidFill>
                      <a:schemeClr val="accent1">
                        <a:lumMod val="40000"/>
                        <a:lumOff val="6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One Time</a:t>
                      </a:r>
                    </a:p>
                  </a:txBody>
                  <a:tcPr marL="9525" marR="9525" marT="9525" marB="0" anchor="b">
                    <a:solidFill>
                      <a:schemeClr val="accent1">
                        <a:lumMod val="40000"/>
                        <a:lumOff val="60000"/>
                      </a:schemeClr>
                    </a:solidFill>
                  </a:tcPr>
                </a:tc>
                <a:extLst>
                  <a:ext uri="{0D108BD9-81ED-4DB2-BD59-A6C34878D82A}">
                    <a16:rowId xmlns:a16="http://schemas.microsoft.com/office/drawing/2014/main" val="2530888953"/>
                  </a:ext>
                </a:extLst>
              </a:tr>
            </a:tbl>
          </a:graphicData>
        </a:graphic>
      </p:graphicFrame>
    </p:spTree>
    <p:extLst>
      <p:ext uri="{BB962C8B-B14F-4D97-AF65-F5344CB8AC3E}">
        <p14:creationId xmlns:p14="http://schemas.microsoft.com/office/powerpoint/2010/main" val="610156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FD833-4B51-DB7E-1682-9F79C72ABD07}"/>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7904CA15-AEE6-D13C-C251-75A74C083C76}"/>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CD190191-FADE-AD8D-CE1E-56C798D0F813}"/>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B01D1957-796A-B53A-7941-D853490B2158}"/>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168FDEA2-9033-B8C4-43C0-BA04CB0C11CF}"/>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7A9EBC4D-59C8-E952-1350-D6D994665903}"/>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Travel Costs ( Inclusive of GST @18%)</a:t>
            </a:r>
            <a:endParaRPr lang="en-US" sz="1400" dirty="0"/>
          </a:p>
        </p:txBody>
      </p:sp>
      <p:graphicFrame>
        <p:nvGraphicFramePr>
          <p:cNvPr id="9" name="Table 8">
            <a:extLst>
              <a:ext uri="{FF2B5EF4-FFF2-40B4-BE49-F238E27FC236}">
                <a16:creationId xmlns:a16="http://schemas.microsoft.com/office/drawing/2014/main" id="{20BE6A5F-A134-AC30-58AE-CB1F1A70B39C}"/>
              </a:ext>
            </a:extLst>
          </p:cNvPr>
          <p:cNvGraphicFramePr>
            <a:graphicFrameLocks noGrp="1"/>
          </p:cNvGraphicFramePr>
          <p:nvPr>
            <p:extLst>
              <p:ext uri="{D42A27DB-BD31-4B8C-83A1-F6EECF244321}">
                <p14:modId xmlns:p14="http://schemas.microsoft.com/office/powerpoint/2010/main" val="2547562894"/>
              </p:ext>
            </p:extLst>
          </p:nvPr>
        </p:nvGraphicFramePr>
        <p:xfrm>
          <a:off x="302216" y="1161288"/>
          <a:ext cx="8384583" cy="1614871"/>
        </p:xfrm>
        <a:graphic>
          <a:graphicData uri="http://schemas.openxmlformats.org/drawingml/2006/table">
            <a:tbl>
              <a:tblPr>
                <a:tableStyleId>{5C22544A-7EE6-4342-B048-85BDC9FD1C3A}</a:tableStyleId>
              </a:tblPr>
              <a:tblGrid>
                <a:gridCol w="369254">
                  <a:extLst>
                    <a:ext uri="{9D8B030D-6E8A-4147-A177-3AD203B41FA5}">
                      <a16:colId xmlns:a16="http://schemas.microsoft.com/office/drawing/2014/main" val="2342001124"/>
                    </a:ext>
                  </a:extLst>
                </a:gridCol>
                <a:gridCol w="2025903">
                  <a:extLst>
                    <a:ext uri="{9D8B030D-6E8A-4147-A177-3AD203B41FA5}">
                      <a16:colId xmlns:a16="http://schemas.microsoft.com/office/drawing/2014/main" val="3493393050"/>
                    </a:ext>
                  </a:extLst>
                </a:gridCol>
                <a:gridCol w="1590226">
                  <a:extLst>
                    <a:ext uri="{9D8B030D-6E8A-4147-A177-3AD203B41FA5}">
                      <a16:colId xmlns:a16="http://schemas.microsoft.com/office/drawing/2014/main" val="2850336844"/>
                    </a:ext>
                  </a:extLst>
                </a:gridCol>
                <a:gridCol w="744872">
                  <a:extLst>
                    <a:ext uri="{9D8B030D-6E8A-4147-A177-3AD203B41FA5}">
                      <a16:colId xmlns:a16="http://schemas.microsoft.com/office/drawing/2014/main" val="948241010"/>
                    </a:ext>
                  </a:extLst>
                </a:gridCol>
                <a:gridCol w="662108">
                  <a:extLst>
                    <a:ext uri="{9D8B030D-6E8A-4147-A177-3AD203B41FA5}">
                      <a16:colId xmlns:a16="http://schemas.microsoft.com/office/drawing/2014/main" val="1880157034"/>
                    </a:ext>
                  </a:extLst>
                </a:gridCol>
                <a:gridCol w="1496110">
                  <a:extLst>
                    <a:ext uri="{9D8B030D-6E8A-4147-A177-3AD203B41FA5}">
                      <a16:colId xmlns:a16="http://schemas.microsoft.com/office/drawing/2014/main" val="1531620821"/>
                    </a:ext>
                  </a:extLst>
                </a:gridCol>
                <a:gridCol w="1496110">
                  <a:extLst>
                    <a:ext uri="{9D8B030D-6E8A-4147-A177-3AD203B41FA5}">
                      <a16:colId xmlns:a16="http://schemas.microsoft.com/office/drawing/2014/main" val="1909379477"/>
                    </a:ext>
                  </a:extLst>
                </a:gridCol>
              </a:tblGrid>
              <a:tr h="296408">
                <a:tc>
                  <a:txBody>
                    <a:bodyPr/>
                    <a:lstStyle/>
                    <a:p>
                      <a:pPr algn="ctr" fontAlgn="ctr">
                        <a:buNone/>
                      </a:pPr>
                      <a:endParaRPr lang="en-IN" sz="1050" b="1" i="0" u="none" strike="noStrike" dirty="0">
                        <a:solidFill>
                          <a:srgbClr val="404040"/>
                        </a:solidFill>
                        <a:effectLst/>
                        <a:latin typeface="Arial" panose="020B0604020202020204" pitchFamily="34" charset="0"/>
                      </a:endParaRP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Modules</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Scope</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a:t>
                      </a:r>
                    </a:p>
                  </a:txBody>
                  <a:tcPr marL="6991" marR="6991" marT="6991" marB="0" anchor="ctr">
                    <a:solidFill>
                      <a:schemeClr val="bg1">
                        <a:lumMod val="75000"/>
                      </a:schemeClr>
                    </a:solidFill>
                  </a:tcPr>
                </a:tc>
                <a:tc>
                  <a:txBody>
                    <a:bodyPr/>
                    <a:lstStyle/>
                    <a:p>
                      <a:pPr algn="ctr" fontAlgn="ctr">
                        <a:buNone/>
                      </a:pPr>
                      <a:r>
                        <a:rPr lang="en-IN" sz="1050" b="1" i="0" u="none" strike="noStrike" dirty="0">
                          <a:solidFill>
                            <a:srgbClr val="404040"/>
                          </a:solidFill>
                          <a:effectLst/>
                          <a:latin typeface="Arial" panose="020B0604020202020204" pitchFamily="34" charset="0"/>
                        </a:rPr>
                        <a:t>Phase II</a:t>
                      </a:r>
                    </a:p>
                  </a:txBody>
                  <a:tcPr marL="6991" marR="6991" marT="6991" marB="0" anchor="ctr">
                    <a:solidFill>
                      <a:schemeClr val="bg1">
                        <a:lumMod val="75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Total Cost</a:t>
                      </a:r>
                    </a:p>
                  </a:txBody>
                  <a:tcPr marL="6991" marR="6991" marT="6991" marB="0" anchor="ctr">
                    <a:solidFill>
                      <a:schemeClr val="accent1">
                        <a:lumMod val="40000"/>
                        <a:lumOff val="60000"/>
                      </a:schemeClr>
                    </a:solidFill>
                  </a:tcPr>
                </a:tc>
                <a:tc>
                  <a:txBody>
                    <a:bodyPr/>
                    <a:lstStyle/>
                    <a:p>
                      <a:pPr algn="ctr" fontAlgn="ctr">
                        <a:buNone/>
                      </a:pPr>
                      <a:r>
                        <a:rPr lang="en-IN" sz="1050" b="1" i="1" u="none" strike="noStrike" dirty="0">
                          <a:solidFill>
                            <a:schemeClr val="accent2">
                              <a:lumMod val="50000"/>
                            </a:schemeClr>
                          </a:solidFill>
                          <a:effectLst/>
                          <a:latin typeface="Arial" panose="020B0604020202020204" pitchFamily="34" charset="0"/>
                        </a:rPr>
                        <a:t>Frequency</a:t>
                      </a:r>
                    </a:p>
                  </a:txBody>
                  <a:tcPr marL="6991" marR="6991" marT="6991" marB="0" anchor="ctr">
                    <a:solidFill>
                      <a:schemeClr val="accent1">
                        <a:lumMod val="40000"/>
                        <a:lumOff val="60000"/>
                      </a:schemeClr>
                    </a:solidFill>
                  </a:tcPr>
                </a:tc>
                <a:extLst>
                  <a:ext uri="{0D108BD9-81ED-4DB2-BD59-A6C34878D82A}">
                    <a16:rowId xmlns:a16="http://schemas.microsoft.com/office/drawing/2014/main" val="2399852473"/>
                  </a:ext>
                </a:extLst>
              </a:tr>
              <a:tr h="203780">
                <a:tc>
                  <a:txBody>
                    <a:bodyPr/>
                    <a:lstStyle/>
                    <a:p>
                      <a:pPr algn="ctr" fontAlgn="ctr">
                        <a:buNone/>
                      </a:pPr>
                      <a:r>
                        <a:rPr lang="en-IN" sz="1000" b="0" i="0" u="none" strike="noStrike">
                          <a:solidFill>
                            <a:srgbClr val="404040"/>
                          </a:solidFill>
                          <a:effectLst/>
                          <a:latin typeface="Arial" panose="020B0604020202020204" pitchFamily="34" charset="0"/>
                        </a:rPr>
                        <a:t>LOG01</a:t>
                      </a:r>
                    </a:p>
                  </a:txBody>
                  <a:tcPr marL="9525" marR="9525" marT="9525" marB="0" anchor="ctr">
                    <a:solidFill>
                      <a:schemeClr val="bg1">
                        <a:lumMod val="75000"/>
                      </a:schemeClr>
                    </a:solidFill>
                  </a:tcPr>
                </a:tc>
                <a:tc>
                  <a:txBody>
                    <a:bodyPr/>
                    <a:lstStyle/>
                    <a:p>
                      <a:pPr algn="l" fontAlgn="ctr">
                        <a:buNone/>
                      </a:pPr>
                      <a:r>
                        <a:rPr lang="en-IN" sz="1000" b="1" i="0" u="none" strike="noStrike">
                          <a:solidFill>
                            <a:srgbClr val="404040"/>
                          </a:solidFill>
                          <a:effectLst/>
                          <a:latin typeface="Arial" panose="020B0604020202020204" pitchFamily="34" charset="0"/>
                        </a:rPr>
                        <a:t>Travel &amp; Accommodation</a:t>
                      </a:r>
                    </a:p>
                  </a:txBody>
                  <a:tcPr marL="9525" marR="9525" marT="9525" marB="0" anchor="ctr">
                    <a:solidFill>
                      <a:schemeClr val="bg1">
                        <a:lumMod val="75000"/>
                      </a:schemeClr>
                    </a:solidFill>
                  </a:tcPr>
                </a:tc>
                <a:tc>
                  <a:txBody>
                    <a:bodyPr/>
                    <a:lstStyle/>
                    <a:p>
                      <a:pPr algn="l" fontAlgn="ctr">
                        <a:buNone/>
                      </a:pPr>
                      <a:r>
                        <a:rPr lang="en-IN" sz="1000" b="0" i="0" u="none" strike="noStrike" dirty="0">
                          <a:solidFill>
                            <a:srgbClr val="404040"/>
                          </a:solidFill>
                          <a:effectLst/>
                          <a:latin typeface="Arial" panose="020B0604020202020204" pitchFamily="34" charset="0"/>
                        </a:rPr>
                        <a:t>On-site visits for Discovery (2 visits × 2 persons), UAT (2 visits × 2 persons), Go Live (2 visit × 2 persons); economy travel; actuals billed with prior approval; capped at quoted amount</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80,000 </a:t>
                      </a:r>
                    </a:p>
                  </a:txBody>
                  <a:tcPr marL="9525" marR="9525" marT="9525" marB="0" anchor="ctr"/>
                </a:tc>
                <a:tc>
                  <a:txBody>
                    <a:bodyPr/>
                    <a:lstStyle/>
                    <a:p>
                      <a:pPr algn="r" fontAlgn="b">
                        <a:buNone/>
                      </a:pPr>
                      <a:r>
                        <a:rPr lang="en-IN" sz="1100" b="1" i="0" u="none" strike="noStrike" dirty="0">
                          <a:solidFill>
                            <a:srgbClr val="000000"/>
                          </a:solidFill>
                          <a:effectLst/>
                          <a:latin typeface="Calibri" panose="020F0502020204030204" pitchFamily="34" charset="0"/>
                        </a:rPr>
                        <a:t>         80,000 </a:t>
                      </a:r>
                    </a:p>
                  </a:txBody>
                  <a:tcPr marL="9525" marR="9525" marT="9525" marB="0" anchor="ctr"/>
                </a:tc>
                <a:tc>
                  <a:txBody>
                    <a:bodyPr/>
                    <a:lstStyle/>
                    <a:p>
                      <a:pPr algn="r" fontAlgn="b">
                        <a:buNone/>
                      </a:pPr>
                      <a:r>
                        <a:rPr lang="en-IN" sz="1100" b="1" i="1" u="none" strike="noStrike" dirty="0">
                          <a:solidFill>
                            <a:schemeClr val="accent2">
                              <a:lumMod val="50000"/>
                            </a:schemeClr>
                          </a:solidFill>
                          <a:effectLst/>
                          <a:latin typeface="Calibri" panose="020F0502020204030204" pitchFamily="34" charset="0"/>
                        </a:rPr>
                        <a:t>             1,60,000 </a:t>
                      </a:r>
                    </a:p>
                  </a:txBody>
                  <a:tcPr marL="9525" marR="9525" marT="9525" marB="0" anchor="ctr">
                    <a:solidFill>
                      <a:srgbClr val="FFFF00"/>
                    </a:solidFill>
                  </a:tcPr>
                </a:tc>
                <a:tc>
                  <a:txBody>
                    <a:bodyPr/>
                    <a:lstStyle/>
                    <a:p>
                      <a:pPr algn="ctr" fontAlgn="b">
                        <a:buNone/>
                      </a:pPr>
                      <a:r>
                        <a:rPr lang="en-IN" sz="1100" b="1" i="0" u="none" strike="noStrike" dirty="0">
                          <a:solidFill>
                            <a:schemeClr val="tx1"/>
                          </a:solidFill>
                          <a:effectLst/>
                          <a:latin typeface="Calibri" panose="020F0502020204030204" pitchFamily="34" charset="0"/>
                        </a:rPr>
                        <a:t>One Time</a:t>
                      </a:r>
                    </a:p>
                  </a:txBody>
                  <a:tcPr marL="9525" marR="9525" marT="9525" marB="0" anchor="ctr">
                    <a:solidFill>
                      <a:schemeClr val="bg1">
                        <a:lumMod val="85000"/>
                      </a:schemeClr>
                    </a:solidFill>
                  </a:tcPr>
                </a:tc>
                <a:extLst>
                  <a:ext uri="{0D108BD9-81ED-4DB2-BD59-A6C34878D82A}">
                    <a16:rowId xmlns:a16="http://schemas.microsoft.com/office/drawing/2014/main" val="3233400333"/>
                  </a:ext>
                </a:extLst>
              </a:tr>
              <a:tr h="242138">
                <a:tc>
                  <a:txBody>
                    <a:bodyPr/>
                    <a:lstStyle/>
                    <a:p>
                      <a:pPr algn="l" fontAlgn="ctr">
                        <a:buNone/>
                      </a:pPr>
                      <a:endParaRPr lang="en-IN" sz="1050" b="1" i="1" u="none" strike="noStrike" dirty="0">
                        <a:solidFill>
                          <a:schemeClr val="accent2">
                            <a:lumMod val="50000"/>
                          </a:schemeClr>
                        </a:solidFill>
                        <a:effectLst/>
                        <a:latin typeface="Arial" panose="020B0604020202020204" pitchFamily="34" charset="0"/>
                      </a:endParaRPr>
                    </a:p>
                  </a:txBody>
                  <a:tcPr marL="6991" marR="6991" marT="6991" marB="0" anchor="ctr">
                    <a:solidFill>
                      <a:srgbClr val="FFFF00"/>
                    </a:solidFill>
                  </a:tcPr>
                </a:tc>
                <a:tc>
                  <a:txBody>
                    <a:bodyPr/>
                    <a:lstStyle/>
                    <a:p>
                      <a:pPr algn="l" fontAlgn="ctr">
                        <a:buNone/>
                      </a:pPr>
                      <a:r>
                        <a:rPr lang="en-IN" sz="1050" b="1" i="1" u="none" strike="noStrike" dirty="0">
                          <a:solidFill>
                            <a:schemeClr val="accent2">
                              <a:lumMod val="50000"/>
                            </a:schemeClr>
                          </a:solidFill>
                          <a:effectLst/>
                          <a:latin typeface="Arial" panose="020B0604020202020204" pitchFamily="34" charset="0"/>
                        </a:rPr>
                        <a:t>Sub Total</a:t>
                      </a:r>
                    </a:p>
                  </a:txBody>
                  <a:tcPr marL="6991" marR="6991" marT="6991" marB="0" anchor="ctr">
                    <a:solidFill>
                      <a:srgbClr val="FFFF00"/>
                    </a:solidFill>
                  </a:tcPr>
                </a:tc>
                <a:tc>
                  <a:txBody>
                    <a:bodyPr/>
                    <a:lstStyle/>
                    <a:p>
                      <a:pPr marL="0" algn="ctr" defTabSz="914400" rtl="0" eaLnBrk="1" fontAlgn="ctr" latinLnBrk="0" hangingPunct="1">
                        <a:buNone/>
                      </a:pPr>
                      <a:endParaRPr lang="en-IN" sz="1100" b="1" i="1" u="none" strike="noStrike" kern="1200" dirty="0">
                        <a:solidFill>
                          <a:schemeClr val="accent2">
                            <a:lumMod val="50000"/>
                          </a:schemeClr>
                        </a:solidFill>
                        <a:effectLst/>
                        <a:latin typeface="Arial" panose="020B0604020202020204" pitchFamily="34" charset="0"/>
                        <a:ea typeface="+mn-ea"/>
                        <a:cs typeface="+mn-cs"/>
                      </a:endParaRPr>
                    </a:p>
                  </a:txBody>
                  <a:tcPr marL="6991" marR="6991" marT="6991" marB="0" anchor="ctr"/>
                </a:tc>
                <a:tc>
                  <a:txBody>
                    <a:bodyPr/>
                    <a:lstStyle/>
                    <a:p>
                      <a:pPr marL="0" algn="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       80,000 </a:t>
                      </a:r>
                    </a:p>
                  </a:txBody>
                  <a:tcPr marL="9525" marR="9525" marT="9525" marB="0" anchor="b">
                    <a:solidFill>
                      <a:srgbClr val="FFFF00"/>
                    </a:solidFill>
                  </a:tcPr>
                </a:tc>
                <a:tc>
                  <a:txBody>
                    <a:bodyPr/>
                    <a:lstStyle/>
                    <a:p>
                      <a:pPr marL="0" algn="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       80,000 </a:t>
                      </a:r>
                    </a:p>
                  </a:txBody>
                  <a:tcPr marL="9525" marR="9525" marT="9525" marB="0" anchor="b">
                    <a:solidFill>
                      <a:srgbClr val="FFFF00"/>
                    </a:solidFill>
                  </a:tcPr>
                </a:tc>
                <a:tc>
                  <a:txBody>
                    <a:bodyPr/>
                    <a:lstStyle/>
                    <a:p>
                      <a:pPr marL="0" algn="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         1,60,000 </a:t>
                      </a:r>
                    </a:p>
                  </a:txBody>
                  <a:tcPr marL="9525" marR="9525" marT="9525" marB="0" anchor="b">
                    <a:solidFill>
                      <a:schemeClr val="accent1">
                        <a:lumMod val="40000"/>
                        <a:lumOff val="60000"/>
                      </a:schemeClr>
                    </a:solidFill>
                  </a:tcPr>
                </a:tc>
                <a:tc>
                  <a:txBody>
                    <a:bodyPr/>
                    <a:lstStyle/>
                    <a:p>
                      <a:pPr algn="ctr" fontAlgn="b">
                        <a:buNone/>
                      </a:pPr>
                      <a:r>
                        <a:rPr lang="en-IN" sz="1100" b="1" i="0" u="none" strike="noStrike" dirty="0">
                          <a:solidFill>
                            <a:schemeClr val="tx1"/>
                          </a:solidFill>
                          <a:effectLst/>
                          <a:latin typeface="Calibri" panose="020F0502020204030204" pitchFamily="34" charset="0"/>
                        </a:rPr>
                        <a:t>One Timw</a:t>
                      </a:r>
                    </a:p>
                  </a:txBody>
                  <a:tcPr marL="9525" marR="9525" marT="9525" marB="0" anchor="b">
                    <a:solidFill>
                      <a:schemeClr val="accent1">
                        <a:lumMod val="40000"/>
                        <a:lumOff val="60000"/>
                      </a:schemeClr>
                    </a:solidFill>
                  </a:tcPr>
                </a:tc>
                <a:extLst>
                  <a:ext uri="{0D108BD9-81ED-4DB2-BD59-A6C34878D82A}">
                    <a16:rowId xmlns:a16="http://schemas.microsoft.com/office/drawing/2014/main" val="2530888953"/>
                  </a:ext>
                </a:extLst>
              </a:tr>
            </a:tbl>
          </a:graphicData>
        </a:graphic>
      </p:graphicFrame>
      <p:sp>
        <p:nvSpPr>
          <p:cNvPr id="7" name="TextBox 6">
            <a:extLst>
              <a:ext uri="{FF2B5EF4-FFF2-40B4-BE49-F238E27FC236}">
                <a16:creationId xmlns:a16="http://schemas.microsoft.com/office/drawing/2014/main" id="{09B41F62-FF40-2AAD-2E53-4C22B23797BF}"/>
              </a:ext>
            </a:extLst>
          </p:cNvPr>
          <p:cNvSpPr txBox="1"/>
          <p:nvPr/>
        </p:nvSpPr>
        <p:spPr>
          <a:xfrm>
            <a:off x="302216" y="3017469"/>
            <a:ext cx="8204029" cy="738664"/>
          </a:xfrm>
          <a:prstGeom prst="rect">
            <a:avLst/>
          </a:prstGeom>
          <a:noFill/>
        </p:spPr>
        <p:txBody>
          <a:bodyPr wrap="square" rtlCol="0">
            <a:spAutoFit/>
          </a:bodyPr>
          <a:lstStyle/>
          <a:p>
            <a:pPr marL="285750" indent="-285750">
              <a:buFont typeface="Wingdings" pitchFamily="2" charset="2"/>
              <a:buChar char="ü"/>
            </a:pPr>
            <a:r>
              <a:rPr lang="en-US" sz="1400" i="1" u="sng" dirty="0">
                <a:solidFill>
                  <a:schemeClr val="accent2">
                    <a:lumMod val="50000"/>
                  </a:schemeClr>
                </a:solidFill>
              </a:rPr>
              <a:t>Estimated</a:t>
            </a:r>
          </a:p>
          <a:p>
            <a:pPr marL="285750" indent="-285750">
              <a:buFont typeface="Wingdings" pitchFamily="2" charset="2"/>
              <a:buChar char="ü"/>
            </a:pPr>
            <a:r>
              <a:rPr lang="en-US" sz="1400" i="1" u="sng" dirty="0">
                <a:solidFill>
                  <a:schemeClr val="accent2">
                    <a:lumMod val="50000"/>
                  </a:schemeClr>
                </a:solidFill>
              </a:rPr>
              <a:t>May vary up &amp; down</a:t>
            </a:r>
          </a:p>
          <a:p>
            <a:pPr marL="285750" indent="-285750">
              <a:buFont typeface="Wingdings" pitchFamily="2" charset="2"/>
              <a:buChar char="ü"/>
            </a:pPr>
            <a:r>
              <a:rPr lang="en-US" sz="1400" i="1" u="sng" dirty="0">
                <a:solidFill>
                  <a:schemeClr val="accent2">
                    <a:lumMod val="50000"/>
                  </a:schemeClr>
                </a:solidFill>
              </a:rPr>
              <a:t>CPPL may organize and bear the cost of actuals </a:t>
            </a:r>
          </a:p>
        </p:txBody>
      </p:sp>
    </p:spTree>
    <p:extLst>
      <p:ext uri="{BB962C8B-B14F-4D97-AF65-F5344CB8AC3E}">
        <p14:creationId xmlns:p14="http://schemas.microsoft.com/office/powerpoint/2010/main" val="511989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B338-61C7-8905-EF80-405BD5181C76}"/>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7663CE1A-608F-525C-286A-99622762A99F}"/>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A9D771BC-2709-F48F-81A3-E0E542AC1DF2}"/>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C6D52BD4-5B61-8BA1-849F-3B751E792256}"/>
              </a:ext>
            </a:extLst>
          </p:cNvPr>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Commercials</a:t>
            </a:r>
            <a:endParaRPr lang="en-US" sz="2200" dirty="0"/>
          </a:p>
        </p:txBody>
      </p:sp>
      <p:sp>
        <p:nvSpPr>
          <p:cNvPr id="5" name="Shape 3">
            <a:extLst>
              <a:ext uri="{FF2B5EF4-FFF2-40B4-BE49-F238E27FC236}">
                <a16:creationId xmlns:a16="http://schemas.microsoft.com/office/drawing/2014/main" id="{A3EA9445-A260-26D5-BCBD-E7A38BBF7C52}"/>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94FF5AF2-257B-2763-4316-8162ECE8DC14}"/>
              </a:ext>
            </a:extLst>
          </p:cNvPr>
          <p:cNvSpPr/>
          <p:nvPr/>
        </p:nvSpPr>
        <p:spPr>
          <a:xfrm>
            <a:off x="457200" y="777240"/>
            <a:ext cx="8321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AMC Costs ( Inclusive of GST @18%)</a:t>
            </a:r>
            <a:endParaRPr lang="en-US" sz="1400" dirty="0"/>
          </a:p>
        </p:txBody>
      </p:sp>
      <p:graphicFrame>
        <p:nvGraphicFramePr>
          <p:cNvPr id="7" name="Table 6">
            <a:extLst>
              <a:ext uri="{FF2B5EF4-FFF2-40B4-BE49-F238E27FC236}">
                <a16:creationId xmlns:a16="http://schemas.microsoft.com/office/drawing/2014/main" id="{B224338F-7EDB-1180-F0DD-5C14B073E89A}"/>
              </a:ext>
            </a:extLst>
          </p:cNvPr>
          <p:cNvGraphicFramePr>
            <a:graphicFrameLocks noGrp="1"/>
          </p:cNvGraphicFramePr>
          <p:nvPr>
            <p:extLst>
              <p:ext uri="{D42A27DB-BD31-4B8C-83A1-F6EECF244321}">
                <p14:modId xmlns:p14="http://schemas.microsoft.com/office/powerpoint/2010/main" val="662857417"/>
              </p:ext>
            </p:extLst>
          </p:nvPr>
        </p:nvGraphicFramePr>
        <p:xfrm>
          <a:off x="235573" y="1589629"/>
          <a:ext cx="8764294" cy="2228088"/>
        </p:xfrm>
        <a:graphic>
          <a:graphicData uri="http://schemas.openxmlformats.org/drawingml/2006/table">
            <a:tbl>
              <a:tblPr>
                <a:tableStyleId>{5C22544A-7EE6-4342-B048-85BDC9FD1C3A}</a:tableStyleId>
              </a:tblPr>
              <a:tblGrid>
                <a:gridCol w="270929">
                  <a:extLst>
                    <a:ext uri="{9D8B030D-6E8A-4147-A177-3AD203B41FA5}">
                      <a16:colId xmlns:a16="http://schemas.microsoft.com/office/drawing/2014/main" val="2491513096"/>
                    </a:ext>
                  </a:extLst>
                </a:gridCol>
                <a:gridCol w="446644">
                  <a:extLst>
                    <a:ext uri="{9D8B030D-6E8A-4147-A177-3AD203B41FA5}">
                      <a16:colId xmlns:a16="http://schemas.microsoft.com/office/drawing/2014/main" val="3974687198"/>
                    </a:ext>
                  </a:extLst>
                </a:gridCol>
                <a:gridCol w="1061634">
                  <a:extLst>
                    <a:ext uri="{9D8B030D-6E8A-4147-A177-3AD203B41FA5}">
                      <a16:colId xmlns:a16="http://schemas.microsoft.com/office/drawing/2014/main" val="2855346004"/>
                    </a:ext>
                  </a:extLst>
                </a:gridCol>
                <a:gridCol w="697423">
                  <a:extLst>
                    <a:ext uri="{9D8B030D-6E8A-4147-A177-3AD203B41FA5}">
                      <a16:colId xmlns:a16="http://schemas.microsoft.com/office/drawing/2014/main" val="3242915259"/>
                    </a:ext>
                  </a:extLst>
                </a:gridCol>
                <a:gridCol w="712922">
                  <a:extLst>
                    <a:ext uri="{9D8B030D-6E8A-4147-A177-3AD203B41FA5}">
                      <a16:colId xmlns:a16="http://schemas.microsoft.com/office/drawing/2014/main" val="3177213845"/>
                    </a:ext>
                  </a:extLst>
                </a:gridCol>
                <a:gridCol w="2648710">
                  <a:extLst>
                    <a:ext uri="{9D8B030D-6E8A-4147-A177-3AD203B41FA5}">
                      <a16:colId xmlns:a16="http://schemas.microsoft.com/office/drawing/2014/main" val="1098422323"/>
                    </a:ext>
                  </a:extLst>
                </a:gridCol>
                <a:gridCol w="975344">
                  <a:extLst>
                    <a:ext uri="{9D8B030D-6E8A-4147-A177-3AD203B41FA5}">
                      <a16:colId xmlns:a16="http://schemas.microsoft.com/office/drawing/2014/main" val="376345701"/>
                    </a:ext>
                  </a:extLst>
                </a:gridCol>
                <a:gridCol w="975344">
                  <a:extLst>
                    <a:ext uri="{9D8B030D-6E8A-4147-A177-3AD203B41FA5}">
                      <a16:colId xmlns:a16="http://schemas.microsoft.com/office/drawing/2014/main" val="1898548743"/>
                    </a:ext>
                  </a:extLst>
                </a:gridCol>
                <a:gridCol w="975344">
                  <a:extLst>
                    <a:ext uri="{9D8B030D-6E8A-4147-A177-3AD203B41FA5}">
                      <a16:colId xmlns:a16="http://schemas.microsoft.com/office/drawing/2014/main" val="1933686431"/>
                    </a:ext>
                  </a:extLst>
                </a:gridCol>
              </a:tblGrid>
              <a:tr h="155392">
                <a:tc gridSpan="9">
                  <a:txBody>
                    <a:bodyPr/>
                    <a:lstStyle/>
                    <a:p>
                      <a:pPr algn="ctr" fontAlgn="ctr">
                        <a:buNone/>
                      </a:pPr>
                      <a:r>
                        <a:rPr lang="en-IN" sz="1200" b="1" u="none" strike="noStrike" dirty="0">
                          <a:effectLst/>
                        </a:rPr>
                        <a:t>PROJECT PHASE-WISE CHARGES</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0179118"/>
                  </a:ext>
                </a:extLst>
              </a:tr>
              <a:tr h="120538">
                <a:tc gridSpan="9">
                  <a:txBody>
                    <a:bodyPr/>
                    <a:lstStyle/>
                    <a:p>
                      <a:pPr algn="ctr" fontAlgn="ctr">
                        <a:buNone/>
                      </a:pPr>
                      <a:r>
                        <a:rPr lang="en-IN" sz="1200" b="1" u="none" strike="noStrike" dirty="0">
                          <a:effectLst/>
                        </a:rPr>
                        <a:t>16-Week Implementation Plan  |  Discovery → Go Live → AMC</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7464042"/>
                  </a:ext>
                </a:extLst>
              </a:tr>
              <a:tr h="237377">
                <a:tc>
                  <a:txBody>
                    <a:bodyPr/>
                    <a:lstStyle/>
                    <a:p>
                      <a:pPr algn="ctr" fontAlgn="ctr">
                        <a:buNone/>
                      </a:pPr>
                      <a:r>
                        <a:rPr lang="en-IN" sz="1200" u="none" strike="noStrike" dirty="0">
                          <a:effectLst/>
                        </a:rPr>
                        <a:t>#</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Phase</a:t>
                      </a:r>
                      <a:br>
                        <a:rPr lang="en-IN" sz="1200" b="1" u="none" strike="noStrike" dirty="0">
                          <a:effectLst/>
                        </a:rPr>
                      </a:br>
                      <a:r>
                        <a:rPr lang="en-IN" sz="1200" b="1" u="none" strike="noStrike" dirty="0">
                          <a:effectLst/>
                        </a:rPr>
                        <a:t>Code</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a:effectLst/>
                        </a:rPr>
                        <a:t>Phase</a:t>
                      </a:r>
                      <a:endParaRPr lang="en-IN" sz="1200" b="1" i="0" u="none" strike="noStrike">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Phase 1 Duration</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marL="0" algn="ctr" defTabSz="914400" rtl="0" eaLnBrk="1" fontAlgn="ctr" latinLnBrk="0" hangingPunct="1">
                        <a:buNone/>
                      </a:pPr>
                      <a:r>
                        <a:rPr lang="en-IN" sz="1200" b="1" u="none" strike="noStrike" kern="1200" dirty="0">
                          <a:solidFill>
                            <a:schemeClr val="dk1"/>
                          </a:solidFill>
                          <a:effectLst/>
                          <a:latin typeface="+mn-lt"/>
                          <a:ea typeface="+mn-ea"/>
                          <a:cs typeface="+mn-cs"/>
                        </a:rPr>
                        <a:t>Phase 2 Duration</a:t>
                      </a: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Deliverables / Activities</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Cost (INR)</a:t>
                      </a:r>
                      <a:br>
                        <a:rPr lang="en-IN" sz="1200" b="1" u="none" strike="noStrike" dirty="0">
                          <a:effectLst/>
                        </a:rPr>
                      </a:br>
                      <a:r>
                        <a:rPr lang="en-IN" sz="1200" b="1" u="none" strike="noStrike" dirty="0">
                          <a:effectLst/>
                        </a:rPr>
                        <a:t>Phase 1</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Cost (INR)</a:t>
                      </a:r>
                      <a:br>
                        <a:rPr lang="en-IN" sz="1200" b="1" u="none" strike="noStrike" dirty="0">
                          <a:effectLst/>
                        </a:rPr>
                      </a:br>
                      <a:r>
                        <a:rPr lang="en-IN" sz="1200" b="1" u="none" strike="noStrike" dirty="0">
                          <a:effectLst/>
                        </a:rPr>
                        <a:t>Phase 2</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1" u="none" strike="noStrike" dirty="0">
                          <a:effectLst/>
                        </a:rPr>
                        <a:t>Total</a:t>
                      </a:r>
                      <a:endParaRPr lang="en-IN" sz="1200" b="1" i="0" u="none" strike="noStrike" dirty="0">
                        <a:solidFill>
                          <a:srgbClr val="FFFFFF"/>
                        </a:solidFill>
                        <a:effectLst/>
                        <a:latin typeface="Arial" panose="020B0604020202020204" pitchFamily="34" charset="0"/>
                      </a:endParaRPr>
                    </a:p>
                  </a:txBody>
                  <a:tcPr marL="4826" marR="4826" marT="4826" marB="0" anchor="ctr">
                    <a:solidFill>
                      <a:schemeClr val="bg1">
                        <a:lumMod val="85000"/>
                      </a:schemeClr>
                    </a:solidFill>
                  </a:tcPr>
                </a:tc>
                <a:extLst>
                  <a:ext uri="{0D108BD9-81ED-4DB2-BD59-A6C34878D82A}">
                    <a16:rowId xmlns:a16="http://schemas.microsoft.com/office/drawing/2014/main" val="888943016"/>
                  </a:ext>
                </a:extLst>
              </a:tr>
              <a:tr h="354215">
                <a:tc>
                  <a:txBody>
                    <a:bodyPr/>
                    <a:lstStyle/>
                    <a:p>
                      <a:pPr algn="ctr" fontAlgn="ctr">
                        <a:buNone/>
                      </a:pPr>
                      <a:r>
                        <a:rPr lang="en-IN" sz="1200" u="none" strike="noStrike" dirty="0">
                          <a:effectLst/>
                        </a:rPr>
                        <a:t>1</a:t>
                      </a:r>
                      <a:endParaRPr lang="en-IN" sz="1200" b="1" i="0" u="none" strike="noStrike" dirty="0">
                        <a:solidFill>
                          <a:srgbClr val="404040"/>
                        </a:solidFill>
                        <a:effectLst/>
                        <a:latin typeface="Arial" panose="020B0604020202020204" pitchFamily="34" charset="0"/>
                      </a:endParaRPr>
                    </a:p>
                  </a:txBody>
                  <a:tcPr marL="4826" marR="4826" marT="4826" marB="0" anchor="ctr">
                    <a:solidFill>
                      <a:schemeClr val="bg1">
                        <a:lumMod val="85000"/>
                      </a:schemeClr>
                    </a:solidFill>
                  </a:tcPr>
                </a:tc>
                <a:tc>
                  <a:txBody>
                    <a:bodyPr/>
                    <a:lstStyle/>
                    <a:p>
                      <a:pPr algn="ctr" fontAlgn="ctr">
                        <a:buNone/>
                      </a:pPr>
                      <a:r>
                        <a:rPr lang="en-IN" sz="1200" b="0" i="0" u="none" strike="noStrike" dirty="0">
                          <a:solidFill>
                            <a:srgbClr val="404040"/>
                          </a:solidFill>
                          <a:effectLst/>
                          <a:latin typeface="Arial" panose="020B0604020202020204" pitchFamily="34" charset="0"/>
                        </a:rPr>
                        <a:t>PH08</a:t>
                      </a:r>
                    </a:p>
                  </a:txBody>
                  <a:tcPr marL="9525" marR="9525" marT="9525" marB="0" anchor="ctr">
                    <a:solidFill>
                      <a:schemeClr val="bg1">
                        <a:lumMod val="85000"/>
                      </a:schemeClr>
                    </a:solidFill>
                  </a:tcPr>
                </a:tc>
                <a:tc>
                  <a:txBody>
                    <a:bodyPr/>
                    <a:lstStyle/>
                    <a:p>
                      <a:pPr algn="l" fontAlgn="ctr">
                        <a:buNone/>
                      </a:pPr>
                      <a:r>
                        <a:rPr lang="en-IN" sz="1200" b="1" i="0" u="none" strike="noStrike" dirty="0">
                          <a:solidFill>
                            <a:srgbClr val="404040"/>
                          </a:solidFill>
                          <a:effectLst/>
                          <a:latin typeface="Arial" panose="020B0604020202020204" pitchFamily="34" charset="0"/>
                        </a:rPr>
                        <a:t>AMC – Annual</a:t>
                      </a:r>
                      <a:br>
                        <a:rPr lang="en-IN" sz="1200" b="1" i="0" u="none" strike="noStrike" dirty="0">
                          <a:solidFill>
                            <a:srgbClr val="404040"/>
                          </a:solidFill>
                          <a:effectLst/>
                          <a:latin typeface="Arial" panose="020B0604020202020204" pitchFamily="34" charset="0"/>
                        </a:rPr>
                      </a:br>
                      <a:r>
                        <a:rPr lang="en-IN" sz="1200" b="1" i="0" u="none" strike="noStrike" dirty="0">
                          <a:solidFill>
                            <a:srgbClr val="404040"/>
                          </a:solidFill>
                          <a:effectLst/>
                          <a:latin typeface="Arial" panose="020B0604020202020204" pitchFamily="34" charset="0"/>
                        </a:rPr>
                        <a:t>Maintenance Contract</a:t>
                      </a:r>
                    </a:p>
                  </a:txBody>
                  <a:tcPr marL="9525" marR="9525" marT="9525" marB="0" anchor="ctr">
                    <a:solidFill>
                      <a:schemeClr val="bg1">
                        <a:lumMod val="85000"/>
                      </a:schemeClr>
                    </a:solidFill>
                  </a:tcPr>
                </a:tc>
                <a:tc>
                  <a:txBody>
                    <a:bodyPr/>
                    <a:lstStyle/>
                    <a:p>
                      <a:pPr algn="ctr" fontAlgn="ctr">
                        <a:buNone/>
                      </a:pPr>
                      <a:r>
                        <a:rPr lang="en-IN" sz="1200" b="0" i="0" u="none" strike="noStrike" dirty="0">
                          <a:solidFill>
                            <a:srgbClr val="404040"/>
                          </a:solidFill>
                          <a:effectLst/>
                          <a:latin typeface="Arial" panose="020B0604020202020204" pitchFamily="34" charset="0"/>
                        </a:rPr>
                        <a:t>Ongoing</a:t>
                      </a:r>
                      <a:br>
                        <a:rPr lang="en-IN" sz="1200" b="0" i="0" u="none" strike="noStrike" dirty="0">
                          <a:solidFill>
                            <a:srgbClr val="404040"/>
                          </a:solidFill>
                          <a:effectLst/>
                          <a:latin typeface="Arial" panose="020B0604020202020204" pitchFamily="34" charset="0"/>
                        </a:rPr>
                      </a:br>
                      <a:r>
                        <a:rPr lang="en-IN" sz="1200" b="0" i="0" u="none" strike="noStrike" dirty="0">
                          <a:solidFill>
                            <a:srgbClr val="404040"/>
                          </a:solidFill>
                          <a:effectLst/>
                          <a:latin typeface="Arial" panose="020B0604020202020204" pitchFamily="34" charset="0"/>
                        </a:rPr>
                        <a:t>(Per Year)</a:t>
                      </a:r>
                    </a:p>
                  </a:txBody>
                  <a:tcPr marL="9525" marR="9525" marT="9525" marB="0" anchor="ctr"/>
                </a:tc>
                <a:tc>
                  <a:txBody>
                    <a:bodyPr/>
                    <a:lstStyle/>
                    <a:p>
                      <a:pPr algn="ctr" fontAlgn="ctr">
                        <a:buNone/>
                      </a:pPr>
                      <a:r>
                        <a:rPr lang="en-IN" sz="1200" b="0" i="0" u="none" strike="noStrike" dirty="0">
                          <a:solidFill>
                            <a:srgbClr val="404040"/>
                          </a:solidFill>
                          <a:effectLst/>
                          <a:latin typeface="Arial" panose="020B0604020202020204" pitchFamily="34" charset="0"/>
                        </a:rPr>
                        <a:t>Ongoing</a:t>
                      </a:r>
                      <a:br>
                        <a:rPr lang="en-IN" sz="1200" b="0" i="0" u="none" strike="noStrike" dirty="0">
                          <a:solidFill>
                            <a:srgbClr val="404040"/>
                          </a:solidFill>
                          <a:effectLst/>
                          <a:latin typeface="Arial" panose="020B0604020202020204" pitchFamily="34" charset="0"/>
                        </a:rPr>
                      </a:br>
                      <a:r>
                        <a:rPr lang="en-IN" sz="1200" b="0" i="0" u="none" strike="noStrike" dirty="0">
                          <a:solidFill>
                            <a:srgbClr val="404040"/>
                          </a:solidFill>
                          <a:effectLst/>
                          <a:latin typeface="Arial" panose="020B0604020202020204" pitchFamily="34" charset="0"/>
                        </a:rPr>
                        <a:t>(Per Year)</a:t>
                      </a:r>
                    </a:p>
                  </a:txBody>
                  <a:tcPr marL="9525" marR="9525" marT="9525" marB="0" anchor="ctr"/>
                </a:tc>
                <a:tc>
                  <a:txBody>
                    <a:bodyPr/>
                    <a:lstStyle/>
                    <a:p>
                      <a:pPr algn="l" fontAlgn="ctr">
                        <a:buNone/>
                      </a:pPr>
                      <a:r>
                        <a:rPr lang="en-IN" sz="1200" b="0" i="0" u="none" strike="noStrike" dirty="0">
                          <a:solidFill>
                            <a:srgbClr val="404040"/>
                          </a:solidFill>
                          <a:effectLst/>
                          <a:latin typeface="Arial" panose="020B0604020202020204" pitchFamily="34" charset="0"/>
                        </a:rPr>
                        <a:t>Corrective &amp; preventive maintenance; minor enhancements (up to 48 hrs/year); quarterly release updates; helpdesk support (business hours); SLA: P1 – 4 hrs, P2 – 8 hrs, P3 – 24 hrs response, </a:t>
                      </a:r>
                    </a:p>
                  </a:txBody>
                  <a:tcPr marL="9525" marR="9525" marT="9525" marB="0" anchor="ct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₹1,38,690</a:t>
                      </a:r>
                    </a:p>
                  </a:txBody>
                  <a:tcPr marL="9525" marR="9525" marT="9525" marB="0" anchor="ctr">
                    <a:solidFill>
                      <a:srgbClr val="FFFF00"/>
                    </a:solidFill>
                  </a:tcP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₹48,960</a:t>
                      </a:r>
                    </a:p>
                  </a:txBody>
                  <a:tcPr marL="9525" marR="9525" marT="9525" marB="0" anchor="ctr">
                    <a:solidFill>
                      <a:srgbClr val="FFFF00"/>
                    </a:solidFill>
                  </a:tcPr>
                </a:tc>
                <a:tc>
                  <a:txBody>
                    <a:bodyPr/>
                    <a:lstStyle/>
                    <a:p>
                      <a:pPr algn="ctr" fontAlgn="b">
                        <a:buNone/>
                      </a:pPr>
                      <a:r>
                        <a:rPr lang="en-IN" sz="1100" b="1" i="1" u="none" strike="noStrike" kern="1200" dirty="0">
                          <a:solidFill>
                            <a:schemeClr val="accent2">
                              <a:lumMod val="50000"/>
                            </a:schemeClr>
                          </a:solidFill>
                          <a:effectLst/>
                          <a:latin typeface="Calibri" panose="020F0502020204030204" pitchFamily="34" charset="0"/>
                          <a:ea typeface="+mn-ea"/>
                          <a:cs typeface="+mn-cs"/>
                        </a:rPr>
                        <a:t>₹1,87,650</a:t>
                      </a:r>
                    </a:p>
                  </a:txBody>
                  <a:tcPr marL="9525" marR="9525" marT="9525" marB="0" anchor="ctr">
                    <a:solidFill>
                      <a:schemeClr val="accent5">
                        <a:lumMod val="40000"/>
                        <a:lumOff val="60000"/>
                      </a:schemeClr>
                    </a:solidFill>
                  </a:tcPr>
                </a:tc>
                <a:extLst>
                  <a:ext uri="{0D108BD9-81ED-4DB2-BD59-A6C34878D82A}">
                    <a16:rowId xmlns:a16="http://schemas.microsoft.com/office/drawing/2014/main" val="469183107"/>
                  </a:ext>
                </a:extLst>
              </a:tr>
              <a:tr h="354215">
                <a:tc>
                  <a:txBody>
                    <a:bodyPr/>
                    <a:lstStyle/>
                    <a:p>
                      <a:pPr algn="ctr" fontAlgn="ctr">
                        <a:buNone/>
                      </a:pPr>
                      <a:endParaRPr lang="en-IN" sz="1200" b="1"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endParaRPr lang="en-IN" sz="1200" b="0" i="0" u="none" strike="noStrike" dirty="0">
                        <a:solidFill>
                          <a:srgbClr val="404040"/>
                        </a:solidFill>
                        <a:effectLst/>
                        <a:latin typeface="Arial" panose="020B0604020202020204" pitchFamily="34" charset="0"/>
                      </a:endParaRPr>
                    </a:p>
                  </a:txBody>
                  <a:tcPr marL="4826" marR="4826" marT="4826" marB="0" anchor="ctr"/>
                </a:tc>
                <a:tc>
                  <a:txBody>
                    <a:bodyPr/>
                    <a:lstStyle/>
                    <a:p>
                      <a:pPr algn="l" fontAlgn="ctr">
                        <a:buNone/>
                      </a:pPr>
                      <a:endParaRPr lang="en-IN" sz="1200" b="1"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endParaRPr lang="en-IN" sz="1200" b="0" i="0" u="none" strike="noStrike" dirty="0">
                        <a:solidFill>
                          <a:srgbClr val="404040"/>
                        </a:solidFill>
                        <a:effectLst/>
                        <a:latin typeface="Arial" panose="020B0604020202020204" pitchFamily="34" charset="0"/>
                      </a:endParaRPr>
                    </a:p>
                  </a:txBody>
                  <a:tcPr marL="4826" marR="4826" marT="4826" marB="0" anchor="ctr"/>
                </a:tc>
                <a:tc>
                  <a:txBody>
                    <a:bodyPr/>
                    <a:lstStyle/>
                    <a:p>
                      <a:pPr algn="ctr" fontAlgn="ctr">
                        <a:buNone/>
                      </a:pPr>
                      <a:endParaRPr lang="en-IN" sz="1200" b="0" i="0" u="none" strike="noStrike" dirty="0">
                        <a:solidFill>
                          <a:srgbClr val="404040"/>
                        </a:solidFill>
                        <a:effectLst/>
                        <a:latin typeface="Arial" panose="020B0604020202020204" pitchFamily="34" charset="0"/>
                      </a:endParaRPr>
                    </a:p>
                  </a:txBody>
                  <a:tcPr marL="4826" marR="4826" marT="4826" marB="0" anchor="ctr"/>
                </a:tc>
                <a:tc gridSpan="3">
                  <a:txBody>
                    <a:bodyPr/>
                    <a:lstStyle/>
                    <a:p>
                      <a:pPr algn="ctr" fontAlgn="ctr">
                        <a:buNone/>
                      </a:pPr>
                      <a:r>
                        <a:rPr lang="en-IN" sz="1200" b="0" i="1" u="none" strike="noStrike" dirty="0">
                          <a:solidFill>
                            <a:srgbClr val="2E75B6"/>
                          </a:solidFill>
                          <a:effectLst/>
                          <a:latin typeface="Arial" panose="020B0604020202020204" pitchFamily="34" charset="0"/>
                        </a:rPr>
                        <a:t>18% of Total Project Cost (per annum</a:t>
                      </a:r>
                      <a:br>
                        <a:rPr lang="en-IN" sz="1200" b="0" i="1" u="none" strike="noStrike" dirty="0">
                          <a:solidFill>
                            <a:srgbClr val="2E75B6"/>
                          </a:solidFill>
                          <a:effectLst/>
                          <a:latin typeface="Arial" panose="020B0604020202020204" pitchFamily="34" charset="0"/>
                        </a:rPr>
                      </a:br>
                      <a:r>
                        <a:rPr lang="en-IN" sz="1200" b="0" i="1" u="none" strike="noStrike" dirty="0">
                          <a:solidFill>
                            <a:srgbClr val="2E75B6"/>
                          </a:solidFill>
                          <a:effectLst/>
                          <a:latin typeface="Arial" panose="020B0604020202020204" pitchFamily="34" charset="0"/>
                        </a:rPr>
                        <a:t>Ref: Commercial Summary Sheet</a:t>
                      </a:r>
                    </a:p>
                  </a:txBody>
                  <a:tcPr marL="9525" marR="9525" marT="9525" marB="0" anchor="ctr"/>
                </a:tc>
                <a:tc hMerge="1">
                  <a:txBody>
                    <a:bodyPr/>
                    <a:lstStyle/>
                    <a:p>
                      <a:endParaRPr lang="en-US"/>
                    </a:p>
                  </a:txBody>
                  <a:tcPr/>
                </a:tc>
                <a:tc hMerge="1">
                  <a:txBody>
                    <a:bodyPr/>
                    <a:lstStyle/>
                    <a:p>
                      <a:endParaRPr lang="en-US"/>
                    </a:p>
                  </a:txBody>
                  <a:tcPr/>
                </a:tc>
                <a:tc>
                  <a:txBody>
                    <a:bodyPr/>
                    <a:lstStyle/>
                    <a:p>
                      <a:pPr algn="r" fontAlgn="ctr">
                        <a:buNone/>
                      </a:pPr>
                      <a:endParaRPr lang="en-IN" sz="1200" b="0" i="0" u="none" strike="noStrike" dirty="0">
                        <a:solidFill>
                          <a:srgbClr val="000000"/>
                        </a:solidFill>
                        <a:effectLst/>
                        <a:latin typeface="Arial" panose="020B0604020202020204" pitchFamily="34" charset="0"/>
                      </a:endParaRPr>
                    </a:p>
                  </a:txBody>
                  <a:tcPr marL="9525" marR="9525" marT="9525" marB="0" anchor="ctr">
                    <a:solidFill>
                      <a:schemeClr val="bg1">
                        <a:lumMod val="85000"/>
                      </a:schemeClr>
                    </a:solidFill>
                  </a:tcPr>
                </a:tc>
                <a:extLst>
                  <a:ext uri="{0D108BD9-81ED-4DB2-BD59-A6C34878D82A}">
                    <a16:rowId xmlns:a16="http://schemas.microsoft.com/office/drawing/2014/main" val="1714849742"/>
                  </a:ext>
                </a:extLst>
              </a:tr>
            </a:tbl>
          </a:graphicData>
        </a:graphic>
      </p:graphicFrame>
    </p:spTree>
    <p:extLst>
      <p:ext uri="{BB962C8B-B14F-4D97-AF65-F5344CB8AC3E}">
        <p14:creationId xmlns:p14="http://schemas.microsoft.com/office/powerpoint/2010/main" val="4221901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BB0C9-5180-A70C-22B4-73213C19EABE}"/>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4D67ADC6-293F-9465-D6D1-EC111141AA64}"/>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0FA77743-D94A-64B5-EE28-044D5C945A63}"/>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E07785D5-CC1C-85E4-B5C1-E2097743C606}"/>
              </a:ext>
            </a:extLst>
          </p:cNvPr>
          <p:cNvSpPr/>
          <p:nvPr/>
        </p:nvSpPr>
        <p:spPr>
          <a:xfrm>
            <a:off x="384048" y="0"/>
            <a:ext cx="8412480" cy="658368"/>
          </a:xfrm>
          <a:prstGeom prst="rect">
            <a:avLst/>
          </a:prstGeom>
          <a:noFill/>
          <a:ln/>
        </p:spPr>
        <p:txBody>
          <a:bodyPr wrap="square" lIns="0" tIns="0" rIns="0" bIns="0" rtlCol="0" anchor="ctr"/>
          <a:lstStyle/>
          <a:p>
            <a:r>
              <a:rPr lang="en-US" sz="2200" b="1" dirty="0">
                <a:solidFill>
                  <a:srgbClr val="FFFFFF"/>
                </a:solidFill>
                <a:latin typeface="Calibri" pitchFamily="34" charset="0"/>
                <a:ea typeface="Calibri" pitchFamily="34" charset="-122"/>
                <a:cs typeface="Calibri" pitchFamily="34" charset="-120"/>
              </a:rPr>
              <a:t>COMMERCIAL SUMMARY — TOTAL COST OF OWNERSHIP</a:t>
            </a:r>
            <a:endParaRPr lang="en-US" sz="2200" dirty="0"/>
          </a:p>
        </p:txBody>
      </p:sp>
      <p:sp>
        <p:nvSpPr>
          <p:cNvPr id="5" name="Shape 3">
            <a:extLst>
              <a:ext uri="{FF2B5EF4-FFF2-40B4-BE49-F238E27FC236}">
                <a16:creationId xmlns:a16="http://schemas.microsoft.com/office/drawing/2014/main" id="{1CC2ADE5-B50F-1AB7-F6CA-F6121C4985B2}"/>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FFADFFE4-7096-B40C-DF20-4981421B955B}"/>
              </a:ext>
            </a:extLst>
          </p:cNvPr>
          <p:cNvSpPr/>
          <p:nvPr/>
        </p:nvSpPr>
        <p:spPr>
          <a:xfrm>
            <a:off x="457200" y="777240"/>
            <a:ext cx="8321040" cy="384048"/>
          </a:xfrm>
          <a:prstGeom prst="rect">
            <a:avLst/>
          </a:prstGeom>
          <a:noFill/>
          <a:ln/>
        </p:spPr>
        <p:txBody>
          <a:bodyPr wrap="square" rtlCol="0" anchor="ctr"/>
          <a:lstStyle/>
          <a:p>
            <a:r>
              <a:rPr lang="en-US" sz="1400" b="1" dirty="0">
                <a:solidFill>
                  <a:srgbClr val="FFFFFF"/>
                </a:solidFill>
                <a:latin typeface="Calibri" pitchFamily="34" charset="0"/>
                <a:ea typeface="Calibri" pitchFamily="34" charset="-122"/>
                <a:cs typeface="Calibri" pitchFamily="34" charset="-120"/>
              </a:rPr>
              <a:t>All amounts in INR  |  GST @ 18%  |  Valid until 25-Mar-2026</a:t>
            </a:r>
            <a:endParaRPr lang="en-US" sz="1400" dirty="0"/>
          </a:p>
        </p:txBody>
      </p:sp>
      <p:graphicFrame>
        <p:nvGraphicFramePr>
          <p:cNvPr id="8" name="Table 7">
            <a:extLst>
              <a:ext uri="{FF2B5EF4-FFF2-40B4-BE49-F238E27FC236}">
                <a16:creationId xmlns:a16="http://schemas.microsoft.com/office/drawing/2014/main" id="{C3D142BB-B744-6B71-CC6D-81B4013A2ECD}"/>
              </a:ext>
            </a:extLst>
          </p:cNvPr>
          <p:cNvGraphicFramePr>
            <a:graphicFrameLocks noGrp="1"/>
          </p:cNvGraphicFramePr>
          <p:nvPr>
            <p:extLst>
              <p:ext uri="{D42A27DB-BD31-4B8C-83A1-F6EECF244321}">
                <p14:modId xmlns:p14="http://schemas.microsoft.com/office/powerpoint/2010/main" val="1731979652"/>
              </p:ext>
            </p:extLst>
          </p:nvPr>
        </p:nvGraphicFramePr>
        <p:xfrm>
          <a:off x="643180" y="1471613"/>
          <a:ext cx="7872169" cy="3122449"/>
        </p:xfrm>
        <a:graphic>
          <a:graphicData uri="http://schemas.openxmlformats.org/drawingml/2006/table">
            <a:tbl>
              <a:tblPr>
                <a:tableStyleId>{5C22544A-7EE6-4342-B048-85BDC9FD1C3A}</a:tableStyleId>
              </a:tblPr>
              <a:tblGrid>
                <a:gridCol w="2984638">
                  <a:extLst>
                    <a:ext uri="{9D8B030D-6E8A-4147-A177-3AD203B41FA5}">
                      <a16:colId xmlns:a16="http://schemas.microsoft.com/office/drawing/2014/main" val="4208122808"/>
                    </a:ext>
                  </a:extLst>
                </a:gridCol>
                <a:gridCol w="1629177">
                  <a:extLst>
                    <a:ext uri="{9D8B030D-6E8A-4147-A177-3AD203B41FA5}">
                      <a16:colId xmlns:a16="http://schemas.microsoft.com/office/drawing/2014/main" val="173526460"/>
                    </a:ext>
                  </a:extLst>
                </a:gridCol>
                <a:gridCol w="1629177">
                  <a:extLst>
                    <a:ext uri="{9D8B030D-6E8A-4147-A177-3AD203B41FA5}">
                      <a16:colId xmlns:a16="http://schemas.microsoft.com/office/drawing/2014/main" val="2981218006"/>
                    </a:ext>
                  </a:extLst>
                </a:gridCol>
                <a:gridCol w="1629177">
                  <a:extLst>
                    <a:ext uri="{9D8B030D-6E8A-4147-A177-3AD203B41FA5}">
                      <a16:colId xmlns:a16="http://schemas.microsoft.com/office/drawing/2014/main" val="50341366"/>
                    </a:ext>
                  </a:extLst>
                </a:gridCol>
              </a:tblGrid>
              <a:tr h="188866">
                <a:tc>
                  <a:txBody>
                    <a:bodyPr/>
                    <a:lstStyle/>
                    <a:p>
                      <a:pPr algn="ctr" fontAlgn="ctr">
                        <a:buNone/>
                      </a:pPr>
                      <a:r>
                        <a:rPr lang="en-IN" sz="1400" b="1" u="none" strike="noStrike" dirty="0">
                          <a:effectLst/>
                        </a:rPr>
                        <a:t>Component</a:t>
                      </a:r>
                      <a:endParaRPr lang="en-IN" sz="1400" b="1" i="0" u="none" strike="noStrike" dirty="0">
                        <a:solidFill>
                          <a:srgbClr val="FFFFFF"/>
                        </a:solidFill>
                        <a:effectLst/>
                        <a:latin typeface="Arial" panose="020B0604020202020204" pitchFamily="34" charset="0"/>
                      </a:endParaRPr>
                    </a:p>
                  </a:txBody>
                  <a:tcPr marL="9257" marR="9257" marT="9257" marB="0" anchor="ctr">
                    <a:solidFill>
                      <a:schemeClr val="bg1">
                        <a:lumMod val="85000"/>
                      </a:schemeClr>
                    </a:solidFill>
                  </a:tcPr>
                </a:tc>
                <a:tc>
                  <a:txBody>
                    <a:bodyPr/>
                    <a:lstStyle/>
                    <a:p>
                      <a:pPr algn="ctr" fontAlgn="ctr">
                        <a:buNone/>
                      </a:pPr>
                      <a:r>
                        <a:rPr lang="en-IN" sz="1400" b="1" u="none" strike="noStrike" dirty="0">
                          <a:effectLst/>
                        </a:rPr>
                        <a:t>Phase 1</a:t>
                      </a:r>
                      <a:endParaRPr lang="en-IN" sz="1400" b="1" i="0" u="none" strike="noStrike" dirty="0">
                        <a:solidFill>
                          <a:srgbClr val="FFFFFF"/>
                        </a:solidFill>
                        <a:effectLst/>
                        <a:latin typeface="Arial" panose="020B0604020202020204" pitchFamily="34" charset="0"/>
                      </a:endParaRPr>
                    </a:p>
                  </a:txBody>
                  <a:tcPr marL="9257" marR="9257" marT="9257" marB="0" anchor="ctr">
                    <a:solidFill>
                      <a:schemeClr val="bg1">
                        <a:lumMod val="85000"/>
                      </a:schemeClr>
                    </a:solidFill>
                  </a:tcPr>
                </a:tc>
                <a:tc>
                  <a:txBody>
                    <a:bodyPr/>
                    <a:lstStyle/>
                    <a:p>
                      <a:pPr algn="ctr" fontAlgn="ctr">
                        <a:buNone/>
                      </a:pPr>
                      <a:r>
                        <a:rPr lang="en-IN" sz="1400" b="1" u="none" strike="noStrike" dirty="0">
                          <a:effectLst/>
                        </a:rPr>
                        <a:t>Phase 2</a:t>
                      </a:r>
                      <a:endParaRPr lang="en-IN" sz="1400" b="1" i="0" u="none" strike="noStrike" dirty="0">
                        <a:solidFill>
                          <a:srgbClr val="FFFFFF"/>
                        </a:solidFill>
                        <a:effectLst/>
                        <a:latin typeface="Arial" panose="020B0604020202020204" pitchFamily="34" charset="0"/>
                      </a:endParaRPr>
                    </a:p>
                  </a:txBody>
                  <a:tcPr marL="9257" marR="9257" marT="9257" marB="0" anchor="ctr">
                    <a:solidFill>
                      <a:schemeClr val="bg1">
                        <a:lumMod val="85000"/>
                      </a:schemeClr>
                    </a:solidFill>
                  </a:tcPr>
                </a:tc>
                <a:tc>
                  <a:txBody>
                    <a:bodyPr/>
                    <a:lstStyle/>
                    <a:p>
                      <a:pPr algn="ctr" fontAlgn="ctr">
                        <a:buNone/>
                      </a:pPr>
                      <a:r>
                        <a:rPr lang="en-IN" sz="1400" b="1" u="none" strike="noStrike" dirty="0">
                          <a:effectLst/>
                        </a:rPr>
                        <a:t>Total</a:t>
                      </a:r>
                      <a:endParaRPr lang="en-IN" sz="1400" b="1" i="0" u="none" strike="noStrike" dirty="0">
                        <a:solidFill>
                          <a:srgbClr val="FFFFFF"/>
                        </a:solidFill>
                        <a:effectLst/>
                        <a:latin typeface="Arial" panose="020B0604020202020204" pitchFamily="34" charset="0"/>
                      </a:endParaRPr>
                    </a:p>
                  </a:txBody>
                  <a:tcPr marL="9257" marR="9257" marT="9257" marB="0" anchor="ctr">
                    <a:solidFill>
                      <a:schemeClr val="bg1">
                        <a:lumMod val="85000"/>
                      </a:schemeClr>
                    </a:solidFill>
                  </a:tcPr>
                </a:tc>
                <a:extLst>
                  <a:ext uri="{0D108BD9-81ED-4DB2-BD59-A6C34878D82A}">
                    <a16:rowId xmlns:a16="http://schemas.microsoft.com/office/drawing/2014/main" val="2052523948"/>
                  </a:ext>
                </a:extLst>
              </a:tr>
              <a:tr h="143898">
                <a:tc>
                  <a:txBody>
                    <a:bodyPr/>
                    <a:lstStyle/>
                    <a:p>
                      <a:pPr algn="l" fontAlgn="ctr">
                        <a:buNone/>
                      </a:pPr>
                      <a:r>
                        <a:rPr lang="en-IN" sz="1200" b="1" u="none" strike="noStrike" kern="1200" dirty="0">
                          <a:solidFill>
                            <a:schemeClr val="dk1"/>
                          </a:solidFill>
                          <a:effectLst/>
                          <a:latin typeface="+mn-lt"/>
                          <a:ea typeface="+mn-ea"/>
                          <a:cs typeface="+mn-cs"/>
                        </a:rPr>
                        <a:t>One Time</a:t>
                      </a:r>
                    </a:p>
                  </a:txBody>
                  <a:tcPr marL="9257" marR="9257" marT="9257" marB="0"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IN" sz="1100" b="1" i="0" u="none" strike="noStrike" kern="1200" dirty="0">
                        <a:solidFill>
                          <a:schemeClr val="tx1"/>
                        </a:solidFill>
                        <a:effectLst/>
                        <a:latin typeface="Calibri" panose="020F0502020204030204" pitchFamily="34" charset="0"/>
                        <a:ea typeface="+mn-ea"/>
                        <a:cs typeface="+mn-cs"/>
                      </a:endParaRPr>
                    </a:p>
                  </a:txBody>
                  <a:tcPr marL="9525" marR="9525" marT="9525" marB="0" anchor="ctr"/>
                </a:tc>
                <a:tc>
                  <a:txBody>
                    <a:bodyPr/>
                    <a:lstStyle/>
                    <a:p>
                      <a:pPr algn="ctr" fontAlgn="ctr">
                        <a:buNone/>
                      </a:pPr>
                      <a:endParaRPr lang="en-IN" sz="1100" b="1" i="0" u="none" strike="noStrike" kern="1200" dirty="0">
                        <a:solidFill>
                          <a:schemeClr val="tx1"/>
                        </a:solidFill>
                        <a:effectLst/>
                        <a:latin typeface="Calibri" panose="020F0502020204030204" pitchFamily="34" charset="0"/>
                        <a:ea typeface="+mn-ea"/>
                        <a:cs typeface="+mn-cs"/>
                      </a:endParaRPr>
                    </a:p>
                  </a:txBody>
                  <a:tcPr marL="9525" marR="9525" marT="9525" marB="0" anchor="ctr"/>
                </a:tc>
                <a:tc>
                  <a:txBody>
                    <a:bodyPr/>
                    <a:lstStyle/>
                    <a:p>
                      <a:pPr marL="0" algn="ctr" defTabSz="914400" rtl="0" eaLnBrk="1" fontAlgn="ctr" latinLnBrk="0" hangingPunct="1">
                        <a:buNone/>
                      </a:pPr>
                      <a:endParaRPr lang="en-IN" sz="1100" b="1" i="0" u="none" strike="noStrike" kern="1200" dirty="0">
                        <a:solidFill>
                          <a:schemeClr val="tx1"/>
                        </a:solidFill>
                        <a:effectLst/>
                        <a:latin typeface="Calibri" panose="020F0502020204030204" pitchFamily="34" charset="0"/>
                        <a:ea typeface="+mn-ea"/>
                        <a:cs typeface="+mn-cs"/>
                      </a:endParaRPr>
                    </a:p>
                  </a:txBody>
                  <a:tcPr marL="9257" marR="9257" marT="9257" marB="0" anchor="ctr"/>
                </a:tc>
                <a:extLst>
                  <a:ext uri="{0D108BD9-81ED-4DB2-BD59-A6C34878D82A}">
                    <a16:rowId xmlns:a16="http://schemas.microsoft.com/office/drawing/2014/main" val="850334521"/>
                  </a:ext>
                </a:extLst>
              </a:tr>
              <a:tr h="143898">
                <a:tc>
                  <a:txBody>
                    <a:bodyPr/>
                    <a:lstStyle/>
                    <a:p>
                      <a:pPr algn="l" fontAlgn="ctr">
                        <a:buNone/>
                      </a:pPr>
                      <a:r>
                        <a:rPr lang="en-IN" sz="1200" b="1" u="none" strike="noStrike" kern="1200" dirty="0">
                          <a:solidFill>
                            <a:schemeClr val="dk1"/>
                          </a:solidFill>
                          <a:effectLst/>
                          <a:latin typeface="+mn-lt"/>
                          <a:ea typeface="+mn-ea"/>
                          <a:cs typeface="+mn-cs"/>
                        </a:rPr>
                        <a:t>A- Cloud Setup Cost</a:t>
                      </a:r>
                    </a:p>
                  </a:txBody>
                  <a:tcPr marL="9257" marR="9257" marT="9257"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100" b="1" i="0" u="none" strike="noStrike" kern="1200" dirty="0">
                          <a:solidFill>
                            <a:schemeClr val="tx1"/>
                          </a:solidFill>
                          <a:effectLst/>
                          <a:latin typeface="Calibri" panose="020F0502020204030204" pitchFamily="34" charset="0"/>
                          <a:ea typeface="+mn-ea"/>
                          <a:cs typeface="+mn-cs"/>
                        </a:rPr>
                        <a:t>₹60,000 </a:t>
                      </a:r>
                    </a:p>
                  </a:txBody>
                  <a:tcPr marL="9525" marR="9525" marT="9525" marB="0" anchor="ctr"/>
                </a:tc>
                <a:tc>
                  <a:txBody>
                    <a:bodyPr/>
                    <a:lstStyle/>
                    <a:p>
                      <a:pPr algn="ctr" fontAlgn="ctr">
                        <a:buNone/>
                      </a:pPr>
                      <a:endParaRPr lang="en-IN" sz="1100" b="1" i="0" u="none" strike="noStrike" kern="1200" dirty="0">
                        <a:solidFill>
                          <a:schemeClr val="tx1"/>
                        </a:solidFill>
                        <a:effectLst/>
                        <a:latin typeface="Calibri" panose="020F0502020204030204" pitchFamily="34" charset="0"/>
                        <a:ea typeface="+mn-ea"/>
                        <a:cs typeface="+mn-cs"/>
                      </a:endParaRPr>
                    </a:p>
                  </a:txBody>
                  <a:tcPr marL="9525" marR="9525" marT="9525" marB="0" anchor="ctr"/>
                </a:tc>
                <a:tc>
                  <a:txBody>
                    <a:bodyPr/>
                    <a:lstStyle/>
                    <a:p>
                      <a:pPr marL="0" algn="ctr" defTabSz="914400" rtl="0" eaLnBrk="1" fontAlgn="ctr" latinLnBrk="0" hangingPunct="1">
                        <a:buNone/>
                      </a:pPr>
                      <a:r>
                        <a:rPr lang="en-IN" sz="1100" b="1" i="0" u="none" strike="noStrike" kern="1200" dirty="0">
                          <a:solidFill>
                            <a:schemeClr val="tx1"/>
                          </a:solidFill>
                          <a:effectLst/>
                          <a:latin typeface="Calibri" panose="020F0502020204030204" pitchFamily="34" charset="0"/>
                          <a:ea typeface="+mn-ea"/>
                          <a:cs typeface="+mn-cs"/>
                        </a:rPr>
                        <a:t>₹60,000 </a:t>
                      </a:r>
                    </a:p>
                  </a:txBody>
                  <a:tcPr marL="9257" marR="9257" marT="9257" marB="0" anchor="ctr"/>
                </a:tc>
                <a:extLst>
                  <a:ext uri="{0D108BD9-81ED-4DB2-BD59-A6C34878D82A}">
                    <a16:rowId xmlns:a16="http://schemas.microsoft.com/office/drawing/2014/main" val="483411409"/>
                  </a:ext>
                </a:extLst>
              </a:tr>
              <a:tr h="143898">
                <a:tc>
                  <a:txBody>
                    <a:bodyPr/>
                    <a:lstStyle/>
                    <a:p>
                      <a:pPr algn="l" fontAlgn="ctr">
                        <a:buNone/>
                      </a:pPr>
                      <a:r>
                        <a:rPr lang="en-IN" sz="1200" b="1" u="none" strike="noStrike" dirty="0">
                          <a:effectLst/>
                        </a:rPr>
                        <a:t>B – Module Development Costs</a:t>
                      </a:r>
                      <a:endParaRPr lang="en-IN" sz="1200" b="1" i="0" u="none" strike="noStrike" dirty="0">
                        <a:solidFill>
                          <a:srgbClr val="404040"/>
                        </a:solidFill>
                        <a:effectLst/>
                        <a:latin typeface="Arial" panose="020B0604020202020204" pitchFamily="34" charset="0"/>
                      </a:endParaRPr>
                    </a:p>
                  </a:txBody>
                  <a:tcPr marL="9257" marR="9257" marT="9257" marB="0" anchor="ctr"/>
                </a:tc>
                <a:tc>
                  <a:txBody>
                    <a:bodyPr/>
                    <a:lstStyle/>
                    <a:p>
                      <a:pPr marL="0" algn="ctr" defTabSz="914400" rtl="0" eaLnBrk="1" fontAlgn="ctr" latinLnBrk="0" hangingPunct="1">
                        <a:buNone/>
                      </a:pPr>
                      <a:r>
                        <a:rPr lang="en-IN" sz="1100" b="1" i="0" u="none" strike="noStrike" kern="1200" dirty="0">
                          <a:solidFill>
                            <a:schemeClr val="tx1"/>
                          </a:solidFill>
                          <a:effectLst/>
                          <a:latin typeface="Calibri" panose="020F0502020204030204" pitchFamily="34" charset="0"/>
                          <a:ea typeface="+mn-ea"/>
                          <a:cs typeface="+mn-cs"/>
                        </a:rPr>
                        <a:t>₹3,60,000</a:t>
                      </a:r>
                    </a:p>
                  </a:txBody>
                  <a:tcPr marL="9525" marR="9525" marT="9525" marB="0" anchor="ctr"/>
                </a:tc>
                <a:tc>
                  <a:txBody>
                    <a:bodyPr/>
                    <a:lstStyle/>
                    <a:p>
                      <a:pPr algn="ctr" fontAlgn="ctr">
                        <a:buNone/>
                      </a:pPr>
                      <a:r>
                        <a:rPr lang="en-IN" sz="1100" b="1" i="0" u="none" strike="noStrike" kern="1200" dirty="0">
                          <a:solidFill>
                            <a:schemeClr val="tx1"/>
                          </a:solidFill>
                          <a:effectLst/>
                          <a:latin typeface="Calibri" panose="020F0502020204030204" pitchFamily="34" charset="0"/>
                          <a:ea typeface="+mn-ea"/>
                          <a:cs typeface="+mn-cs"/>
                        </a:rPr>
                        <a:t>    ₹85,000</a:t>
                      </a:r>
                    </a:p>
                  </a:txBody>
                  <a:tcPr marL="9525" marR="9525" marT="9525" marB="0" anchor="ctr"/>
                </a:tc>
                <a:tc>
                  <a:txBody>
                    <a:bodyPr/>
                    <a:lstStyle/>
                    <a:p>
                      <a:pPr marL="0" algn="ctr" defTabSz="914400" rtl="0" eaLnBrk="1" fontAlgn="ctr" latinLnBrk="0" hangingPunct="1">
                        <a:buNone/>
                      </a:pPr>
                      <a:r>
                        <a:rPr lang="en-IN" sz="1100" b="1" i="0" u="none" strike="noStrike" kern="1200" dirty="0">
                          <a:solidFill>
                            <a:schemeClr val="tx1"/>
                          </a:solidFill>
                          <a:effectLst/>
                          <a:latin typeface="Calibri" panose="020F0502020204030204" pitchFamily="34" charset="0"/>
                          <a:ea typeface="+mn-ea"/>
                          <a:cs typeface="+mn-cs"/>
                        </a:rPr>
                        <a:t> ₹4,45,000</a:t>
                      </a:r>
                    </a:p>
                  </a:txBody>
                  <a:tcPr marL="9257" marR="9257" marT="9257" marB="0" anchor="ctr"/>
                </a:tc>
                <a:extLst>
                  <a:ext uri="{0D108BD9-81ED-4DB2-BD59-A6C34878D82A}">
                    <a16:rowId xmlns:a16="http://schemas.microsoft.com/office/drawing/2014/main" val="4006134667"/>
                  </a:ext>
                </a:extLst>
              </a:tr>
              <a:tr h="143898">
                <a:tc>
                  <a:txBody>
                    <a:bodyPr/>
                    <a:lstStyle/>
                    <a:p>
                      <a:pPr algn="l" fontAlgn="ctr">
                        <a:buNone/>
                      </a:pPr>
                      <a:r>
                        <a:rPr lang="en-IN" sz="1200" b="1" u="none" strike="noStrike" dirty="0">
                          <a:effectLst/>
                        </a:rPr>
                        <a:t>C – Functional Implementation Charges</a:t>
                      </a:r>
                      <a:endParaRPr lang="en-IN" sz="1200" b="1" i="0" u="none" strike="noStrike" dirty="0">
                        <a:solidFill>
                          <a:srgbClr val="404040"/>
                        </a:solidFill>
                        <a:effectLst/>
                        <a:latin typeface="Arial" panose="020B0604020202020204" pitchFamily="34" charset="0"/>
                      </a:endParaRPr>
                    </a:p>
                  </a:txBody>
                  <a:tcPr marL="9257" marR="9257" marT="9257"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₹1,95,000 </a:t>
                      </a:r>
                    </a:p>
                  </a:txBody>
                  <a:tcPr marL="9257" marR="9257" marT="9257"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₹1,07,500 </a:t>
                      </a:r>
                    </a:p>
                  </a:txBody>
                  <a:tcPr marL="9257" marR="9257" marT="9257"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₹3,02,500 </a:t>
                      </a:r>
                    </a:p>
                  </a:txBody>
                  <a:tcPr marL="9257" marR="9257" marT="9257" marB="0" anchor="ctr"/>
                </a:tc>
                <a:extLst>
                  <a:ext uri="{0D108BD9-81ED-4DB2-BD59-A6C34878D82A}">
                    <a16:rowId xmlns:a16="http://schemas.microsoft.com/office/drawing/2014/main" val="2420318533"/>
                  </a:ext>
                </a:extLst>
              </a:tr>
              <a:tr h="143898">
                <a:tc>
                  <a:txBody>
                    <a:bodyPr/>
                    <a:lstStyle/>
                    <a:p>
                      <a:pPr algn="l" fontAlgn="ctr">
                        <a:buNone/>
                      </a:pPr>
                      <a:r>
                        <a:rPr lang="en-IN" sz="1200" b="1" u="none" strike="noStrike" dirty="0">
                          <a:effectLst/>
                        </a:rPr>
                        <a:t>D – Governance &amp; QA Charges</a:t>
                      </a:r>
                      <a:endParaRPr lang="en-IN" sz="1200" b="1" i="0" u="none" strike="noStrike" dirty="0">
                        <a:solidFill>
                          <a:srgbClr val="404040"/>
                        </a:solidFill>
                        <a:effectLst/>
                        <a:latin typeface="Arial" panose="020B0604020202020204" pitchFamily="34" charset="0"/>
                      </a:endParaRPr>
                    </a:p>
                  </a:txBody>
                  <a:tcPr marL="9257" marR="9257" marT="9257" marB="0" anchor="ctr"/>
                </a:tc>
                <a:tc>
                  <a:txBody>
                    <a:bodyPr/>
                    <a:lstStyle/>
                    <a:p>
                      <a:pPr algn="ctr" fontAlgn="ctr">
                        <a:buNone/>
                      </a:pPr>
                      <a:r>
                        <a:rPr lang="en-IN" sz="1100" b="1" i="0" u="none" strike="noStrike" kern="1200" dirty="0">
                          <a:solidFill>
                            <a:schemeClr val="tx1"/>
                          </a:solidFill>
                          <a:effectLst/>
                          <a:latin typeface="Calibri" panose="020F0502020204030204" pitchFamily="34" charset="0"/>
                          <a:ea typeface="+mn-ea"/>
                          <a:cs typeface="+mn-cs"/>
                        </a:rPr>
                        <a:t>₹1,31,500 </a:t>
                      </a:r>
                    </a:p>
                  </a:txBody>
                  <a:tcPr marL="9257" marR="9257" marT="9257" marB="0" anchor="ctr"/>
                </a:tc>
                <a:tc>
                  <a:txBody>
                    <a:bodyPr/>
                    <a:lstStyle/>
                    <a:p>
                      <a:pPr algn="ctr" fontAlgn="ctr">
                        <a:buNone/>
                      </a:pPr>
                      <a:r>
                        <a:rPr lang="en-IN" sz="1100" b="1" i="0" u="none" strike="noStrike" kern="1200" dirty="0">
                          <a:solidFill>
                            <a:schemeClr val="tx1"/>
                          </a:solidFill>
                          <a:effectLst/>
                          <a:latin typeface="Calibri" panose="020F0502020204030204" pitchFamily="34" charset="0"/>
                          <a:ea typeface="+mn-ea"/>
                          <a:cs typeface="+mn-cs"/>
                        </a:rPr>
                        <a:t>   ₹67,500 </a:t>
                      </a:r>
                    </a:p>
                  </a:txBody>
                  <a:tcPr marL="9257" marR="9257" marT="9257" marB="0" anchor="ctr"/>
                </a:tc>
                <a:tc>
                  <a:txBody>
                    <a:bodyPr/>
                    <a:lstStyle/>
                    <a:p>
                      <a:pPr algn="ctr" fontAlgn="ctr">
                        <a:buNone/>
                      </a:pPr>
                      <a:r>
                        <a:rPr lang="en-IN" sz="1100" b="1" i="0" u="none" strike="noStrike" kern="1200" dirty="0">
                          <a:solidFill>
                            <a:schemeClr val="tx1"/>
                          </a:solidFill>
                          <a:effectLst/>
                          <a:latin typeface="Calibri" panose="020F0502020204030204" pitchFamily="34" charset="0"/>
                          <a:ea typeface="+mn-ea"/>
                          <a:cs typeface="+mn-cs"/>
                        </a:rPr>
                        <a:t>₹1,99,000 </a:t>
                      </a:r>
                    </a:p>
                  </a:txBody>
                  <a:tcPr marL="9257" marR="9257" marT="9257" marB="0" anchor="ctr"/>
                </a:tc>
                <a:extLst>
                  <a:ext uri="{0D108BD9-81ED-4DB2-BD59-A6C34878D82A}">
                    <a16:rowId xmlns:a16="http://schemas.microsoft.com/office/drawing/2014/main" val="80035711"/>
                  </a:ext>
                </a:extLst>
              </a:tr>
              <a:tr h="191564">
                <a:tc>
                  <a:txBody>
                    <a:bodyPr/>
                    <a:lstStyle/>
                    <a:p>
                      <a:pPr algn="l" fontAlgn="ctr">
                        <a:buNone/>
                      </a:pPr>
                      <a:r>
                        <a:rPr lang="en-IN" sz="1200" b="1" u="none" strike="noStrike" kern="1200" dirty="0">
                          <a:solidFill>
                            <a:schemeClr val="dk1"/>
                          </a:solidFill>
                          <a:effectLst/>
                          <a:latin typeface="+mn-lt"/>
                          <a:ea typeface="+mn-ea"/>
                          <a:cs typeface="+mn-cs"/>
                        </a:rPr>
                        <a:t>E – Training Charges</a:t>
                      </a:r>
                    </a:p>
                  </a:txBody>
                  <a:tcPr marL="9257" marR="9257" marT="9257"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   ₹24,000 </a:t>
                      </a:r>
                    </a:p>
                  </a:txBody>
                  <a:tcPr marL="9525" marR="9525" marT="9525"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   ₹12,000 </a:t>
                      </a:r>
                    </a:p>
                  </a:txBody>
                  <a:tcPr marL="9525" marR="9525" marT="9525" marB="0" anchor="ctr"/>
                </a:tc>
                <a:tc>
                  <a:txBody>
                    <a:bodyPr/>
                    <a:lstStyle/>
                    <a:p>
                      <a:pPr algn="ctr" fontAlgn="ctr">
                        <a:buNone/>
                      </a:pPr>
                      <a:r>
                        <a:rPr lang="en-IN" sz="1100" b="1" i="0" u="none" strike="noStrike" kern="1200" dirty="0">
                          <a:solidFill>
                            <a:schemeClr val="tx1"/>
                          </a:solidFill>
                          <a:effectLst/>
                          <a:latin typeface="Calibri" panose="020F0502020204030204" pitchFamily="34" charset="0"/>
                          <a:ea typeface="+mn-ea"/>
                          <a:cs typeface="+mn-cs"/>
                        </a:rPr>
                        <a:t>     ₹36,000 </a:t>
                      </a:r>
                    </a:p>
                  </a:txBody>
                  <a:tcPr marL="9257" marR="9257" marT="9257" marB="0" anchor="ctr"/>
                </a:tc>
                <a:extLst>
                  <a:ext uri="{0D108BD9-81ED-4DB2-BD59-A6C34878D82A}">
                    <a16:rowId xmlns:a16="http://schemas.microsoft.com/office/drawing/2014/main" val="2577172478"/>
                  </a:ext>
                </a:extLst>
              </a:tr>
              <a:tr h="191564">
                <a:tc>
                  <a:txBody>
                    <a:bodyPr/>
                    <a:lstStyle/>
                    <a:p>
                      <a:pPr algn="l" fontAlgn="ctr">
                        <a:buNone/>
                      </a:pPr>
                      <a:r>
                        <a:rPr lang="en-IN" sz="1300" b="1" u="none" strike="noStrike" dirty="0">
                          <a:effectLst/>
                        </a:rPr>
                        <a:t>GRAND TOTAL PROJECT COST (One-Time</a:t>
                      </a:r>
                      <a:r>
                        <a:rPr lang="en-IN" sz="1300" u="none" strike="noStrike" dirty="0">
                          <a:effectLst/>
                        </a:rPr>
                        <a:t>)</a:t>
                      </a:r>
                      <a:endParaRPr lang="en-IN" sz="1300" b="1" i="0" u="none" strike="noStrike" dirty="0">
                        <a:solidFill>
                          <a:srgbClr val="FFFFFF"/>
                        </a:solidFill>
                        <a:effectLst/>
                        <a:latin typeface="Arial" panose="020B0604020202020204" pitchFamily="34" charset="0"/>
                      </a:endParaRPr>
                    </a:p>
                  </a:txBody>
                  <a:tcPr marL="9257" marR="9257" marT="9257" marB="0" anchor="ctr">
                    <a:solidFill>
                      <a:schemeClr val="accent5">
                        <a:lumMod val="40000"/>
                        <a:lumOff val="60000"/>
                      </a:schemeClr>
                    </a:solidFill>
                  </a:tcP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₹7,70,500 </a:t>
                      </a:r>
                    </a:p>
                  </a:txBody>
                  <a:tcPr marL="9525" marR="9525" marT="9525" marB="0" anchor="ctr">
                    <a:solidFill>
                      <a:srgbClr val="FFFF00"/>
                    </a:solidFill>
                  </a:tcP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₹2,72,000</a:t>
                      </a:r>
                    </a:p>
                  </a:txBody>
                  <a:tcPr marL="9525" marR="9525" marT="9525" marB="0" anchor="ctr">
                    <a:solidFill>
                      <a:srgbClr val="FFFF00"/>
                    </a:solidFill>
                  </a:tcPr>
                </a:tc>
                <a:tc>
                  <a:txBody>
                    <a:bodyPr/>
                    <a:lstStyle/>
                    <a:p>
                      <a:pPr algn="ctr" fontAlgn="b">
                        <a:buNone/>
                      </a:pPr>
                      <a:r>
                        <a:rPr lang="en-IN" sz="1100" b="1" i="1" u="none" strike="noStrike" dirty="0">
                          <a:solidFill>
                            <a:schemeClr val="accent2">
                              <a:lumMod val="50000"/>
                            </a:schemeClr>
                          </a:solidFill>
                          <a:effectLst/>
                          <a:latin typeface="Calibri" panose="020F0502020204030204" pitchFamily="34" charset="0"/>
                        </a:rPr>
                        <a:t>₹10,42,500 </a:t>
                      </a:r>
                    </a:p>
                  </a:txBody>
                  <a:tcPr marL="9525" marR="9525" marT="9525" marB="0" anchor="ctr">
                    <a:solidFill>
                      <a:srgbClr val="FFFF00"/>
                    </a:solidFill>
                  </a:tcPr>
                </a:tc>
                <a:extLst>
                  <a:ext uri="{0D108BD9-81ED-4DB2-BD59-A6C34878D82A}">
                    <a16:rowId xmlns:a16="http://schemas.microsoft.com/office/drawing/2014/main" val="4234633186"/>
                  </a:ext>
                </a:extLst>
              </a:tr>
              <a:tr h="117327">
                <a:tc>
                  <a:txBody>
                    <a:bodyPr/>
                    <a:lstStyle/>
                    <a:p>
                      <a:pPr marL="0" algn="l" defTabSz="914400" rtl="0" eaLnBrk="1" fontAlgn="ctr" latinLnBrk="0" hangingPunct="1">
                        <a:buNone/>
                      </a:pPr>
                      <a:r>
                        <a:rPr lang="en-IN" sz="1200" b="1" u="none" strike="noStrike" kern="1200" dirty="0">
                          <a:solidFill>
                            <a:schemeClr val="dk1"/>
                          </a:solidFill>
                          <a:effectLst/>
                          <a:latin typeface="+mn-lt"/>
                          <a:ea typeface="+mn-ea"/>
                          <a:cs typeface="+mn-cs"/>
                        </a:rPr>
                        <a:t>Infrastructure Cost (1st Year)</a:t>
                      </a:r>
                    </a:p>
                  </a:txBody>
                  <a:tcPr marL="9257" marR="9257" marT="9257"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0" u="none" strike="noStrike" kern="1200" dirty="0">
                          <a:solidFill>
                            <a:schemeClr val="tx1"/>
                          </a:solidFill>
                          <a:effectLst/>
                          <a:latin typeface="Calibri" panose="020F0502020204030204" pitchFamily="34" charset="0"/>
                          <a:ea typeface="+mn-ea"/>
                          <a:cs typeface="+mn-cs"/>
                        </a:rPr>
                        <a:t>₹1,45,000 </a:t>
                      </a:r>
                    </a:p>
                  </a:txBody>
                  <a:tcPr marL="9257" marR="9257" marT="9257" marB="0" anchor="b"/>
                </a:tc>
                <a:tc>
                  <a:txBody>
                    <a:bodyPr/>
                    <a:lstStyle/>
                    <a:p>
                      <a:pPr algn="ctr" fontAlgn="b">
                        <a:buNone/>
                      </a:pPr>
                      <a:r>
                        <a:rPr lang="en-IN" sz="1100" b="0" i="0" u="none" strike="noStrike" dirty="0">
                          <a:solidFill>
                            <a:srgbClr val="000000"/>
                          </a:solidFill>
                          <a:effectLst/>
                          <a:latin typeface="Calibri" panose="020F0502020204030204" pitchFamily="34" charset="0"/>
                        </a:rPr>
                        <a:t>-</a:t>
                      </a:r>
                    </a:p>
                  </a:txBody>
                  <a:tcPr marL="9257" marR="9257" marT="9257"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₹1,45,000 </a:t>
                      </a:r>
                    </a:p>
                  </a:txBody>
                  <a:tcPr marL="9257" marR="9257" marT="9257" marB="0" anchor="b"/>
                </a:tc>
                <a:extLst>
                  <a:ext uri="{0D108BD9-81ED-4DB2-BD59-A6C34878D82A}">
                    <a16:rowId xmlns:a16="http://schemas.microsoft.com/office/drawing/2014/main" val="874236793"/>
                  </a:ext>
                </a:extLst>
              </a:tr>
              <a:tr h="117327">
                <a:tc>
                  <a:txBody>
                    <a:bodyPr/>
                    <a:lstStyle/>
                    <a:p>
                      <a:pPr marL="0" algn="l" defTabSz="914400" rtl="0" eaLnBrk="1" fontAlgn="ctr" latinLnBrk="0" hangingPunct="1">
                        <a:buNone/>
                      </a:pPr>
                      <a:r>
                        <a:rPr lang="en-IN" sz="1200" b="1" u="none" strike="noStrike" kern="1200" dirty="0">
                          <a:solidFill>
                            <a:schemeClr val="dk1"/>
                          </a:solidFill>
                          <a:effectLst/>
                          <a:latin typeface="+mn-lt"/>
                          <a:ea typeface="+mn-ea"/>
                          <a:cs typeface="+mn-cs"/>
                        </a:rPr>
                        <a:t>Travel Cost (One Time)</a:t>
                      </a:r>
                    </a:p>
                  </a:txBody>
                  <a:tcPr marL="9257" marR="9257" marT="9257" marB="0" anchor="b"/>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   ₹</a:t>
                      </a:r>
                      <a:r>
                        <a:rPr lang="en-IN" sz="1100" b="1" i="0" u="none" strike="noStrike" dirty="0">
                          <a:solidFill>
                            <a:srgbClr val="000000"/>
                          </a:solidFill>
                          <a:effectLst/>
                          <a:latin typeface="Calibri" panose="020F0502020204030204" pitchFamily="34" charset="0"/>
                        </a:rPr>
                        <a:t>80,000</a:t>
                      </a:r>
                    </a:p>
                  </a:txBody>
                  <a:tcPr marL="9257" marR="9257" marT="9257" marB="0" anchor="ctr"/>
                </a:tc>
                <a:tc>
                  <a:txBody>
                    <a:bodyPr/>
                    <a:lstStyle/>
                    <a:p>
                      <a:pPr algn="ctr" fontAlgn="b">
                        <a:buNone/>
                      </a:pPr>
                      <a:r>
                        <a:rPr lang="en-IN" sz="1100" b="1" i="0" u="none" strike="noStrike" kern="1200" dirty="0">
                          <a:solidFill>
                            <a:schemeClr val="tx1"/>
                          </a:solidFill>
                          <a:effectLst/>
                          <a:latin typeface="Calibri" panose="020F0502020204030204" pitchFamily="34" charset="0"/>
                          <a:ea typeface="+mn-ea"/>
                          <a:cs typeface="+mn-cs"/>
                        </a:rPr>
                        <a:t>    ₹</a:t>
                      </a:r>
                      <a:r>
                        <a:rPr lang="en-IN" sz="1100" b="1" i="0" u="none" strike="noStrike" dirty="0">
                          <a:solidFill>
                            <a:srgbClr val="000000"/>
                          </a:solidFill>
                          <a:effectLst/>
                          <a:latin typeface="Calibri" panose="020F0502020204030204" pitchFamily="34" charset="0"/>
                        </a:rPr>
                        <a:t>80,000</a:t>
                      </a:r>
                    </a:p>
                  </a:txBody>
                  <a:tcPr marL="9257" marR="9257" marT="9257"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₹1,60,000 </a:t>
                      </a:r>
                    </a:p>
                  </a:txBody>
                  <a:tcPr marL="9257" marR="9257" marT="9257" marB="0" anchor="ctr"/>
                </a:tc>
                <a:extLst>
                  <a:ext uri="{0D108BD9-81ED-4DB2-BD59-A6C34878D82A}">
                    <a16:rowId xmlns:a16="http://schemas.microsoft.com/office/drawing/2014/main" val="2916600162"/>
                  </a:ext>
                </a:extLst>
              </a:tr>
              <a:tr h="228514">
                <a:tc>
                  <a:txBody>
                    <a:bodyPr/>
                    <a:lstStyle/>
                    <a:p>
                      <a:pPr algn="l" fontAlgn="ctr">
                        <a:buNone/>
                      </a:pPr>
                      <a:r>
                        <a:rPr lang="en-IN" sz="1200" b="1" u="none" strike="noStrike" kern="1200" dirty="0">
                          <a:solidFill>
                            <a:schemeClr val="dk1"/>
                          </a:solidFill>
                          <a:effectLst/>
                          <a:latin typeface="+mn-lt"/>
                          <a:ea typeface="+mn-ea"/>
                          <a:cs typeface="+mn-cs"/>
                        </a:rPr>
                        <a:t>First Year Cost</a:t>
                      </a:r>
                    </a:p>
                  </a:txBody>
                  <a:tcPr marL="9257" marR="9257" marT="9257" marB="0" anchor="ctr">
                    <a:solidFill>
                      <a:schemeClr val="accent5">
                        <a:lumMod val="40000"/>
                        <a:lumOff val="60000"/>
                      </a:schemeClr>
                    </a:solidFill>
                  </a:tcP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₹9,95,500</a:t>
                      </a:r>
                    </a:p>
                  </a:txBody>
                  <a:tcPr marL="9525" marR="9525" marT="9525" marB="0" anchor="ctr">
                    <a:solidFill>
                      <a:schemeClr val="accent5">
                        <a:lumMod val="40000"/>
                        <a:lumOff val="60000"/>
                      </a:schemeClr>
                    </a:solidFill>
                  </a:tcP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₹3,52,000</a:t>
                      </a:r>
                    </a:p>
                  </a:txBody>
                  <a:tcPr marL="9525" marR="9525" marT="9525" marB="0" anchor="ctr">
                    <a:solidFill>
                      <a:schemeClr val="accent5">
                        <a:lumMod val="40000"/>
                        <a:lumOff val="6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₹13,47,500 </a:t>
                      </a:r>
                    </a:p>
                  </a:txBody>
                  <a:tcPr marL="9525" marR="9525" marT="9525" marB="0" anchor="ctr">
                    <a:solidFill>
                      <a:schemeClr val="accent5">
                        <a:lumMod val="40000"/>
                        <a:lumOff val="60000"/>
                      </a:schemeClr>
                    </a:solidFill>
                  </a:tcPr>
                </a:tc>
                <a:extLst>
                  <a:ext uri="{0D108BD9-81ED-4DB2-BD59-A6C34878D82A}">
                    <a16:rowId xmlns:a16="http://schemas.microsoft.com/office/drawing/2014/main" val="1445498532"/>
                  </a:ext>
                </a:extLst>
              </a:tr>
              <a:tr h="228514">
                <a:tc>
                  <a:txBody>
                    <a:bodyPr/>
                    <a:lstStyle/>
                    <a:p>
                      <a:pPr algn="l" fontAlgn="ctr">
                        <a:buNone/>
                      </a:pPr>
                      <a:r>
                        <a:rPr lang="en-IN" sz="1100" b="1" u="none" strike="noStrike" kern="1200" dirty="0">
                          <a:solidFill>
                            <a:schemeClr val="dk1"/>
                          </a:solidFill>
                          <a:effectLst/>
                          <a:latin typeface="+mn-lt"/>
                          <a:ea typeface="+mn-ea"/>
                          <a:cs typeface="+mn-cs"/>
                        </a:rPr>
                        <a:t>Recurring Cost from 2nd Year</a:t>
                      </a:r>
                    </a:p>
                  </a:txBody>
                  <a:tcPr marL="9257" marR="9257" marT="9257" marB="0" anchor="ctr">
                    <a:solidFill>
                      <a:schemeClr val="bg1">
                        <a:lumMod val="95000"/>
                      </a:schemeClr>
                    </a:solidFill>
                  </a:tcPr>
                </a:tc>
                <a:tc>
                  <a:txBody>
                    <a:bodyPr/>
                    <a:lstStyle/>
                    <a:p>
                      <a:pPr marL="0" algn="ctr" defTabSz="914400" rtl="0" eaLnBrk="1" fontAlgn="b" latinLnBrk="0" hangingPunct="1">
                        <a:buNone/>
                      </a:pPr>
                      <a:endParaRPr lang="en-IN" sz="1100" b="1" i="1" u="none" strike="noStrike" kern="1200" dirty="0">
                        <a:solidFill>
                          <a:schemeClr val="accent2">
                            <a:lumMod val="50000"/>
                          </a:schemeClr>
                        </a:solidFill>
                        <a:effectLst/>
                        <a:latin typeface="Calibri" panose="020F0502020204030204" pitchFamily="34" charset="0"/>
                        <a:ea typeface="+mn-ea"/>
                        <a:cs typeface="+mn-cs"/>
                      </a:endParaRPr>
                    </a:p>
                  </a:txBody>
                  <a:tcPr marL="9525" marR="9525" marT="9525" marB="0" anchor="ctr">
                    <a:solidFill>
                      <a:schemeClr val="bg1">
                        <a:lumMod val="95000"/>
                      </a:schemeClr>
                    </a:solidFill>
                  </a:tcPr>
                </a:tc>
                <a:tc>
                  <a:txBody>
                    <a:bodyPr/>
                    <a:lstStyle/>
                    <a:p>
                      <a:pPr marL="0" algn="ctr" defTabSz="914400" rtl="0" eaLnBrk="1" fontAlgn="b" latinLnBrk="0" hangingPunct="1">
                        <a:buNone/>
                      </a:pPr>
                      <a:endParaRPr lang="en-IN" sz="1100" b="1" i="1" u="none" strike="noStrike" kern="1200" dirty="0">
                        <a:solidFill>
                          <a:schemeClr val="accent2">
                            <a:lumMod val="50000"/>
                          </a:schemeClr>
                        </a:solidFill>
                        <a:effectLst/>
                        <a:latin typeface="Calibri" panose="020F0502020204030204" pitchFamily="34" charset="0"/>
                        <a:ea typeface="+mn-ea"/>
                        <a:cs typeface="+mn-cs"/>
                      </a:endParaRPr>
                    </a:p>
                  </a:txBody>
                  <a:tcPr marL="9525" marR="9525" marT="9525" marB="0" anchor="ctr">
                    <a:solidFill>
                      <a:schemeClr val="bg1">
                        <a:lumMod val="95000"/>
                      </a:schemeClr>
                    </a:solidFill>
                  </a:tcPr>
                </a:tc>
                <a:tc>
                  <a:txBody>
                    <a:bodyPr/>
                    <a:lstStyle/>
                    <a:p>
                      <a:pPr algn="ctr" fontAlgn="b">
                        <a:buNone/>
                      </a:pPr>
                      <a:endParaRPr lang="en-IN" sz="1100" b="1" i="1" u="none" strike="noStrike" kern="1200" dirty="0">
                        <a:solidFill>
                          <a:schemeClr val="accent2">
                            <a:lumMod val="50000"/>
                          </a:schemeClr>
                        </a:solidFill>
                        <a:effectLst/>
                        <a:latin typeface="Calibri" panose="020F0502020204030204" pitchFamily="34" charset="0"/>
                        <a:ea typeface="+mn-ea"/>
                        <a:cs typeface="+mn-cs"/>
                      </a:endParaRPr>
                    </a:p>
                  </a:txBody>
                  <a:tcPr marL="9525" marR="9525" marT="9525" marB="0" anchor="ctr">
                    <a:solidFill>
                      <a:schemeClr val="bg1">
                        <a:lumMod val="95000"/>
                      </a:schemeClr>
                    </a:solidFill>
                  </a:tcPr>
                </a:tc>
                <a:extLst>
                  <a:ext uri="{0D108BD9-81ED-4DB2-BD59-A6C34878D82A}">
                    <a16:rowId xmlns:a16="http://schemas.microsoft.com/office/drawing/2014/main" val="1675404165"/>
                  </a:ext>
                </a:extLst>
              </a:tr>
              <a:tr h="228514">
                <a:tc>
                  <a:txBody>
                    <a:bodyPr/>
                    <a:lstStyle/>
                    <a:p>
                      <a:pPr algn="l" fontAlgn="ctr">
                        <a:buNone/>
                      </a:pPr>
                      <a:r>
                        <a:rPr lang="en-IN" sz="1100" b="1" u="none" strike="noStrike" dirty="0">
                          <a:effectLst/>
                        </a:rPr>
                        <a:t>D – AMC (Annual Maintenance Contract) — Per Annum from 2nd Year onwards</a:t>
                      </a:r>
                      <a:endParaRPr lang="en-IN" sz="1100" b="1" i="0" u="none" strike="noStrike" dirty="0">
                        <a:solidFill>
                          <a:srgbClr val="FFFFFF"/>
                        </a:solidFill>
                        <a:effectLst/>
                        <a:latin typeface="Arial" panose="020B0604020202020204" pitchFamily="34" charset="0"/>
                      </a:endParaRPr>
                    </a:p>
                  </a:txBody>
                  <a:tcPr marL="9257" marR="9257" marT="9257" marB="0" anchor="ctr">
                    <a:solidFill>
                      <a:schemeClr val="bg1">
                        <a:lumMod val="95000"/>
                      </a:schemeClr>
                    </a:solidFill>
                  </a:tcP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₹1,38,690</a:t>
                      </a:r>
                    </a:p>
                  </a:txBody>
                  <a:tcPr marL="9525" marR="9525" marT="9525" marB="0" anchor="ctr">
                    <a:solidFill>
                      <a:srgbClr val="FFFF00"/>
                    </a:solidFill>
                  </a:tcPr>
                </a:tc>
                <a:tc>
                  <a:txBody>
                    <a:bodyPr/>
                    <a:lstStyle/>
                    <a:p>
                      <a:pPr marL="0" algn="ctr" defTabSz="914400" rtl="0" eaLnBrk="1" fontAlgn="b" latinLnBrk="0" hangingPunct="1">
                        <a:buNone/>
                      </a:pPr>
                      <a:r>
                        <a:rPr lang="en-IN" sz="1100" b="1" i="1" u="none" strike="noStrike" kern="1200" dirty="0">
                          <a:solidFill>
                            <a:schemeClr val="accent2">
                              <a:lumMod val="50000"/>
                            </a:schemeClr>
                          </a:solidFill>
                          <a:effectLst/>
                          <a:latin typeface="Calibri" panose="020F0502020204030204" pitchFamily="34" charset="0"/>
                          <a:ea typeface="+mn-ea"/>
                          <a:cs typeface="+mn-cs"/>
                        </a:rPr>
                        <a:t>₹48,960</a:t>
                      </a:r>
                    </a:p>
                  </a:txBody>
                  <a:tcPr marL="9525" marR="9525" marT="9525" marB="0" anchor="ctr">
                    <a:solidFill>
                      <a:srgbClr val="FFFF00"/>
                    </a:solidFill>
                  </a:tcPr>
                </a:tc>
                <a:tc>
                  <a:txBody>
                    <a:bodyPr/>
                    <a:lstStyle/>
                    <a:p>
                      <a:pPr algn="ctr" fontAlgn="b">
                        <a:buNone/>
                      </a:pPr>
                      <a:r>
                        <a:rPr lang="en-IN" sz="1100" b="1" i="1" u="none" strike="noStrike" kern="1200" dirty="0">
                          <a:solidFill>
                            <a:schemeClr val="accent2">
                              <a:lumMod val="50000"/>
                            </a:schemeClr>
                          </a:solidFill>
                          <a:effectLst/>
                          <a:latin typeface="Calibri" panose="020F0502020204030204" pitchFamily="34" charset="0"/>
                          <a:ea typeface="+mn-ea"/>
                          <a:cs typeface="+mn-cs"/>
                        </a:rPr>
                        <a:t>₹1,87,650</a:t>
                      </a:r>
                    </a:p>
                  </a:txBody>
                  <a:tcPr marL="9525" marR="9525" marT="9525" marB="0" anchor="ctr">
                    <a:solidFill>
                      <a:schemeClr val="bg1">
                        <a:lumMod val="95000"/>
                      </a:schemeClr>
                    </a:solidFill>
                  </a:tcPr>
                </a:tc>
                <a:extLst>
                  <a:ext uri="{0D108BD9-81ED-4DB2-BD59-A6C34878D82A}">
                    <a16:rowId xmlns:a16="http://schemas.microsoft.com/office/drawing/2014/main" val="3125095598"/>
                  </a:ext>
                </a:extLst>
              </a:tr>
              <a:tr h="166382">
                <a:tc>
                  <a:txBody>
                    <a:bodyPr/>
                    <a:lstStyle/>
                    <a:p>
                      <a:pPr algn="l" fontAlgn="ctr">
                        <a:buNone/>
                      </a:pPr>
                      <a:r>
                        <a:rPr lang="en-IN" sz="1100" b="1" u="none" strike="noStrike" kern="1200" dirty="0">
                          <a:solidFill>
                            <a:schemeClr val="dk1"/>
                          </a:solidFill>
                          <a:effectLst/>
                          <a:latin typeface="+mn-lt"/>
                          <a:ea typeface="+mn-ea"/>
                          <a:cs typeface="+mn-cs"/>
                        </a:rPr>
                        <a:t>E- Cloud Cost Per annum from 2ndYear</a:t>
                      </a:r>
                    </a:p>
                  </a:txBody>
                  <a:tcPr marL="9257" marR="9257" marT="9257" marB="0" anchor="ctr">
                    <a:solidFill>
                      <a:schemeClr val="bg1">
                        <a:lumMod val="95000"/>
                      </a:schemeClr>
                    </a:solidFill>
                  </a:tcPr>
                </a:tc>
                <a:tc>
                  <a:txBody>
                    <a:bodyPr/>
                    <a:lstStyle/>
                    <a:p>
                      <a:pPr algn="ctr" fontAlgn="ctr">
                        <a:buNone/>
                      </a:pPr>
                      <a:r>
                        <a:rPr lang="en-IN" sz="1100" b="1" i="1" u="none" strike="noStrike" kern="1200" dirty="0">
                          <a:solidFill>
                            <a:schemeClr val="accent2">
                              <a:lumMod val="50000"/>
                            </a:schemeClr>
                          </a:solidFill>
                          <a:effectLst/>
                          <a:latin typeface="Calibri" panose="020F0502020204030204" pitchFamily="34" charset="0"/>
                          <a:ea typeface="+mn-ea"/>
                          <a:cs typeface="+mn-cs"/>
                        </a:rPr>
                        <a:t>₹1,45,000</a:t>
                      </a:r>
                    </a:p>
                  </a:txBody>
                  <a:tcPr marL="9257" marR="9257" marT="9257" marB="0" anchor="ctr">
                    <a:solidFill>
                      <a:srgbClr val="FFFF00"/>
                    </a:solidFill>
                  </a:tcPr>
                </a:tc>
                <a:tc>
                  <a:txBody>
                    <a:bodyPr/>
                    <a:lstStyle/>
                    <a:p>
                      <a:pPr algn="ctr" fontAlgn="ctr">
                        <a:buNone/>
                      </a:pPr>
                      <a:endParaRPr lang="en-IN" sz="1100" b="1" i="1" u="none" strike="noStrike" kern="1200" dirty="0">
                        <a:solidFill>
                          <a:schemeClr val="accent2">
                            <a:lumMod val="50000"/>
                          </a:schemeClr>
                        </a:solidFill>
                        <a:effectLst/>
                        <a:latin typeface="Calibri" panose="020F0502020204030204" pitchFamily="34" charset="0"/>
                        <a:ea typeface="+mn-ea"/>
                        <a:cs typeface="+mn-cs"/>
                      </a:endParaRPr>
                    </a:p>
                  </a:txBody>
                  <a:tcPr marL="9257" marR="9257" marT="9257" marB="0" anchor="ctr">
                    <a:solidFill>
                      <a:srgbClr val="FFFF0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₹1,45,000</a:t>
                      </a:r>
                    </a:p>
                  </a:txBody>
                  <a:tcPr marL="9257" marR="9257" marT="9257" marB="0" anchor="ctr">
                    <a:solidFill>
                      <a:schemeClr val="bg1">
                        <a:lumMod val="95000"/>
                      </a:schemeClr>
                    </a:solidFill>
                  </a:tcPr>
                </a:tc>
                <a:extLst>
                  <a:ext uri="{0D108BD9-81ED-4DB2-BD59-A6C34878D82A}">
                    <a16:rowId xmlns:a16="http://schemas.microsoft.com/office/drawing/2014/main" val="694862834"/>
                  </a:ext>
                </a:extLst>
              </a:tr>
              <a:tr h="166382">
                <a:tc>
                  <a:txBody>
                    <a:bodyPr/>
                    <a:lstStyle/>
                    <a:p>
                      <a:pPr algn="l" fontAlgn="ctr">
                        <a:buNone/>
                      </a:pPr>
                      <a:r>
                        <a:rPr lang="en-IN" sz="1100" b="1" u="none" strike="noStrike" kern="1200" dirty="0">
                          <a:solidFill>
                            <a:schemeClr val="dk1"/>
                          </a:solidFill>
                          <a:effectLst/>
                          <a:latin typeface="+mn-lt"/>
                          <a:ea typeface="+mn-ea"/>
                          <a:cs typeface="+mn-cs"/>
                        </a:rPr>
                        <a:t>GRAND TOTAL AMC (including Infra ) from 2</a:t>
                      </a:r>
                      <a:r>
                        <a:rPr lang="en-IN" sz="1100" b="1" u="none" strike="noStrike" kern="1200" baseline="30000" dirty="0">
                          <a:solidFill>
                            <a:schemeClr val="dk1"/>
                          </a:solidFill>
                          <a:effectLst/>
                          <a:latin typeface="+mn-lt"/>
                          <a:ea typeface="+mn-ea"/>
                          <a:cs typeface="+mn-cs"/>
                        </a:rPr>
                        <a:t>nd</a:t>
                      </a:r>
                      <a:r>
                        <a:rPr lang="en-IN" sz="1100" b="1" u="none" strike="noStrike" kern="1200" dirty="0">
                          <a:solidFill>
                            <a:schemeClr val="dk1"/>
                          </a:solidFill>
                          <a:effectLst/>
                          <a:latin typeface="+mn-lt"/>
                          <a:ea typeface="+mn-ea"/>
                          <a:cs typeface="+mn-cs"/>
                        </a:rPr>
                        <a:t> year</a:t>
                      </a:r>
                    </a:p>
                  </a:txBody>
                  <a:tcPr marL="9257" marR="9257" marT="9257" marB="0" anchor="ctr">
                    <a:solidFill>
                      <a:schemeClr val="accent5">
                        <a:lumMod val="40000"/>
                        <a:lumOff val="60000"/>
                      </a:schemeClr>
                    </a:solidFill>
                  </a:tcPr>
                </a:tc>
                <a:tc>
                  <a:txBody>
                    <a:bodyPr/>
                    <a:lstStyle/>
                    <a:p>
                      <a:pPr algn="ctr" fontAlgn="ctr">
                        <a:buNone/>
                      </a:pPr>
                      <a:r>
                        <a:rPr lang="en-IN" sz="1100" b="1" i="1" u="none" strike="noStrike" kern="1200" dirty="0">
                          <a:solidFill>
                            <a:schemeClr val="accent2">
                              <a:lumMod val="50000"/>
                            </a:schemeClr>
                          </a:solidFill>
                          <a:effectLst/>
                          <a:latin typeface="Calibri" panose="020F0502020204030204" pitchFamily="34" charset="0"/>
                          <a:ea typeface="+mn-ea"/>
                          <a:cs typeface="+mn-cs"/>
                        </a:rPr>
                        <a:t>₹2,83,690</a:t>
                      </a:r>
                    </a:p>
                  </a:txBody>
                  <a:tcPr marL="9257" marR="9257" marT="9257" marB="0" anchor="ctr">
                    <a:solidFill>
                      <a:schemeClr val="accent5">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₹48,960</a:t>
                      </a:r>
                    </a:p>
                  </a:txBody>
                  <a:tcPr marL="9257" marR="9257" marT="9257" marB="0" anchor="ctr">
                    <a:solidFill>
                      <a:schemeClr val="accent5">
                        <a:lumMod val="40000"/>
                        <a:lumOff val="6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100" b="1" i="1" u="none" strike="noStrike" kern="1200" dirty="0">
                          <a:solidFill>
                            <a:schemeClr val="accent2">
                              <a:lumMod val="50000"/>
                            </a:schemeClr>
                          </a:solidFill>
                          <a:effectLst/>
                          <a:latin typeface="Calibri" panose="020F0502020204030204" pitchFamily="34" charset="0"/>
                          <a:ea typeface="+mn-ea"/>
                          <a:cs typeface="+mn-cs"/>
                        </a:rPr>
                        <a:t>₹3,32,650</a:t>
                      </a:r>
                    </a:p>
                  </a:txBody>
                  <a:tcPr marL="9257" marR="9257" marT="9257" marB="0" anchor="ctr">
                    <a:solidFill>
                      <a:schemeClr val="accent5">
                        <a:lumMod val="40000"/>
                        <a:lumOff val="60000"/>
                      </a:schemeClr>
                    </a:solidFill>
                  </a:tcPr>
                </a:tc>
                <a:extLst>
                  <a:ext uri="{0D108BD9-81ED-4DB2-BD59-A6C34878D82A}">
                    <a16:rowId xmlns:a16="http://schemas.microsoft.com/office/drawing/2014/main" val="1824061610"/>
                  </a:ext>
                </a:extLst>
              </a:tr>
            </a:tbl>
          </a:graphicData>
        </a:graphic>
      </p:graphicFrame>
    </p:spTree>
    <p:extLst>
      <p:ext uri="{BB962C8B-B14F-4D97-AF65-F5344CB8AC3E}">
        <p14:creationId xmlns:p14="http://schemas.microsoft.com/office/powerpoint/2010/main" val="1231541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4403F-4BC3-FE59-99DB-A1D518620B65}"/>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9A1314BA-E45A-BCB9-4AA7-F8722C61CCA1}"/>
              </a:ext>
            </a:extLst>
          </p:cNvPr>
          <p:cNvSpPr/>
          <p:nvPr/>
        </p:nvSpPr>
        <p:spPr>
          <a:xfrm>
            <a:off x="0" y="0"/>
            <a:ext cx="9144000" cy="658368"/>
          </a:xfrm>
          <a:prstGeom prst="rect">
            <a:avLst/>
          </a:prstGeom>
          <a:solidFill>
            <a:srgbClr val="0B2545"/>
          </a:solidFill>
          <a:ln w="12700">
            <a:solidFill>
              <a:srgbClr val="0B2545"/>
            </a:solidFill>
            <a:prstDash val="solid"/>
          </a:ln>
        </p:spPr>
        <p:txBody>
          <a:bodyPr/>
          <a:lstStyle/>
          <a:p>
            <a:endParaRPr lang="en-US" dirty="0"/>
          </a:p>
        </p:txBody>
      </p:sp>
      <p:sp>
        <p:nvSpPr>
          <p:cNvPr id="2" name="Shape 1">
            <a:extLst>
              <a:ext uri="{FF2B5EF4-FFF2-40B4-BE49-F238E27FC236}">
                <a16:creationId xmlns:a16="http://schemas.microsoft.com/office/drawing/2014/main" id="{EFE62566-A2AB-E89F-2270-8AE15D335E9D}"/>
              </a:ext>
            </a:extLst>
          </p:cNvPr>
          <p:cNvSpPr/>
          <p:nvPr/>
        </p:nvSpPr>
        <p:spPr>
          <a:xfrm>
            <a:off x="0" y="0"/>
            <a:ext cx="256032" cy="658368"/>
          </a:xfrm>
          <a:prstGeom prst="rect">
            <a:avLst/>
          </a:prstGeom>
          <a:solidFill>
            <a:srgbClr val="D35400"/>
          </a:solidFill>
          <a:ln w="12700">
            <a:solidFill>
              <a:srgbClr val="D35400"/>
            </a:solidFill>
            <a:prstDash val="solid"/>
          </a:ln>
        </p:spPr>
        <p:txBody>
          <a:bodyPr/>
          <a:lstStyle/>
          <a:p>
            <a:endParaRPr lang="en-US" dirty="0"/>
          </a:p>
        </p:txBody>
      </p:sp>
      <p:sp>
        <p:nvSpPr>
          <p:cNvPr id="3" name="Text 2">
            <a:extLst>
              <a:ext uri="{FF2B5EF4-FFF2-40B4-BE49-F238E27FC236}">
                <a16:creationId xmlns:a16="http://schemas.microsoft.com/office/drawing/2014/main" id="{BA15856E-52BB-2E09-C702-3704D4370B3A}"/>
              </a:ext>
            </a:extLst>
          </p:cNvPr>
          <p:cNvSpPr/>
          <p:nvPr/>
        </p:nvSpPr>
        <p:spPr>
          <a:xfrm>
            <a:off x="384048" y="0"/>
            <a:ext cx="8412480" cy="658368"/>
          </a:xfrm>
          <a:prstGeom prst="rect">
            <a:avLst/>
          </a:prstGeom>
          <a:noFill/>
          <a:ln/>
        </p:spPr>
        <p:txBody>
          <a:bodyPr wrap="square" lIns="0" tIns="0" rIns="0" bIns="0" rtlCol="0" anchor="ctr"/>
          <a:lstStyle/>
          <a:p>
            <a:r>
              <a:rPr lang="en-US" sz="2200" b="1" dirty="0">
                <a:solidFill>
                  <a:srgbClr val="FFFFFF"/>
                </a:solidFill>
                <a:latin typeface="Calibri" pitchFamily="34" charset="0"/>
                <a:ea typeface="Calibri" pitchFamily="34" charset="-122"/>
                <a:cs typeface="Calibri" pitchFamily="34" charset="-120"/>
              </a:rPr>
              <a:t>Seam Less Integration between System &amp; Tally plus System &amp; Cut Platform</a:t>
            </a:r>
            <a:endParaRPr lang="en-US" sz="2200" dirty="0"/>
          </a:p>
        </p:txBody>
      </p:sp>
      <p:sp>
        <p:nvSpPr>
          <p:cNvPr id="5" name="Shape 3">
            <a:extLst>
              <a:ext uri="{FF2B5EF4-FFF2-40B4-BE49-F238E27FC236}">
                <a16:creationId xmlns:a16="http://schemas.microsoft.com/office/drawing/2014/main" id="{E530D40D-9EA3-38CB-6EF8-67575683CC56}"/>
              </a:ext>
            </a:extLst>
          </p:cNvPr>
          <p:cNvSpPr/>
          <p:nvPr/>
        </p:nvSpPr>
        <p:spPr>
          <a:xfrm>
            <a:off x="320040" y="717804"/>
            <a:ext cx="8503920" cy="384048"/>
          </a:xfrm>
          <a:prstGeom prst="rect">
            <a:avLst/>
          </a:prstGeom>
          <a:solidFill>
            <a:srgbClr val="0E7490"/>
          </a:solidFill>
          <a:ln w="12700">
            <a:solidFill>
              <a:srgbClr val="0E7490"/>
            </a:solidFill>
            <a:prstDash val="solid"/>
          </a:ln>
        </p:spPr>
        <p:txBody>
          <a:bodyPr/>
          <a:lstStyle/>
          <a:p>
            <a:endParaRPr lang="en-US" dirty="0"/>
          </a:p>
        </p:txBody>
      </p:sp>
      <p:sp>
        <p:nvSpPr>
          <p:cNvPr id="6" name="Text 4">
            <a:extLst>
              <a:ext uri="{FF2B5EF4-FFF2-40B4-BE49-F238E27FC236}">
                <a16:creationId xmlns:a16="http://schemas.microsoft.com/office/drawing/2014/main" id="{B7D8372F-393E-562B-BA6E-C4EE68F2089E}"/>
              </a:ext>
            </a:extLst>
          </p:cNvPr>
          <p:cNvSpPr/>
          <p:nvPr/>
        </p:nvSpPr>
        <p:spPr>
          <a:xfrm>
            <a:off x="457200" y="777240"/>
            <a:ext cx="8321040" cy="384048"/>
          </a:xfrm>
          <a:prstGeom prst="rect">
            <a:avLst/>
          </a:prstGeom>
          <a:noFill/>
          <a:ln/>
        </p:spPr>
        <p:txBody>
          <a:bodyPr wrap="square" rtlCol="0" anchor="ctr"/>
          <a:lstStyle/>
          <a:p>
            <a:r>
              <a:rPr lang="en-US" sz="1400" b="1" dirty="0">
                <a:solidFill>
                  <a:srgbClr val="FFFFFF"/>
                </a:solidFill>
                <a:latin typeface="Calibri" pitchFamily="34" charset="0"/>
                <a:ea typeface="Calibri" pitchFamily="34" charset="-122"/>
                <a:cs typeface="Calibri" pitchFamily="34" charset="-120"/>
              </a:rPr>
              <a:t>Integration Cost</a:t>
            </a:r>
            <a:endParaRPr lang="en-US" sz="1400" dirty="0"/>
          </a:p>
        </p:txBody>
      </p:sp>
      <p:sp>
        <p:nvSpPr>
          <p:cNvPr id="7" name="TextBox 6">
            <a:extLst>
              <a:ext uri="{FF2B5EF4-FFF2-40B4-BE49-F238E27FC236}">
                <a16:creationId xmlns:a16="http://schemas.microsoft.com/office/drawing/2014/main" id="{FB7662BF-E2DD-A6C5-5458-A9309C6A0CA1}"/>
              </a:ext>
            </a:extLst>
          </p:cNvPr>
          <p:cNvSpPr txBox="1"/>
          <p:nvPr/>
        </p:nvSpPr>
        <p:spPr>
          <a:xfrm>
            <a:off x="256032" y="1446691"/>
            <a:ext cx="8204029" cy="307777"/>
          </a:xfrm>
          <a:prstGeom prst="rect">
            <a:avLst/>
          </a:prstGeom>
          <a:noFill/>
        </p:spPr>
        <p:txBody>
          <a:bodyPr wrap="square" rtlCol="0">
            <a:spAutoFit/>
          </a:bodyPr>
          <a:lstStyle/>
          <a:p>
            <a:pPr marL="285750" indent="-285750">
              <a:buFont typeface="Wingdings" pitchFamily="2" charset="2"/>
              <a:buChar char="ü"/>
            </a:pPr>
            <a:r>
              <a:rPr lang="en-US" sz="1400" i="1" u="sng" dirty="0">
                <a:solidFill>
                  <a:schemeClr val="accent2">
                    <a:lumMod val="50000"/>
                  </a:schemeClr>
                </a:solidFill>
              </a:rPr>
              <a:t>Will be </a:t>
            </a:r>
            <a:r>
              <a:rPr lang="en-US" sz="1400" i="1" u="sng" dirty="0" err="1">
                <a:solidFill>
                  <a:schemeClr val="accent2">
                    <a:lumMod val="50000"/>
                  </a:schemeClr>
                </a:solidFill>
              </a:rPr>
              <a:t>explord</a:t>
            </a:r>
            <a:r>
              <a:rPr lang="en-US" sz="1400" i="1" u="sng" dirty="0">
                <a:solidFill>
                  <a:schemeClr val="accent2">
                    <a:lumMod val="50000"/>
                  </a:schemeClr>
                </a:solidFill>
              </a:rPr>
              <a:t> and costed as Phase III later</a:t>
            </a:r>
          </a:p>
        </p:txBody>
      </p:sp>
    </p:spTree>
    <p:extLst>
      <p:ext uri="{BB962C8B-B14F-4D97-AF65-F5344CB8AC3E}">
        <p14:creationId xmlns:p14="http://schemas.microsoft.com/office/powerpoint/2010/main" val="1209483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35400"/>
          </a:solidFill>
          <a:ln w="12700">
            <a:solidFill>
              <a:srgbClr val="D35400"/>
            </a:solidFill>
            <a:prstDash val="solid"/>
          </a:ln>
        </p:spPr>
        <p:txBody>
          <a:bodyPr/>
          <a:lstStyle/>
          <a:p>
            <a:endParaRPr lang="en-US" dirty="0"/>
          </a:p>
        </p:txBody>
      </p:sp>
      <p:sp>
        <p:nvSpPr>
          <p:cNvPr id="3" name="Shape 1"/>
          <p:cNvSpPr/>
          <p:nvPr/>
        </p:nvSpPr>
        <p:spPr>
          <a:xfrm>
            <a:off x="0" y="4869180"/>
            <a:ext cx="9144000" cy="274320"/>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65760" y="1645920"/>
            <a:ext cx="8412480"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Next Steps</a:t>
            </a:r>
            <a:endParaRPr lang="en-US" sz="3600" dirty="0"/>
          </a:p>
        </p:txBody>
      </p:sp>
      <p:sp>
        <p:nvSpPr>
          <p:cNvPr id="5" name="Text 3"/>
          <p:cNvSpPr/>
          <p:nvPr/>
        </p:nvSpPr>
        <p:spPr>
          <a:xfrm>
            <a:off x="365760" y="2560320"/>
            <a:ext cx="8412480" cy="548640"/>
          </a:xfrm>
          <a:prstGeom prst="rect">
            <a:avLst/>
          </a:prstGeom>
          <a:noFill/>
          <a:ln/>
        </p:spPr>
        <p:txBody>
          <a:bodyPr wrap="square" rtlCol="0" anchor="ctr"/>
          <a:lstStyle/>
          <a:p>
            <a:pPr marL="0" indent="0" algn="ctr">
              <a:buNone/>
            </a:pPr>
            <a:r>
              <a:rPr lang="en-US" sz="1400" dirty="0">
                <a:solidFill>
                  <a:srgbClr val="A8C7E0"/>
                </a:solidFill>
                <a:latin typeface="Calibri" pitchFamily="34" charset="0"/>
                <a:ea typeface="Calibri" pitchFamily="34" charset="-122"/>
                <a:cs typeface="Calibri" pitchFamily="34" charset="-120"/>
              </a:rPr>
              <a:t>We look forward to partnering with CPPL on this transformation journey.</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35400"/>
          </a:solidFill>
          <a:ln w="12700">
            <a:solidFill>
              <a:srgbClr val="D35400"/>
            </a:solidFill>
            <a:prstDash val="solid"/>
          </a:ln>
        </p:spPr>
        <p:txBody>
          <a:bodyPr/>
          <a:lstStyle/>
          <a:p>
            <a:endParaRPr lang="en-US" dirty="0"/>
          </a:p>
        </p:txBody>
      </p:sp>
      <p:sp>
        <p:nvSpPr>
          <p:cNvPr id="3" name="Shape 1"/>
          <p:cNvSpPr/>
          <p:nvPr/>
        </p:nvSpPr>
        <p:spPr>
          <a:xfrm>
            <a:off x="0" y="4869180"/>
            <a:ext cx="9144000" cy="274320"/>
          </a:xfrm>
          <a:prstGeom prst="rect">
            <a:avLst/>
          </a:prstGeom>
          <a:solidFill>
            <a:srgbClr val="D35400"/>
          </a:solidFill>
          <a:ln w="12700">
            <a:solidFill>
              <a:srgbClr val="D35400"/>
            </a:solidFill>
            <a:prstDash val="solid"/>
          </a:ln>
        </p:spPr>
        <p:txBody>
          <a:bodyPr/>
          <a:lstStyle/>
          <a:p>
            <a:endParaRPr lang="en-US" dirty="0"/>
          </a:p>
        </p:txBody>
      </p:sp>
      <p:sp>
        <p:nvSpPr>
          <p:cNvPr id="4" name="Text 2"/>
          <p:cNvSpPr/>
          <p:nvPr/>
        </p:nvSpPr>
        <p:spPr>
          <a:xfrm>
            <a:off x="365760" y="1097280"/>
            <a:ext cx="841248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Shape 3"/>
          <p:cNvSpPr/>
          <p:nvPr/>
        </p:nvSpPr>
        <p:spPr>
          <a:xfrm>
            <a:off x="3200400" y="2331720"/>
            <a:ext cx="2743200" cy="36576"/>
          </a:xfrm>
          <a:prstGeom prst="rect">
            <a:avLst/>
          </a:prstGeom>
          <a:solidFill>
            <a:srgbClr val="D35400"/>
          </a:solidFill>
          <a:ln w="12700">
            <a:solidFill>
              <a:srgbClr val="D35400"/>
            </a:solidFill>
            <a:prstDash val="solid"/>
          </a:ln>
        </p:spPr>
        <p:txBody>
          <a:bodyPr/>
          <a:lstStyle/>
          <a:p>
            <a:endParaRPr lang="en-US" dirty="0"/>
          </a:p>
        </p:txBody>
      </p:sp>
      <p:sp>
        <p:nvSpPr>
          <p:cNvPr id="6" name="Text 4"/>
          <p:cNvSpPr/>
          <p:nvPr/>
        </p:nvSpPr>
        <p:spPr>
          <a:xfrm>
            <a:off x="365760" y="2514600"/>
            <a:ext cx="8412480" cy="502920"/>
          </a:xfrm>
          <a:prstGeom prst="rect">
            <a:avLst/>
          </a:prstGeom>
          <a:noFill/>
          <a:ln/>
        </p:spPr>
        <p:txBody>
          <a:bodyPr wrap="square" rtlCol="0" anchor="ctr"/>
          <a:lstStyle/>
          <a:p>
            <a:pPr marL="0" indent="0" algn="ctr">
              <a:buNone/>
            </a:pPr>
            <a:r>
              <a:rPr lang="en-US" sz="1600" b="1" dirty="0">
                <a:solidFill>
                  <a:srgbClr val="F0A500"/>
                </a:solidFill>
                <a:latin typeface="Calibri" pitchFamily="34" charset="0"/>
                <a:ea typeface="Calibri" pitchFamily="34" charset="-122"/>
                <a:cs typeface="Calibri" pitchFamily="34" charset="-120"/>
              </a:rPr>
              <a:t>TransExcel Consulting and Webteam Private Limited</a:t>
            </a:r>
            <a:endParaRPr lang="en-US" sz="1600" dirty="0"/>
          </a:p>
        </p:txBody>
      </p:sp>
      <p:sp>
        <p:nvSpPr>
          <p:cNvPr id="7" name="Text 5"/>
          <p:cNvSpPr/>
          <p:nvPr/>
        </p:nvSpPr>
        <p:spPr>
          <a:xfrm>
            <a:off x="365760" y="3090672"/>
            <a:ext cx="8412480" cy="411480"/>
          </a:xfrm>
          <a:prstGeom prst="rect">
            <a:avLst/>
          </a:prstGeom>
          <a:noFill/>
          <a:ln/>
        </p:spPr>
        <p:txBody>
          <a:bodyPr wrap="square" rtlCol="0" anchor="ctr"/>
          <a:lstStyle/>
          <a:p>
            <a:pPr marL="0" indent="0" algn="ctr">
              <a:buNone/>
            </a:pPr>
            <a:r>
              <a:rPr lang="en-US" sz="1300" dirty="0">
                <a:solidFill>
                  <a:srgbClr val="A8C7E0"/>
                </a:solidFill>
                <a:latin typeface="Calibri" pitchFamily="34" charset="0"/>
                <a:ea typeface="Calibri" pitchFamily="34" charset="-122"/>
                <a:cs typeface="Calibri" pitchFamily="34" charset="-120"/>
              </a:rPr>
              <a:t>Prepared for Corrosion Protection Private Limited (CPPL)</a:t>
            </a:r>
            <a:endParaRPr lang="en-US" sz="1300" dirty="0"/>
          </a:p>
        </p:txBody>
      </p:sp>
      <p:sp>
        <p:nvSpPr>
          <p:cNvPr id="8" name="Text 6"/>
          <p:cNvSpPr/>
          <p:nvPr/>
        </p:nvSpPr>
        <p:spPr>
          <a:xfrm>
            <a:off x="365760" y="3547872"/>
            <a:ext cx="8412480" cy="347472"/>
          </a:xfrm>
          <a:prstGeom prst="rect">
            <a:avLst/>
          </a:prstGeom>
          <a:noFill/>
          <a:ln/>
        </p:spPr>
        <p:txBody>
          <a:bodyPr wrap="square" rtlCol="0" anchor="ctr"/>
          <a:lstStyle/>
          <a:p>
            <a:pPr marL="0" indent="0" algn="ctr">
              <a:buNone/>
            </a:pPr>
            <a:r>
              <a:rPr lang="en-US" sz="1200" dirty="0">
                <a:solidFill>
                  <a:srgbClr val="7F9BAD"/>
                </a:solidFill>
                <a:latin typeface="Calibri" pitchFamily="34" charset="0"/>
                <a:ea typeface="Calibri" pitchFamily="34" charset="-122"/>
                <a:cs typeface="Calibri" pitchFamily="34" charset="-120"/>
              </a:rPr>
              <a:t>24th February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739</TotalTime>
  <Words>4782</Words>
  <Application>Microsoft Macintosh PowerPoint</Application>
  <PresentationFormat>On-screen Show (16:9)</PresentationFormat>
  <Paragraphs>830</Paragraphs>
  <Slides>43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Digitising CPPL</dc:title>
  <dc:subject>PptxGenJS Presentation</dc:subject>
  <dc:creator>TransExcel Consulting and Webteam Private Limited</dc:creator>
  <cp:lastModifiedBy>Rajib Kumar Jena</cp:lastModifiedBy>
  <cp:revision>15</cp:revision>
  <dcterms:created xsi:type="dcterms:W3CDTF">2026-02-25T00:30:37Z</dcterms:created>
  <dcterms:modified xsi:type="dcterms:W3CDTF">2026-02-28T12:38:29Z</dcterms:modified>
</cp:coreProperties>
</file>